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students. Introduce the format: 2-part free workshop, open to all years. Set expectations: practical, not theoretical — resume strategy, how to actually build and ship something real, and how to get paid for it as a student.</a:t>
            </a:r>
            <a:endParaRPr/>
          </a:p>
        </p:txBody>
      </p:sp>
      <p:sp>
        <p:nvSpPr>
          <p:cNvPr id="26" name="Google Shape;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brief — the point isn't your resume, it's credibility. One line per job max. Emphasize: every step on this timeline started as a student with zero production experience, same as them.</a:t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n_intro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n_intro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n_intro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n_activity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n_activity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n_activity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the four parts out loud. Tell them to save questions for the end of each part — there'll be a short Q&amp;A after every section, not just at the end.</a:t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n_flow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n_flow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n_flow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 slide. Ask the room: 'how many of you have sent out resumes and heard nothing back?' — almost every hand goes up. That's the problem this part solves.</a:t>
            </a:r>
            <a:endParaRPr/>
          </a:p>
        </p:txBody>
      </p:sp>
      <p:sp>
        <p:nvSpPr>
          <p:cNvPr id="155" name="Google Shape;1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each card, ask if anyone has experienced this already. The ATS point surprises most students — explain quickly how keyword matching works.</a:t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point isn't that everyone should become an FDE — it's that the market keeps inventing new, well-paid roles for people who can actually deploy and own real systems. Average US pay was reported around $116K in August 2026, higher at top AI labs. Term originated at Palantir.</a:t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Pause on the 7-second stat — it's the single most important fact in this section. Everything about resume structure follows from it: make the first scan count.</a:t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mock resume top to bottom — it's deliberately generic so it maps onto any branch, not just CS. Mention: this is roughly the structure of my own resume, linked at the end. Also call out two fresher-specific traps: drop personal details like marital status, religion, or full home address — they add nothing — and swap a joke email handle for firstname.lastname@gmail before you send anything out.</a:t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honest this isn't backed by hard hiring-rate data — it's reasoned from how recruiters are known to behave: fast, link-skeptical, mobile-heavy. Bottom line to say out loud: platform matters less than people assume — a tidy, mobile-friendly, custom-domain Notion page with 2-3 strong projects beats a broken personal site. But once you've shipped something real (Part 3 of today), a deployed site with a live demo wins, because it stops being a description and becomes the proof.</a:t>
            </a:r>
            <a:endParaRPr/>
          </a:p>
        </p:txBody>
      </p:sp>
      <p:sp>
        <p:nvSpPr>
          <p:cNvPr id="277" name="Google Shape;2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Share your screen and actually open overleaf.com here — create an account live, open Jake's Resume from the template gallery, and point out the source on the left vs. the compiled PDF preview on the right. Emphasize: they are editing structured text, not fighting margins and tab stops like in Word or Google Docs.</a:t>
            </a:r>
            <a:endParaRPr/>
          </a:p>
        </p:txBody>
      </p:sp>
      <p:sp>
        <p:nvSpPr>
          <p:cNvPr id="296" name="Google Shape;2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highest-leverage five minutes of the whole workshop. Have 2-3 students read out a current resume bullet and rewrite it live using the formula at the bottom.</a:t>
            </a:r>
            <a:endParaRPr/>
          </a:p>
        </p:txBody>
      </p:sp>
      <p:sp>
        <p:nvSpPr>
          <p:cNvPr id="325" name="Google Shape;3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'85% of jobs come from networking' claim floats around everywhere with no traceable source — don't repeat it as fact. The BYU cold-networking study (roughly 2x internship odds) is the one number here you can stand behind. Push students to actually open LinkedIn and message one alum during the break.</a:t>
            </a:r>
            <a:endParaRPr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Exact round counts vary by company — this is the common shape, not a universal standard. Run a 60-second live drill: ask one student 'tell me about a time you missed a deadline' and have them answer out loud using Situation-Task-Action-Result-Learned.</a:t>
            </a:r>
            <a:endParaRPr/>
          </a:p>
        </p:txBody>
      </p:sp>
      <p:sp>
        <p:nvSpPr>
          <p:cNvPr id="360" name="Google Shape;36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 context: NACE and NY Fed data on graduate hiring and intern conversion. Message to land: starting early and landing even one internship changes these odds dramatically — this isn't about talent, it's about starting the clock sooner.</a:t>
            </a:r>
            <a:endParaRPr/>
          </a:p>
        </p:txBody>
      </p:sp>
      <p:sp>
        <p:nvSpPr>
          <p:cNvPr id="380" name="Google Shape;3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Transition. Set the frame immediately: this part is not 'solve more LeetCode.' It's about which skills actually move the needle, and which ones are a trap.</a:t>
            </a:r>
            <a:endParaRPr/>
          </a:p>
        </p:txBody>
      </p:sp>
      <p:sp>
        <p:nvSpPr>
          <p:cNvPr id="407" name="Google Shape;40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slide that reframes the whole section — take your time here. The '700+ solved and still not confident' anecdote is from a real LeetCode discuss thread; use it to make the point concrete, not abstract.</a:t>
            </a:r>
            <a:endParaRPr/>
          </a:p>
        </p:txBody>
      </p:sp>
      <p:sp>
        <p:nvSpPr>
          <p:cNvPr id="417" name="Google Shape;41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moving quickly — it's a reference slide, not a deep-dive. The system-design note at the bottom is important to say explicitly: most students over-invest in system design prep relative to how often it's actually asked at their level.</a:t>
            </a:r>
            <a:endParaRPr/>
          </a:p>
        </p:txBody>
      </p:sp>
      <p:sp>
        <p:nvSpPr>
          <p:cNvPr id="444" name="Google Shape;44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the list to four tools on purpose — the point is fluency with a small stack, not collecting apps. The closing callout is the line worth having them write down.</a:t>
            </a:r>
            <a:endParaRPr/>
          </a:p>
        </p:txBody>
      </p:sp>
      <p:sp>
        <p:nvSpPr>
          <p:cNvPr id="481" name="Google Shape;48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Transition. Key message for this part: a finished small project beats an unfinished ambitious one, every time.</a:t>
            </a:r>
            <a:endParaRPr/>
          </a:p>
        </p:txBody>
      </p:sp>
      <p:sp>
        <p:nvSpPr>
          <p:cNvPr id="510" name="Google Shape;51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fair to tutorials — they're how you learn syntax and APIs. The point is that a tutorial alone isn't a portfolio piece; it has to turn into something you changed and shipped yourself.</a:t>
            </a:r>
            <a:endParaRPr/>
          </a:p>
        </p:txBody>
      </p:sp>
      <p:sp>
        <p:nvSpPr>
          <p:cNvPr id="520" name="Google Shape;52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each student to say one real annoyance from their own life out loud — don't let them overthink it. Half of a good project idea is just naming the problem honestly.</a:t>
            </a:r>
            <a:endParaRPr/>
          </a:p>
        </p:txBody>
      </p:sp>
      <p:sp>
        <p:nvSpPr>
          <p:cNvPr id="533" name="Google Shape;53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the RAG pipeline is the hard, differentiated part — not the chat UI. This is a good example of 'scope it small, go deep on the hard part.'</a:t>
            </a:r>
            <a:endParaRPr/>
          </a:p>
        </p:txBody>
      </p:sp>
      <p:sp>
        <p:nvSpPr>
          <p:cNvPr id="564" name="Google Shape;56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out: this shipped to a real App Store with real paying subscribers, as a side project. That's the bar — not a demo, a product someone pays for.</a:t>
            </a:r>
            <a:endParaRPr/>
          </a:p>
        </p:txBody>
      </p:sp>
      <p:sp>
        <p:nvSpPr>
          <p:cNvPr id="582" name="Google Shape;58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real message: the exact framework matters far less than the fourth column. Say this explicitly — a mediocre stack with one finished project beats a perfect stack with none.</a:t>
            </a:r>
            <a:endParaRPr/>
          </a:p>
        </p:txBody>
      </p:sp>
      <p:sp>
        <p:nvSpPr>
          <p:cNvPr id="600" name="Google Shape;60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Transition. Tell them this part is the one students usually ask the most questions about — encourage interruptions here.</a:t>
            </a:r>
            <a:endParaRPr/>
          </a:p>
        </p:txBody>
      </p:sp>
      <p:sp>
        <p:nvSpPr>
          <p:cNvPr id="623" name="Google Shape;62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who already knows someone running a small business or shop. That contact is usually their fastest path to a first paid project, and most students have never thought to ask.</a:t>
            </a:r>
            <a:endParaRPr/>
          </a:p>
        </p:txBody>
      </p:sp>
      <p:sp>
        <p:nvSpPr>
          <p:cNvPr id="633" name="Google Shape;63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time allows, have two students pitch each other a fake client in 30 seconds each, then critique using the four tips.</a:t>
            </a:r>
            <a:endParaRPr/>
          </a:p>
        </p:txBody>
      </p:sp>
      <p:sp>
        <p:nvSpPr>
          <p:cNvPr id="660" name="Google Shape;66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grounded, not a sales pitch — these numbers are directional estimates from platform-review blogs, not verified data. The goal is to stop students from either giving up after one unanswered pitch, or expecting full-time income in month one.</a:t>
            </a:r>
            <a:endParaRPr/>
          </a:p>
        </p:txBody>
      </p:sp>
      <p:sp>
        <p:nvSpPr>
          <p:cNvPr id="685" name="Google Shape;68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bridge between freelancing and founding — the exact same playbook from the earlier slides (trust first, specific value, referrals) scales into a real company.</a:t>
            </a:r>
            <a:endParaRPr/>
          </a:p>
        </p:txBody>
      </p:sp>
      <p:sp>
        <p:nvSpPr>
          <p:cNvPr id="712" name="Google Shape;71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these feel mandatory, not optional — say explicitly that students who do these three things this week will be ahead of 90% of their batch by December.</a:t>
            </a:r>
            <a:endParaRPr/>
          </a:p>
        </p:txBody>
      </p:sp>
      <p:sp>
        <p:nvSpPr>
          <p:cNvPr id="730" name="Google Shape;73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pointing at the registration link on screen and asking everyone to forward it to one classmate before they close the call. End with Q&amp;A.</a:t>
            </a:r>
            <a:endParaRPr/>
          </a:p>
        </p:txBody>
      </p:sp>
      <p:sp>
        <p:nvSpPr>
          <p:cNvPr id="753" name="Google Shape;75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Dark">
  <p:cSld name="TitleDark">
    <p:bg>
      <p:bgPr>
        <a:solidFill>
          <a:srgbClr val="0B122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  <a:defRPr b="1" i="0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Light">
  <p:cSld name="ContentLight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Breaking Into Tech, 2026 — Adamya Kumar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Dark">
  <p:cSld name="SectionDark">
    <p:bg>
      <p:bgPr>
        <a:solidFill>
          <a:srgbClr val="0B122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  <a:defRPr b="1" i="0" sz="3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Dark">
  <p:cSld name="ClosingDark">
    <p:bg>
      <p:bgPr>
        <a:solidFill>
          <a:srgbClr val="0B122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  <a:defRPr b="1" i="0" sz="32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Relationship Id="rId4" Type="http://schemas.openxmlformats.org/officeDocument/2006/relationships/image" Target="../media/image5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6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6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7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png"/><Relationship Id="rId4" Type="http://schemas.openxmlformats.org/officeDocument/2006/relationships/image" Target="../media/image60.png"/><Relationship Id="rId5" Type="http://schemas.openxmlformats.org/officeDocument/2006/relationships/image" Target="../media/image8.png"/><Relationship Id="rId6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5" Type="http://schemas.openxmlformats.org/officeDocument/2006/relationships/image" Target="../media/image61.png"/><Relationship Id="rId6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7C3A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7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22D3EE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7"/>
          <p:cNvSpPr txBox="1"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FREE STUDENT WORKSHOP · 2 PARTS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822960" y="23317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Breaking Into Tech in 2026</a:t>
            </a:r>
            <a:endParaRPr sz="4000"/>
          </a:p>
        </p:txBody>
      </p:sp>
      <p:sp>
        <p:nvSpPr>
          <p:cNvPr id="32" name="Google Shape;32;p7"/>
          <p:cNvSpPr txBox="1"/>
          <p:nvPr/>
        </p:nvSpPr>
        <p:spPr>
          <a:xfrm>
            <a:off x="822960" y="397764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Resume strategy, shipping a real project, and landing your first freelance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16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519379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/>
        </p:nvSpPr>
        <p:spPr>
          <a:xfrm>
            <a:off x="1463040" y="5029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Adamya Kumar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Senior Engineer, Hero MotoCorp  ·  Co-founder, Adhian Gurus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Saturday, 24 October 2026  ·  Online (Google Meet)  ·  adamya-kumar-portfolio.vercel.app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Who's running this workshop</a:t>
            </a:r>
            <a:endParaRPr sz="3000"/>
          </a:p>
        </p:txBody>
      </p:sp>
      <p:sp>
        <p:nvSpPr>
          <p:cNvPr id="43" name="Google Shape;43;p8"/>
          <p:cNvSpPr/>
          <p:nvPr/>
        </p:nvSpPr>
        <p:spPr>
          <a:xfrm>
            <a:off x="548640" y="1463040"/>
            <a:ext cx="3931920" cy="4663440"/>
          </a:xfrm>
          <a:prstGeom prst="roundRect">
            <a:avLst>
              <a:gd fmla="val 279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965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/>
          <p:nvPr/>
        </p:nvSpPr>
        <p:spPr>
          <a:xfrm>
            <a:off x="1874520" y="18288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Adamya Kumar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8"/>
          <p:cNvSpPr txBox="1"/>
          <p:nvPr/>
        </p:nvSpPr>
        <p:spPr>
          <a:xfrm>
            <a:off x="1874520" y="21945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B.Tech CSE (2019) · MBA Finance &amp; HR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Gurukul Kangri, Haridwar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8"/>
          <p:cNvSpPr txBox="1"/>
          <p:nvPr/>
        </p:nvSpPr>
        <p:spPr>
          <a:xfrm>
            <a:off x="868680" y="2834640"/>
            <a:ext cx="33375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Senior Engineer at Hero MotoCorp — backend systems, Kafka, AWS/GCP infra serving production traffic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Co-founder, Adhian Gurus — a zero-commission AI tutoring marketplace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Shipped 10 independent products solo, outside the day job — from idea to real users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Mentors engineering graduates on interviews, freelancing, and first jobs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8"/>
          <p:cNvCxnSpPr/>
          <p:nvPr/>
        </p:nvCxnSpPr>
        <p:spPr>
          <a:xfrm>
            <a:off x="5102352" y="2176272"/>
            <a:ext cx="0" cy="3840480"/>
          </a:xfrm>
          <a:prstGeom prst="straightConnector1">
            <a:avLst/>
          </a:prstGeom>
          <a:noFill/>
          <a:ln cap="flat" cmpd="sng" w="38100">
            <a:solidFill>
              <a:srgbClr val="EEF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8"/>
          <p:cNvSpPr/>
          <p:nvPr/>
        </p:nvSpPr>
        <p:spPr>
          <a:xfrm>
            <a:off x="4937760" y="2011680"/>
            <a:ext cx="329184" cy="329184"/>
          </a:xfrm>
          <a:prstGeom prst="ellipse">
            <a:avLst/>
          </a:prstGeom>
          <a:solidFill>
            <a:srgbClr val="7C3AE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8"/>
          <p:cNvSpPr txBox="1"/>
          <p:nvPr/>
        </p:nvSpPr>
        <p:spPr>
          <a:xfrm>
            <a:off x="5440680" y="193852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8"/>
          <p:cNvSpPr txBox="1"/>
          <p:nvPr/>
        </p:nvSpPr>
        <p:spPr>
          <a:xfrm>
            <a:off x="6309360" y="19202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ITDA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Training Desk Analyst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937760" y="2971800"/>
            <a:ext cx="329184" cy="329184"/>
          </a:xfrm>
          <a:prstGeom prst="ellipse">
            <a:avLst/>
          </a:prstGeom>
          <a:solidFill>
            <a:srgbClr val="7C3AE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5440680" y="289864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2021–22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/>
          <p:nvPr/>
        </p:nvSpPr>
        <p:spPr>
          <a:xfrm>
            <a:off x="6309360" y="28803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Capline Services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Associate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4937760" y="3931920"/>
            <a:ext cx="329184" cy="329184"/>
          </a:xfrm>
          <a:prstGeom prst="ellipse">
            <a:avLst/>
          </a:prstGeom>
          <a:solidFill>
            <a:srgbClr val="7C3AE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5440680" y="385876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2022–24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 txBox="1"/>
          <p:nvPr/>
        </p:nvSpPr>
        <p:spPr>
          <a:xfrm>
            <a:off x="6309360" y="384048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Appfoster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Software Engineer II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4937760" y="4892040"/>
            <a:ext cx="329184" cy="329184"/>
          </a:xfrm>
          <a:prstGeom prst="ellipse">
            <a:avLst/>
          </a:prstGeom>
          <a:solidFill>
            <a:srgbClr val="F59E0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5440680" y="481888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2024—Now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6309360" y="48006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Hero MotoCorp 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Backend Engineer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4937760" y="594360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Why this matters to you: the same path from classroom to first job to a real product is exactly what this workshop maps out.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548640" y="411480"/>
            <a:ext cx="11064300" cy="82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546100" y="406400"/>
            <a:ext cx="110616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Hi, I'm Adamya</a:t>
            </a:r>
            <a:endParaRPr b="1" sz="3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" name="Google Shape;71;p9"/>
          <p:cNvSpPr txBox="1"/>
          <p:nvPr/>
        </p:nvSpPr>
        <p:spPr>
          <a:xfrm>
            <a:off x="546100" y="1168400"/>
            <a:ext cx="11061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working engineer, not a professional speaker. This is what I wish I had known in my final year.</a:t>
            </a:r>
            <a:endParaRPr sz="15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546100" y="1778000"/>
            <a:ext cx="5460900" cy="38100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 txBox="1"/>
          <p:nvPr/>
        </p:nvSpPr>
        <p:spPr>
          <a:xfrm>
            <a:off x="723900" y="1955800"/>
            <a:ext cx="5105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Where I've been</a:t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723900" y="2540000"/>
            <a:ext cx="51054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2019   B.Tech CSE, Gurukul Kangri, Haridwar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2021   First job, training desk analyst at ITDA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 to 2024   Software Engineer II, Appfoster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 to now   Backend Engineer, Hero MotoCorp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Kafka, AWS and GCP, real production traffic.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6184900" y="1778000"/>
            <a:ext cx="5460900" cy="38100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/>
        </p:nvSpPr>
        <p:spPr>
          <a:xfrm>
            <a:off x="6362700" y="1955800"/>
            <a:ext cx="5105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I do outside the job</a:t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6362700" y="2540000"/>
            <a:ext cx="51054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Shipped 10 products solo, from idea to real users (two are in this talk)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Co-founder, Adhian Gurus, a zero-commission tutoring marketplace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graduates on interviews, freelancing and first jobs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546100" y="5791200"/>
            <a:ext cx="11061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few years ago I was in your seat. Today is the path I actually took, in the order that worked.</a:t>
            </a:r>
            <a:endParaRPr b="1"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548640" y="411480"/>
            <a:ext cx="11064300" cy="82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 txBox="1"/>
          <p:nvPr/>
        </p:nvSpPr>
        <p:spPr>
          <a:xfrm>
            <a:off x="546100" y="406400"/>
            <a:ext cx="110616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Warm-up: pick your corner</a:t>
            </a:r>
            <a:endParaRPr b="1" sz="3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0"/>
          <p:cNvSpPr txBox="1"/>
          <p:nvPr/>
        </p:nvSpPr>
        <p:spPr>
          <a:xfrm>
            <a:off x="546100" y="1168400"/>
            <a:ext cx="11061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Which one do you most want help with today? Walk to that corner. There is no wrong answer.</a:t>
            </a:r>
            <a:endParaRPr sz="15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546100" y="1778000"/>
            <a:ext cx="2603400" cy="29211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723900" y="1955800"/>
            <a:ext cx="224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Resume</a:t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0"/>
          <p:cNvSpPr txBox="1"/>
          <p:nvPr/>
        </p:nvSpPr>
        <p:spPr>
          <a:xfrm>
            <a:off x="723900" y="2540000"/>
            <a:ext cx="2247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 left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3378200" y="1778000"/>
            <a:ext cx="2603400" cy="29211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0"/>
          <p:cNvSpPr txBox="1"/>
          <p:nvPr/>
        </p:nvSpPr>
        <p:spPr>
          <a:xfrm>
            <a:off x="3556000" y="1955800"/>
            <a:ext cx="224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DSA patterns</a:t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0"/>
          <p:cNvSpPr txBox="1"/>
          <p:nvPr/>
        </p:nvSpPr>
        <p:spPr>
          <a:xfrm>
            <a:off x="3556000" y="2540000"/>
            <a:ext cx="2247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 right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6210300" y="1778000"/>
            <a:ext cx="2603400" cy="29211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0"/>
          <p:cNvSpPr txBox="1"/>
          <p:nvPr/>
        </p:nvSpPr>
        <p:spPr>
          <a:xfrm>
            <a:off x="6388100" y="1955800"/>
            <a:ext cx="224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Building a project</a:t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p10"/>
          <p:cNvSpPr txBox="1"/>
          <p:nvPr/>
        </p:nvSpPr>
        <p:spPr>
          <a:xfrm>
            <a:off x="6388100" y="2540000"/>
            <a:ext cx="2247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 left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9042400" y="1778000"/>
            <a:ext cx="2603400" cy="29211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9220200" y="1955800"/>
            <a:ext cx="224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Getting a first client</a:t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9220200" y="2540000"/>
            <a:ext cx="2247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 right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 txBox="1"/>
          <p:nvPr/>
        </p:nvSpPr>
        <p:spPr>
          <a:xfrm>
            <a:off x="546100" y="4927600"/>
            <a:ext cx="110616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your corner (2 minutes): what have you tried so far, and what went wrong?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Then one person per corner shares one sentence.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we'll cover today</a:t>
            </a:r>
            <a:endParaRPr sz="3000"/>
          </a:p>
        </p:txBody>
      </p:sp>
      <p:sp>
        <p:nvSpPr>
          <p:cNvPr id="106" name="Google Shape;106;p11"/>
          <p:cNvSpPr/>
          <p:nvPr/>
        </p:nvSpPr>
        <p:spPr>
          <a:xfrm>
            <a:off x="548640" y="164592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103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/>
          <p:nvPr/>
        </p:nvSpPr>
        <p:spPr>
          <a:xfrm>
            <a:off x="822960" y="283464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Part 1 — Job Market &amp; Resume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 txBox="1"/>
          <p:nvPr/>
        </p:nvSpPr>
        <p:spPr>
          <a:xfrm>
            <a:off x="822960" y="3703320"/>
            <a:ext cx="2057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What changed in 2026 hiring, what recruiters scan for, your resume, LinkedIn, and how to actually clear interview rounds.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3383280" y="164592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3657600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4760" y="2103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1"/>
          <p:cNvSpPr txBox="1"/>
          <p:nvPr/>
        </p:nvSpPr>
        <p:spPr>
          <a:xfrm>
            <a:off x="3657600" y="283464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Part 2 — Skills &amp; DSA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 txBox="1"/>
          <p:nvPr/>
        </p:nvSpPr>
        <p:spPr>
          <a:xfrm>
            <a:off x="3657600" y="3703320"/>
            <a:ext cx="2057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What to actually practice: pattern fluency over problem count, the AI tools worth learning, and where system design fits.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6217920" y="164592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2A3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2103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 txBox="1"/>
          <p:nvPr/>
        </p:nvSpPr>
        <p:spPr>
          <a:xfrm>
            <a:off x="6492240" y="283464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Part 3 — Build a Real Project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 txBox="1"/>
          <p:nvPr/>
        </p:nvSpPr>
        <p:spPr>
          <a:xfrm>
            <a:off x="6492240" y="3703320"/>
            <a:ext cx="2057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Why tutorials don't get you hired, how to pick and ship your first real product, and two case studies built solo.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9052560" y="1645920"/>
            <a:ext cx="2606040" cy="448056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9326880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64040" y="2103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/>
          <p:nvPr/>
        </p:nvSpPr>
        <p:spPr>
          <a:xfrm>
            <a:off x="9326880" y="283464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Part 4 — Freelancing &amp; Clients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9326880" y="3703320"/>
            <a:ext cx="2057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Where your first paying client actually comes from, how to pitch with zero track record, and pricing yourself.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 txBox="1"/>
          <p:nvPr>
            <p:ph type="title"/>
          </p:nvPr>
        </p:nvSpPr>
        <p:spPr>
          <a:xfrm>
            <a:off x="548640" y="411480"/>
            <a:ext cx="11064300" cy="82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546100" y="406400"/>
            <a:ext cx="110616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From classroom to first client</a:t>
            </a:r>
            <a:endParaRPr b="1" sz="3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546100" y="1168400"/>
            <a:ext cx="11061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Four steps. Each one builds on the one before.</a:t>
            </a:r>
            <a:endParaRPr sz="15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546100" y="1778000"/>
            <a:ext cx="2603400" cy="33654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774700" y="1981200"/>
            <a:ext cx="507900" cy="507900"/>
          </a:xfrm>
          <a:prstGeom prst="ellipse">
            <a:avLst/>
          </a:prstGeom>
          <a:solidFill>
            <a:srgbClr val="2A3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1" sz="16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723900" y="2616200"/>
            <a:ext cx="224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Resume</a:t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723900" y="3200400"/>
            <a:ext cx="2247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page, numbers not adjectives, a live link.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3378200" y="1778000"/>
            <a:ext cx="2603400" cy="33654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3606800" y="1981200"/>
            <a:ext cx="507900" cy="507900"/>
          </a:xfrm>
          <a:prstGeom prst="ellipse">
            <a:avLst/>
          </a:prstGeom>
          <a:solidFill>
            <a:srgbClr val="2A3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1" sz="16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3556000" y="2616200"/>
            <a:ext cx="224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DSA patterns</a:t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2" name="Google Shape;142;p12"/>
          <p:cNvSpPr txBox="1"/>
          <p:nvPr/>
        </p:nvSpPr>
        <p:spPr>
          <a:xfrm>
            <a:off x="3556000" y="3200400"/>
            <a:ext cx="2247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 15 patterns, revisited, beat raw problem count.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6210300" y="1778000"/>
            <a:ext cx="2603400" cy="33654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6438900" y="1981200"/>
            <a:ext cx="507900" cy="507900"/>
          </a:xfrm>
          <a:prstGeom prst="ellipse">
            <a:avLst/>
          </a:prstGeom>
          <a:solidFill>
            <a:srgbClr val="2A3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1" sz="16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6388100" y="2616200"/>
            <a:ext cx="224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Ship a project</a:t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6388100" y="3200400"/>
            <a:ext cx="2247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a real annoyance, scope it to a weekend, deploy it.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9042400" y="1778000"/>
            <a:ext cx="2603400" cy="3365400"/>
          </a:xfrm>
          <a:prstGeom prst="roundRect">
            <a:avLst>
              <a:gd fmla="val 1666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9271000" y="1981200"/>
            <a:ext cx="507900" cy="507900"/>
          </a:xfrm>
          <a:prstGeom prst="ellipse">
            <a:avLst/>
          </a:prstGeom>
          <a:solidFill>
            <a:srgbClr val="2A3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1" sz="16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9220200" y="2616200"/>
            <a:ext cx="224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First client</a:t>
            </a:r>
            <a:endParaRPr b="1"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9220200" y="3200400"/>
            <a:ext cx="2247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your network, pitch their problem, ask for a testimonial.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546100" y="5435600"/>
            <a:ext cx="11061600" cy="711300"/>
          </a:xfrm>
          <a:prstGeom prst="roundRect">
            <a:avLst>
              <a:gd fmla="val 1666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Optional: mock interviews for anyone who wants practice. Opt in, no pressure.</a:t>
            </a:r>
            <a:endParaRPr b="1" sz="15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22D3EE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16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17190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 txBox="1"/>
          <p:nvPr/>
        </p:nvSpPr>
        <p:spPr>
          <a:xfrm>
            <a:off x="822960" y="23317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 txBox="1"/>
          <p:nvPr>
            <p:ph type="title"/>
          </p:nvPr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Job Market Insights &amp;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Resume Strategy for 2026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What's actually changed in hiring</a:t>
            </a:r>
            <a:endParaRPr sz="3000"/>
          </a:p>
        </p:txBody>
      </p:sp>
      <p:sp>
        <p:nvSpPr>
          <p:cNvPr id="168" name="Google Shape;168;p14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" y="20025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4"/>
          <p:cNvSpPr txBox="1"/>
          <p:nvPr/>
        </p:nvSpPr>
        <p:spPr>
          <a:xfrm>
            <a:off x="1600200" y="1856232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AI screens first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822960" y="251460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Most applications are filtered by an ATS or an AI resume screener before a human ever sees them — keywords and formatting matter more than ever.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6172200" y="160020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"/>
          <p:cNvSpPr/>
          <p:nvPr/>
        </p:nvSpPr>
        <p:spPr>
          <a:xfrm>
            <a:off x="6446520" y="187452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4536" y="20025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4"/>
          <p:cNvSpPr txBox="1"/>
          <p:nvPr/>
        </p:nvSpPr>
        <p:spPr>
          <a:xfrm>
            <a:off x="7223760" y="1856232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Portfolio &gt; pedigree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6446520" y="251460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working project with a live link now carries more weight than a CGPA line, especially for engineering and product roles.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976" y="442569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4"/>
          <p:cNvSpPr txBox="1"/>
          <p:nvPr/>
        </p:nvSpPr>
        <p:spPr>
          <a:xfrm>
            <a:off x="1600200" y="4279392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Freelance-first paths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822960" y="493776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More students are landing their first paid work through freelance platforms and referrals before their first full-time offer.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6172200" y="402336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6446520" y="42976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4536" y="442569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 txBox="1"/>
          <p:nvPr/>
        </p:nvSpPr>
        <p:spPr>
          <a:xfrm>
            <a:off x="7223760" y="4279392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Fewer roles, higher bar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6446520" y="493776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Hiring is slower and more selective in 2026 — generic applicants lose to candidates who can show, not just claim, what they can 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role that didn't exist a few years ago</a:t>
            </a:r>
            <a:endParaRPr sz="3000"/>
          </a:p>
        </p:txBody>
      </p:sp>
      <p:sp>
        <p:nvSpPr>
          <p:cNvPr id="195" name="Google Shape;195;p1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fmla="val 2353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5"/>
          <p:cNvSpPr txBox="1"/>
          <p:nvPr/>
        </p:nvSpPr>
        <p:spPr>
          <a:xfrm>
            <a:off x="1920240" y="1828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Forward Deployed Engineer (FDE)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1920240" y="2286000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POSTINGS UP 800%+ IN 2025 · HIRED HARD BY OPENAI, ANTHROPIC, GOOGLE CLOUD, STRIPE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86868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86868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engineer who embeds inside a customer's own organization to get a product — increasingly an AI product — actually running on their real systems and data. Part engineering, part consulting, part real-time firefighting.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443484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WHY IT EXISTS 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443484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Getting AI to work inside a real company has turned out to be a deployment problem, not a model problem. Unlike a solutions engineer who demos, an FDE ships production code and owns it when it breaks.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800100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WHY IT MATTERS TO YOU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800100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It's proof the job market invents entirely new roles out of real-world deployment skill, not just CGPA or a known framework — the same “ship it for real” instinct this whole workshop is built around.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a recruiter actually scans for</a:t>
            </a:r>
            <a:endParaRPr sz="3000"/>
          </a:p>
        </p:txBody>
      </p:sp>
      <p:sp>
        <p:nvSpPr>
          <p:cNvPr id="213" name="Google Shape;213;p16"/>
          <p:cNvSpPr/>
          <p:nvPr/>
        </p:nvSpPr>
        <p:spPr>
          <a:xfrm>
            <a:off x="548640" y="1600200"/>
            <a:ext cx="3291840" cy="4480560"/>
          </a:xfrm>
          <a:prstGeom prst="roundRect">
            <a:avLst>
              <a:gd fmla="val 3333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548640" y="2103120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548640" y="32461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SECONDS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914400" y="3749040"/>
            <a:ext cx="2560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is roughly how long a recruiter spends on a resume before deciding to read on — or move to the next 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4160520" y="160020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170992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6"/>
          <p:cNvSpPr txBox="1"/>
          <p:nvPr/>
        </p:nvSpPr>
        <p:spPr>
          <a:xfrm>
            <a:off x="4846320" y="157276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Job title &amp; company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4846320" y="198424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Does your most recent role match what they're hiring for, at a glance?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4160520" y="269748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28072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6"/>
          <p:cNvSpPr txBox="1"/>
          <p:nvPr/>
        </p:nvSpPr>
        <p:spPr>
          <a:xfrm>
            <a:off x="4846320" y="267004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Numbers, not adjectives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4846320" y="308152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“Improved performance” is ignored. “Reduced API latency by 20%” is not.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4160520" y="379476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39044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6"/>
          <p:cNvSpPr txBox="1"/>
          <p:nvPr/>
        </p:nvSpPr>
        <p:spPr>
          <a:xfrm>
            <a:off x="4846320" y="376732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Keywords from the JD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4846320" y="417880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The exact tech stack and role keywords from the posting, so the ATS surfaces you.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4160520" y="489204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50017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6"/>
          <p:cNvSpPr txBox="1"/>
          <p:nvPr/>
        </p:nvSpPr>
        <p:spPr>
          <a:xfrm>
            <a:off x="4846320" y="486460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live link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4846320" y="527608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Portfolio, GitHub, or a deployed project — proof over promises.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one-page structure that works</a:t>
            </a:r>
            <a:endParaRPr sz="3000"/>
          </a:p>
        </p:txBody>
      </p:sp>
      <p:sp>
        <p:nvSpPr>
          <p:cNvPr id="240" name="Google Shape;240;p17"/>
          <p:cNvSpPr/>
          <p:nvPr/>
        </p:nvSpPr>
        <p:spPr>
          <a:xfrm>
            <a:off x="548640" y="1508760"/>
            <a:ext cx="4206240" cy="4663440"/>
          </a:xfrm>
          <a:prstGeom prst="roundRect">
            <a:avLst>
              <a:gd fmla="val 2174" name="adj"/>
            </a:avLst>
          </a:prstGeom>
          <a:solidFill>
            <a:srgbClr val="FFFFFF"/>
          </a:solidFill>
          <a:ln cap="flat" cmpd="sng" w="19050">
            <a:solidFill>
              <a:srgbClr val="EEF2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1E2761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868680" y="1828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Your Name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868680" y="2194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email · phone · LinkedIn · GitHub · portfolio link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>
            <a:off x="868680" y="25328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868680" y="287121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EXPERIENCE / PROJECTS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868680" y="320954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Project or role — one line, with a number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868680" y="35478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Project or role — one line, with a number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>
            <a:off x="868680" y="38862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868680" y="42245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SKILLS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868680" y="456285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Languages, frameworks, tools — matched to the JD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868680" y="490118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Calibri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868680" y="523951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868680" y="55778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Degree, college, year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5120640" y="1600200"/>
            <a:ext cx="457200" cy="4572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7"/>
          <p:cNvSpPr txBox="1"/>
          <p:nvPr/>
        </p:nvSpPr>
        <p:spPr>
          <a:xfrm>
            <a:off x="5760720" y="15544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Keep it to one page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5760720" y="190195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Recruiters won't scroll a second page for a fresher or early-career resume.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5120640" y="2514600"/>
            <a:ext cx="457200" cy="4572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0" y="2606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7"/>
          <p:cNvSpPr txBox="1"/>
          <p:nvPr/>
        </p:nvSpPr>
        <p:spPr>
          <a:xfrm>
            <a:off x="5760720" y="24688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Reverse chronological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5760720" y="281635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Most recent, most relevant experience first — always.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5120640" y="3429000"/>
            <a:ext cx="457200" cy="4572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0" y="35204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7"/>
          <p:cNvSpPr txBox="1"/>
          <p:nvPr/>
        </p:nvSpPr>
        <p:spPr>
          <a:xfrm>
            <a:off x="5760720" y="33832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Projects count as experience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5760720" y="373075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shipped side project belongs in the same section as an internship.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120640" y="4343400"/>
            <a:ext cx="457200" cy="4572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0" y="4434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7"/>
          <p:cNvSpPr txBox="1"/>
          <p:nvPr/>
        </p:nvSpPr>
        <p:spPr>
          <a:xfrm>
            <a:off x="5760720" y="42976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Tailor it per application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5760720" y="464515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Re-order skills and reword bullets to mirror the job description's language.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5120640" y="5257800"/>
            <a:ext cx="457200" cy="4572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7"/>
          <p:cNvSpPr txBox="1"/>
          <p:nvPr/>
        </p:nvSpPr>
        <p:spPr>
          <a:xfrm>
            <a:off x="5760720" y="52120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Export as PDF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5760720" y="5559552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Never send a .docx — formatting breaks across devices and ATS systems.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Your portfolio link is part of your resume</a:t>
            </a:r>
            <a:endParaRPr sz="3000"/>
          </a:p>
        </p:txBody>
      </p:sp>
      <p:sp>
        <p:nvSpPr>
          <p:cNvPr id="280" name="Google Shape;280;p18"/>
          <p:cNvSpPr/>
          <p:nvPr/>
        </p:nvSpPr>
        <p:spPr>
          <a:xfrm>
            <a:off x="548640" y="1554480"/>
            <a:ext cx="11064240" cy="1188720"/>
          </a:xfrm>
          <a:prstGeom prst="roundRect">
            <a:avLst>
              <a:gd fmla="val 9231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914400" y="173736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 recruiter gives a shared link about 10 seconds. If it takes more than one or two clicks to see real work, they close the tab.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548640" y="3017520"/>
            <a:ext cx="5349240" cy="3108960"/>
          </a:xfrm>
          <a:prstGeom prst="roundRect">
            <a:avLst>
              <a:gd fmla="val 3529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868680" y="32918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34107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8"/>
          <p:cNvSpPr txBox="1"/>
          <p:nvPr/>
        </p:nvSpPr>
        <p:spPr>
          <a:xfrm>
            <a:off x="1600200" y="3246120"/>
            <a:ext cx="4251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deployed site (recommended once you've shipped something)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868680" y="4023360"/>
            <a:ext cx="4709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 domain, no platform branding in the URL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Renders the same on mobile — no collapsing multi-column layouts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live demo is self-verifying — it's not a claim, it's the work itself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6217920" y="3017520"/>
            <a:ext cx="5349240" cy="3108960"/>
          </a:xfrm>
          <a:prstGeom prst="roundRect">
            <a:avLst>
              <a:gd fmla="val 3529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6537960" y="32918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6832" y="34107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8"/>
          <p:cNvSpPr txBox="1"/>
          <p:nvPr/>
        </p:nvSpPr>
        <p:spPr>
          <a:xfrm>
            <a:off x="7269480" y="3246120"/>
            <a:ext cx="4251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Notion page (fine as a starting point)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6537960" y="4023360"/>
            <a:ext cx="4709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Free, live in minutes, no code — good if you have zero deployed project yet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Multi-column layouts often break into a long scroll on phone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 built-in way to prove the work is real, not just described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Build it in LaTeX, not Word</a:t>
            </a:r>
            <a:endParaRPr sz="3000"/>
          </a:p>
        </p:txBody>
      </p:sp>
      <p:sp>
        <p:nvSpPr>
          <p:cNvPr id="299" name="Google Shape;299;p19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fmla="val 2400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96" y="20025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1645920" y="1920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 LaTeX wins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868680" y="2697480"/>
            <a:ext cx="47091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Pixel-perfect formatting that never shifts or breaks when opened on another device, unlike Word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Clean, consistent typography that recruiters instantly associate with technical candidates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Plain-text source — easy to version, reuse, and tailor per application in minutes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Free, battle-tested templates used by thousands of engineers already landing interviews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6217920" y="1554480"/>
            <a:ext cx="5349240" cy="4572000"/>
          </a:xfrm>
          <a:prstGeom prst="roundRect">
            <a:avLst>
              <a:gd fmla="val 2400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6537960" y="1874520"/>
            <a:ext cx="594360" cy="594360"/>
          </a:xfrm>
          <a:prstGeom prst="ellipse">
            <a:avLst/>
          </a:prstGeom>
          <a:solidFill>
            <a:srgbClr val="2A3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5976" y="20025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9"/>
          <p:cNvSpPr txBox="1"/>
          <p:nvPr/>
        </p:nvSpPr>
        <p:spPr>
          <a:xfrm>
            <a:off x="7315200" y="1920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Get started on Overleaf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6583680" y="26060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6995160" y="2587752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Create a free account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6995160" y="2944368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overleaf.com — no LaTeX install, runs entirely in the browser.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6583680" y="34747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6995160" y="3456432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Open the template gallery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6995160" y="3813048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Search “resume” or start from “Jake's Resume” — the template most tech resumes trace back 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6583680" y="434340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6995160" y="4325112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Edit the source, not a layout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6995160" y="4681728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Swap in your own sections and bullets — the structure and spacing stay perfect automatically.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6583680" y="521208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6995160" y="5193792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Recompile and download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6995160" y="5550408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One click gives you a clean, consistent PDF ready to attach to any application.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548640" y="626364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We'll build one live together at overleaf.com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single biggest resume fix: your bullets</a:t>
            </a:r>
            <a:endParaRPr sz="3000"/>
          </a:p>
        </p:txBody>
      </p:sp>
      <p:sp>
        <p:nvSpPr>
          <p:cNvPr id="328" name="Google Shape;328;p20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fmla="val 2400" name="adj"/>
            </a:avLst>
          </a:prstGeom>
          <a:solidFill>
            <a:srgbClr val="FEF2F2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19842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0"/>
          <p:cNvSpPr txBox="1"/>
          <p:nvPr/>
        </p:nvSpPr>
        <p:spPr>
          <a:xfrm>
            <a:off x="1600200" y="19202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EF4444"/>
                </a:solidFill>
                <a:latin typeface="Cambria"/>
                <a:ea typeface="Cambria"/>
                <a:cs typeface="Cambria"/>
                <a:sym typeface="Cambria"/>
              </a:rPr>
              <a:t>Weak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868680" y="2697480"/>
            <a:ext cx="47091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1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“Responsible for backend development”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1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“Worked on improving performance”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1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“Good knowledge of Python and SQL”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1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“Helped the team with various tasks”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6217920" y="1554480"/>
            <a:ext cx="5349240" cy="4572000"/>
          </a:xfrm>
          <a:prstGeom prst="roundRect">
            <a:avLst>
              <a:gd fmla="val 2400" name="adj"/>
            </a:avLst>
          </a:prstGeom>
          <a:solidFill>
            <a:srgbClr val="F0FDF4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7688" y="198424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0"/>
          <p:cNvSpPr txBox="1"/>
          <p:nvPr/>
        </p:nvSpPr>
        <p:spPr>
          <a:xfrm>
            <a:off x="7269480" y="19202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0B981"/>
                </a:solidFill>
                <a:latin typeface="Cambria"/>
                <a:ea typeface="Cambria"/>
                <a:cs typeface="Cambria"/>
                <a:sym typeface="Cambria"/>
              </a:rPr>
              <a:t>Strong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6537960" y="2697480"/>
            <a:ext cx="47091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“Built a Redis caching layer that cut API latency by 20%”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“Automated billing retries, cutting manual effort by 40%”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“Built a RAG pipeline (Python, MongoDB, Pinecone) used by 30+ students”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“Shipped a Flutter app with UPI payments, live on Play Store”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548640" y="626364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Formula: action verb + what you built/did + the tool — + the measurable result.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Your profile and your network do the pitching for you</a:t>
            </a:r>
            <a:endParaRPr sz="3000"/>
          </a:p>
        </p:txBody>
      </p:sp>
      <p:sp>
        <p:nvSpPr>
          <p:cNvPr id="346" name="Google Shape;346;p21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fmla="val 2400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920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1"/>
          <p:cNvSpPr txBox="1"/>
          <p:nvPr/>
        </p:nvSpPr>
        <p:spPr>
          <a:xfrm>
            <a:off x="1600200" y="1810512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LinkedIn that gets found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868680" y="2560320"/>
            <a:ext cx="47091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photo alone gets 21x more profile views and 9x more connection requests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Headline names the role you want next, not just “Student”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Pull the exact keywords from 3–5 target job postings into your headline, About, and Skills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 class projects count — quantify team size or scope like real experience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build a public GitHub — a real commit history shows initiative an interview can't fake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6217920" y="1554480"/>
            <a:ext cx="5349240" cy="4572000"/>
          </a:xfrm>
          <a:prstGeom prst="roundRect">
            <a:avLst>
              <a:gd fmla="val 2400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6537960" y="1828800"/>
            <a:ext cx="548640" cy="548640"/>
          </a:xfrm>
          <a:prstGeom prst="ellipse">
            <a:avLst/>
          </a:prstGeom>
          <a:solidFill>
            <a:srgbClr val="2A37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920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1"/>
          <p:cNvSpPr txBox="1"/>
          <p:nvPr/>
        </p:nvSpPr>
        <p:spPr>
          <a:xfrm>
            <a:off x="7269480" y="1810512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Warm networking beats cold applying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6537960" y="2560320"/>
            <a:ext cx="47091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List 10–20 target companies and reach out before a role is even posted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Use alumni search — start with people 2–5 years out of your own college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First message asks for a short conversation, never for a job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Connect with a short note, then follow up once, politely, after a week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Students who tried this kind of outreach were about twice as likely to land an internship in one study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Clearing the rounds, not just the resume</a:t>
            </a:r>
            <a:endParaRPr sz="3000"/>
          </a:p>
        </p:txBody>
      </p:sp>
      <p:sp>
        <p:nvSpPr>
          <p:cNvPr id="363" name="Google Shape;363;p2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fmla="val 2400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868680" y="182880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typical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868680" y="23774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1. Online assessment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868680" y="2697480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Aptitude, logical reasoning, and basic CS fundamentals or coding.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868680" y="32918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2. Technical interview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868680" y="3611880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Core subjects, programming concepts, and your own projects — explained in your own words.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868680" y="42062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3. HR round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868680" y="4526280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Background, motivation, and flexibility. Rejections here often trace back to round 2's unclear explanations.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868680" y="516636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STARL method for “tell me about a time…” questions: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868680" y="548640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Situation → Task → Action → Result → Learned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6217920" y="1554480"/>
            <a:ext cx="5349240" cy="4572000"/>
          </a:xfrm>
          <a:prstGeom prst="roundRect">
            <a:avLst>
              <a:gd fmla="val 2400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6537960" y="182880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Mistakes that lose rounds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6537960" y="2331720"/>
            <a:ext cx="47091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—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Jumping straight to the final answer instead of narrating your reasoning as you go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—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Filler words (“um,” “like”) undercutting an otherwise strong answer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—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Arriving unprepared on the role or company — read the JD, picture the actual day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—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Underselling real work, or overselling with no specifics to back it 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—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Having no question ready when they ask “any questions for us?”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Set a realistic timeline, not a panic timeline</a:t>
            </a:r>
            <a:endParaRPr sz="3000"/>
          </a:p>
        </p:txBody>
      </p:sp>
      <p:sp>
        <p:nvSpPr>
          <p:cNvPr id="383" name="Google Shape;383;p23"/>
          <p:cNvSpPr/>
          <p:nvPr/>
        </p:nvSpPr>
        <p:spPr>
          <a:xfrm>
            <a:off x="548640" y="1600200"/>
            <a:ext cx="3291840" cy="4480560"/>
          </a:xfrm>
          <a:prstGeom prst="roundRect">
            <a:avLst>
              <a:gd fmla="val 3333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548640" y="2103120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3–9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 txBox="1"/>
          <p:nvPr/>
        </p:nvSpPr>
        <p:spPr>
          <a:xfrm>
            <a:off x="548640" y="32461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MONTHS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 txBox="1"/>
          <p:nvPr/>
        </p:nvSpPr>
        <p:spPr>
          <a:xfrm>
            <a:off x="914400" y="3749040"/>
            <a:ext cx="2560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is a realistic first-job search if you start in your final year — longer if you wait until after graduation.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4160520" y="160020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8" name="Google Shape;3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170992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3"/>
          <p:cNvSpPr txBox="1"/>
          <p:nvPr/>
        </p:nvSpPr>
        <p:spPr>
          <a:xfrm>
            <a:off x="4846320" y="157276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Start before you graduate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 txBox="1"/>
          <p:nvPr/>
        </p:nvSpPr>
        <p:spPr>
          <a:xfrm>
            <a:off x="4846320" y="198424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77% of one recent graduating class found a job within 3 months — and early starters were about twice as likely to land a role before their diploma.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4160520" y="269748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2" name="Google Shape;3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28072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3"/>
          <p:cNvSpPr txBox="1"/>
          <p:nvPr/>
        </p:nvSpPr>
        <p:spPr>
          <a:xfrm>
            <a:off x="4846320" y="267004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Internships are the strongest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 txBox="1"/>
          <p:nvPr/>
        </p:nvSpPr>
        <p:spPr>
          <a:xfrm>
            <a:off x="4846320" y="308152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Employers extended full-time offers to roughly half to two-thirds of their recent intern classes — returning interns convert at an even higher rate.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4160520" y="379476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6" name="Google Shape;3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39044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3"/>
          <p:cNvSpPr txBox="1"/>
          <p:nvPr/>
        </p:nvSpPr>
        <p:spPr>
          <a:xfrm>
            <a:off x="4846320" y="376732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In-person beats remote-only internships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4846320" y="417880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In-person internship programs converted to full-time offers at meaningfully higher rates than remote-only ones in recent employer surveys.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4160520" y="489204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50017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3"/>
          <p:cNvSpPr txBox="1"/>
          <p:nvPr/>
        </p:nvSpPr>
        <p:spPr>
          <a:xfrm>
            <a:off x="4846320" y="486460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Heaviest hiring 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4846320" y="527608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Interview activity peaks January through March for a graduating batch — plan your applications and prep around that window, not after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7C3A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16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1" name="Google Shape;4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17190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4"/>
          <p:cNvSpPr txBox="1"/>
          <p:nvPr/>
        </p:nvSpPr>
        <p:spPr>
          <a:xfrm>
            <a:off x="822960" y="23317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 txBox="1"/>
          <p:nvPr>
            <p:ph type="title"/>
          </p:nvPr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Skills &amp; DSA: What to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Actually Practice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Stop counting problems. Start counting patterns.</a:t>
            </a:r>
            <a:endParaRPr sz="3000"/>
          </a:p>
        </p:txBody>
      </p:sp>
      <p:sp>
        <p:nvSpPr>
          <p:cNvPr id="420" name="Google Shape;420;p25"/>
          <p:cNvSpPr/>
          <p:nvPr/>
        </p:nvSpPr>
        <p:spPr>
          <a:xfrm>
            <a:off x="548640" y="1600200"/>
            <a:ext cx="3291840" cy="4480560"/>
          </a:xfrm>
          <a:prstGeom prst="roundRect">
            <a:avLst>
              <a:gd fmla="val 3333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548640" y="2103120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200"/>
              <a:buFont typeface="Cambria"/>
              <a:buNone/>
            </a:pPr>
            <a:r>
              <a:rPr b="1" i="0" lang="en-US" sz="72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~15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5"/>
          <p:cNvSpPr txBox="1"/>
          <p:nvPr/>
        </p:nvSpPr>
        <p:spPr>
          <a:xfrm>
            <a:off x="548640" y="32461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5"/>
          <p:cNvSpPr txBox="1"/>
          <p:nvPr/>
        </p:nvSpPr>
        <p:spPr>
          <a:xfrm>
            <a:off x="914400" y="3749040"/>
            <a:ext cx="2560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cover roughly 80% of the DSA problems you'll actually be asked in interviews.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5"/>
          <p:cNvSpPr/>
          <p:nvPr/>
        </p:nvSpPr>
        <p:spPr>
          <a:xfrm>
            <a:off x="4160520" y="160020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5" name="Google Shape;4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170992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5"/>
          <p:cNvSpPr txBox="1"/>
          <p:nvPr/>
        </p:nvSpPr>
        <p:spPr>
          <a:xfrm>
            <a:off x="4846320" y="157276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full profile isn't the goal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 txBox="1"/>
          <p:nvPr/>
        </p:nvSpPr>
        <p:spPr>
          <a:xfrm>
            <a:off x="4846320" y="198424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candidate with 700+ problems solved can still freeze on a new one — volume alone doesn't transfer if you never learned the pattern underneath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4160520" y="269748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28072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5"/>
          <p:cNvSpPr txBox="1"/>
          <p:nvPr/>
        </p:nvSpPr>
        <p:spPr>
          <a:xfrm>
            <a:off x="4846320" y="267004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Learn why, not just how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 txBox="1"/>
          <p:nvPr/>
        </p:nvSpPr>
        <p:spPr>
          <a:xfrm>
            <a:off x="4846320" y="308152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Tutorials show how a data structure works but skip why you'd reach for it — that gap is exactly what breaks on an unfamiliar problem.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4160520" y="379476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3" name="Google Shape;4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39044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5"/>
          <p:cNvSpPr txBox="1"/>
          <p:nvPr/>
        </p:nvSpPr>
        <p:spPr>
          <a:xfrm>
            <a:off x="4846320" y="376732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Revisit beats first-pass volume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4846320" y="417880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150 problems understood at the pattern level and revisited beats 500 solved once and forgotten. Revisit after a few days, a week, and again before interviews.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4160520" y="489204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7" name="Google Shape;4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50017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5"/>
          <p:cNvSpPr txBox="1"/>
          <p:nvPr/>
        </p:nvSpPr>
        <p:spPr>
          <a:xfrm>
            <a:off x="4846320" y="486460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Aim for “enough,” not “more”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4846320" y="527608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Roughly 100–150 well-chosen problems covering the core patterns is enough for most first jobs — scale up toward 200+ only for FAANG-tier bars.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order to actually learn this in</a:t>
            </a:r>
            <a:endParaRPr sz="3000"/>
          </a:p>
        </p:txBody>
      </p:sp>
      <p:sp>
        <p:nvSpPr>
          <p:cNvPr id="447" name="Google Shape;447;p26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6"/>
          <p:cNvSpPr txBox="1"/>
          <p:nvPr/>
        </p:nvSpPr>
        <p:spPr>
          <a:xfrm>
            <a:off x="548640" y="1691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6"/>
          <p:cNvSpPr txBox="1"/>
          <p:nvPr/>
        </p:nvSpPr>
        <p:spPr>
          <a:xfrm>
            <a:off x="1143000" y="163677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Big O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6"/>
          <p:cNvSpPr txBox="1"/>
          <p:nvPr/>
        </p:nvSpPr>
        <p:spPr>
          <a:xfrm>
            <a:off x="1143000" y="198424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The lens for every decision after this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548640" y="2715768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"/>
          <p:cNvSpPr txBox="1"/>
          <p:nvPr/>
        </p:nvSpPr>
        <p:spPr>
          <a:xfrm>
            <a:off x="548640" y="27157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 txBox="1"/>
          <p:nvPr/>
        </p:nvSpPr>
        <p:spPr>
          <a:xfrm>
            <a:off x="1143000" y="266090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Arrays &amp; hashing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6"/>
          <p:cNvSpPr txBox="1"/>
          <p:nvPr/>
        </p:nvSpPr>
        <p:spPr>
          <a:xfrm>
            <a:off x="1143000" y="300837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Frequency counts, duplicates, caching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548640" y="3739896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"/>
          <p:cNvSpPr txBox="1"/>
          <p:nvPr/>
        </p:nvSpPr>
        <p:spPr>
          <a:xfrm>
            <a:off x="548640" y="37398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 txBox="1"/>
          <p:nvPr/>
        </p:nvSpPr>
        <p:spPr>
          <a:xfrm>
            <a:off x="1143000" y="368503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Two pointers &amp; sliding 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548640" y="4764024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 txBox="1"/>
          <p:nvPr/>
        </p:nvSpPr>
        <p:spPr>
          <a:xfrm>
            <a:off x="548640" y="47640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6"/>
          <p:cNvSpPr txBox="1"/>
          <p:nvPr/>
        </p:nvSpPr>
        <p:spPr>
          <a:xfrm>
            <a:off x="1143000" y="47091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Stacks &amp; queues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6217920" y="1691640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 txBox="1"/>
          <p:nvPr/>
        </p:nvSpPr>
        <p:spPr>
          <a:xfrm>
            <a:off x="6217920" y="1691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 txBox="1"/>
          <p:nvPr/>
        </p:nvSpPr>
        <p:spPr>
          <a:xfrm>
            <a:off x="6812280" y="163677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Linked lists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6217920" y="2715768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 txBox="1"/>
          <p:nvPr/>
        </p:nvSpPr>
        <p:spPr>
          <a:xfrm>
            <a:off x="6217920" y="27157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 txBox="1"/>
          <p:nvPr/>
        </p:nvSpPr>
        <p:spPr>
          <a:xfrm>
            <a:off x="6812280" y="266090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Trees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 txBox="1"/>
          <p:nvPr/>
        </p:nvSpPr>
        <p:spPr>
          <a:xfrm>
            <a:off x="6812280" y="300837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e.g. lowest common ancestor, validate BST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6217920" y="3739896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 txBox="1"/>
          <p:nvPr/>
        </p:nvSpPr>
        <p:spPr>
          <a:xfrm>
            <a:off x="6217920" y="37398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 txBox="1"/>
          <p:nvPr/>
        </p:nvSpPr>
        <p:spPr>
          <a:xfrm>
            <a:off x="6812280" y="368503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Heaps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 txBox="1"/>
          <p:nvPr/>
        </p:nvSpPr>
        <p:spPr>
          <a:xfrm>
            <a:off x="6812280" y="403250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Priority queues, e.g. Dijkstra's algorithm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6217920" y="4764024"/>
            <a:ext cx="420624" cy="42062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6"/>
          <p:cNvSpPr txBox="1"/>
          <p:nvPr/>
        </p:nvSpPr>
        <p:spPr>
          <a:xfrm>
            <a:off x="6217920" y="47640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6"/>
          <p:cNvSpPr txBox="1"/>
          <p:nvPr/>
        </p:nvSpPr>
        <p:spPr>
          <a:xfrm>
            <a:off x="6812280" y="47091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Graphs, then dynamic programming last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fmla="val 12632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6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probably don't need deep system design as a fresher — </a:t>
            </a: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entry-level interviews stay focused on DSA and coding. Learn the basics anyway — client-server, databases, APIs, caching, load balancing — for the rare startup or Amazon-style question, and because it sharpens how you reason about your own projects.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7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small AI toolkit beats a long list of apps</a:t>
            </a:r>
            <a:endParaRPr sz="3000"/>
          </a:p>
        </p:txBody>
      </p:sp>
      <p:sp>
        <p:nvSpPr>
          <p:cNvPr id="484" name="Google Shape;484;p27"/>
          <p:cNvSpPr/>
          <p:nvPr/>
        </p:nvSpPr>
        <p:spPr>
          <a:xfrm>
            <a:off x="548640" y="1691640"/>
            <a:ext cx="2606040" cy="356616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6" name="Google Shape;4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" y="20939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7"/>
          <p:cNvSpPr txBox="1"/>
          <p:nvPr/>
        </p:nvSpPr>
        <p:spPr>
          <a:xfrm>
            <a:off x="777240" y="26974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Reasoning assistant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 txBox="1"/>
          <p:nvPr/>
        </p:nvSpPr>
        <p:spPr>
          <a:xfrm>
            <a:off x="777240" y="3291840"/>
            <a:ext cx="2148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For planning an approach and debugging out loud before you write code.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3337560" y="1691640"/>
            <a:ext cx="2606040" cy="356616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3566160" y="196596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4176" y="20939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7"/>
          <p:cNvSpPr txBox="1"/>
          <p:nvPr/>
        </p:nvSpPr>
        <p:spPr>
          <a:xfrm>
            <a:off x="3566160" y="26974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In-editor code assistant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 txBox="1"/>
          <p:nvPr/>
        </p:nvSpPr>
        <p:spPr>
          <a:xfrm>
            <a:off x="3566160" y="3291840"/>
            <a:ext cx="2148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GitHub Copilot or similar — autocomplete inside the flow, not a replacement for understanding.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6126480" y="1691640"/>
            <a:ext cx="2606040" cy="356616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6355080" y="196596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6" name="Google Shape;49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3096" y="20939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7"/>
          <p:cNvSpPr txBox="1"/>
          <p:nvPr/>
        </p:nvSpPr>
        <p:spPr>
          <a:xfrm>
            <a:off x="6355080" y="26974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research tool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 txBox="1"/>
          <p:nvPr/>
        </p:nvSpPr>
        <p:spPr>
          <a:xfrm>
            <a:off x="6355080" y="3291840"/>
            <a:ext cx="2148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One that links to real sources you can open and verify, not just a confident paragraph.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8915400" y="1691640"/>
            <a:ext cx="2606040" cy="356616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9144000" y="196596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1" name="Google Shape;50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72016" y="20939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7"/>
          <p:cNvSpPr txBox="1"/>
          <p:nvPr/>
        </p:nvSpPr>
        <p:spPr>
          <a:xfrm>
            <a:off x="9144000" y="26974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design tool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7"/>
          <p:cNvSpPr txBox="1"/>
          <p:nvPr/>
        </p:nvSpPr>
        <p:spPr>
          <a:xfrm>
            <a:off x="9144000" y="3291840"/>
            <a:ext cx="2148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Canva AI or similar for mockups, diagrams, and slides — so design isn't a bottleneck.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7"/>
          <p:cNvSpPr txBox="1"/>
          <p:nvPr/>
        </p:nvSpPr>
        <p:spPr>
          <a:xfrm>
            <a:off x="868680" y="566928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test that matters: if you can't explain the output without the AI, it didn't actually teach you anything — and never paste private data (OTPs, passwords) into any prompt.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7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8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2D3EE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8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16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4" name="Google Shape;5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17190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8"/>
          <p:cNvSpPr txBox="1"/>
          <p:nvPr/>
        </p:nvSpPr>
        <p:spPr>
          <a:xfrm>
            <a:off x="822960" y="23317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8"/>
          <p:cNvSpPr txBox="1"/>
          <p:nvPr>
            <p:ph type="title"/>
          </p:nvPr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Designing &amp; Building a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Real-World Application</a:t>
            </a:r>
            <a:endParaRPr sz="3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Tutorials teach syntax. Projects teach engineering.</a:t>
            </a:r>
            <a:endParaRPr sz="3000"/>
          </a:p>
        </p:txBody>
      </p:sp>
      <p:sp>
        <p:nvSpPr>
          <p:cNvPr id="523" name="Google Shape;523;p29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fmla="val 2474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9"/>
          <p:cNvSpPr txBox="1"/>
          <p:nvPr/>
        </p:nvSpPr>
        <p:spPr>
          <a:xfrm>
            <a:off x="914400" y="192024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Following a tutorial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914400" y="2606040"/>
            <a:ext cx="46177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Char char="—"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Someone else already decided every design choice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Char char="—"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You never debug a problem no one has written about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Char char="—"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 real users, no edge cases, no deployment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Char char="—"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Looks identical to a thousand other resumes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9"/>
          <p:cNvSpPr/>
          <p:nvPr/>
        </p:nvSpPr>
        <p:spPr>
          <a:xfrm>
            <a:off x="6217920" y="1600200"/>
            <a:ext cx="5349240" cy="4434840"/>
          </a:xfrm>
          <a:prstGeom prst="roundRect">
            <a:avLst>
              <a:gd fmla="val 2474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"/>
          <p:cNvSpPr txBox="1"/>
          <p:nvPr/>
        </p:nvSpPr>
        <p:spPr>
          <a:xfrm>
            <a:off x="6583680" y="192024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Building your own 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9"/>
          <p:cNvSpPr txBox="1"/>
          <p:nvPr/>
        </p:nvSpPr>
        <p:spPr>
          <a:xfrm>
            <a:off x="6583680" y="2606040"/>
            <a:ext cx="46177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0"/>
              <a:buFont typeface="Calibri"/>
              <a:buChar char="—"/>
            </a:pPr>
            <a:r>
              <a:rPr b="0" i="0" lang="en-US" sz="12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Every decision — schema, stack, scope — is yours to make and defend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1250"/>
              <a:buFont typeface="Calibri"/>
              <a:buChar char="—"/>
            </a:pPr>
            <a:r>
              <a:rPr b="0" i="0" lang="en-US" sz="12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 hit real bugs with no Stack Overflow answer, and learn to debug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1250"/>
              <a:buFont typeface="Calibri"/>
              <a:buChar char="—"/>
            </a:pPr>
            <a:r>
              <a:rPr b="0" i="0" lang="en-US" sz="12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 real deploy, a real URL, maybe real users giving feedback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1250"/>
              <a:buFont typeface="Calibri"/>
              <a:buChar char="—"/>
            </a:pPr>
            <a:r>
              <a:rPr b="0" i="0" lang="en-US" sz="12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Something specific to talk about in an interview, in depth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9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0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 to pick a project you'll actually finish</a:t>
            </a:r>
            <a:endParaRPr sz="3000"/>
          </a:p>
        </p:txBody>
      </p:sp>
      <p:sp>
        <p:nvSpPr>
          <p:cNvPr id="536" name="Google Shape;536;p30"/>
          <p:cNvSpPr/>
          <p:nvPr/>
        </p:nvSpPr>
        <p:spPr>
          <a:xfrm>
            <a:off x="548640" y="169164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0"/>
          <p:cNvSpPr txBox="1"/>
          <p:nvPr/>
        </p:nvSpPr>
        <p:spPr>
          <a:xfrm>
            <a:off x="777240" y="18745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2331720" y="189280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9" name="Google Shape;5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1448" y="200253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0"/>
          <p:cNvSpPr txBox="1"/>
          <p:nvPr/>
        </p:nvSpPr>
        <p:spPr>
          <a:xfrm>
            <a:off x="777240" y="260604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Start from a real annoyance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777240" y="338328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Pick a problem you or someone around you actually has — scheduling, tracking, finding something. Borrowed motivation runs out by week two.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3337560" y="169164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0"/>
          <p:cNvSpPr txBox="1"/>
          <p:nvPr/>
        </p:nvSpPr>
        <p:spPr>
          <a:xfrm>
            <a:off x="3566160" y="18745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0"/>
          <p:cNvSpPr/>
          <p:nvPr/>
        </p:nvSpPr>
        <p:spPr>
          <a:xfrm>
            <a:off x="5120640" y="189280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5" name="Google Shape;54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0368" y="200253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0"/>
          <p:cNvSpPr txBox="1"/>
          <p:nvPr/>
        </p:nvSpPr>
        <p:spPr>
          <a:xfrm>
            <a:off x="3566160" y="260604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Scope it to one weekend, not one semester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0"/>
          <p:cNvSpPr txBox="1"/>
          <p:nvPr/>
        </p:nvSpPr>
        <p:spPr>
          <a:xfrm>
            <a:off x="3566160" y="338328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List every feature you want, then cut it to the smallest version that still solves the problem. You can always add more after v1 ships.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0"/>
          <p:cNvSpPr/>
          <p:nvPr/>
        </p:nvSpPr>
        <p:spPr>
          <a:xfrm>
            <a:off x="6126480" y="169164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0"/>
          <p:cNvSpPr txBox="1"/>
          <p:nvPr/>
        </p:nvSpPr>
        <p:spPr>
          <a:xfrm>
            <a:off x="6355080" y="18745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0"/>
          <p:cNvSpPr/>
          <p:nvPr/>
        </p:nvSpPr>
        <p:spPr>
          <a:xfrm>
            <a:off x="7909560" y="189280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1" name="Google Shape;55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19288" y="200253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0"/>
          <p:cNvSpPr txBox="1"/>
          <p:nvPr/>
        </p:nvSpPr>
        <p:spPr>
          <a:xfrm>
            <a:off x="6355080" y="260604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Ship it before you polish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0"/>
          <p:cNvSpPr txBox="1"/>
          <p:nvPr/>
        </p:nvSpPr>
        <p:spPr>
          <a:xfrm>
            <a:off x="6355080" y="338328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Get a working, deployed version live — even ugly — before spending time on design. A live link beats a prettier local project.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0"/>
          <p:cNvSpPr/>
          <p:nvPr/>
        </p:nvSpPr>
        <p:spPr>
          <a:xfrm>
            <a:off x="8915400" y="169164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0"/>
          <p:cNvSpPr txBox="1"/>
          <p:nvPr/>
        </p:nvSpPr>
        <p:spPr>
          <a:xfrm>
            <a:off x="9144000" y="18745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0"/>
          <p:cNvSpPr/>
          <p:nvPr/>
        </p:nvSpPr>
        <p:spPr>
          <a:xfrm>
            <a:off x="10698480" y="189280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7" name="Google Shape;55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08208" y="200253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30"/>
          <p:cNvSpPr txBox="1"/>
          <p:nvPr/>
        </p:nvSpPr>
        <p:spPr>
          <a:xfrm>
            <a:off x="9144000" y="260604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Write down what it does and why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0"/>
          <p:cNvSpPr txBox="1"/>
          <p:nvPr/>
        </p:nvSpPr>
        <p:spPr>
          <a:xfrm>
            <a:off x="9144000" y="3383280"/>
            <a:ext cx="2148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short README or case study (problem, stack, outcome) is what turns the project into an interview story.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0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1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Case study: built solo, outside the day job</a:t>
            </a:r>
            <a:endParaRPr sz="3000"/>
          </a:p>
        </p:txBody>
      </p:sp>
      <p:sp>
        <p:nvSpPr>
          <p:cNvPr id="567" name="Google Shape;567;p31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fmla="val 2353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1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9" name="Google Shape;5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1"/>
          <p:cNvSpPr txBox="1"/>
          <p:nvPr/>
        </p:nvSpPr>
        <p:spPr>
          <a:xfrm>
            <a:off x="1920240" y="1828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Profly AI — Adaptive Aviation Exam Platform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1"/>
          <p:cNvSpPr txBox="1"/>
          <p:nvPr/>
        </p:nvSpPr>
        <p:spPr>
          <a:xfrm>
            <a:off x="192024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LIVE FOR OVER A YEAR · 30+ ACTIVE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1"/>
          <p:cNvSpPr txBox="1"/>
          <p:nvPr/>
        </p:nvSpPr>
        <p:spPr>
          <a:xfrm>
            <a:off x="86868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1"/>
          <p:cNvSpPr txBox="1"/>
          <p:nvPr/>
        </p:nvSpPr>
        <p:spPr>
          <a:xfrm>
            <a:off x="86868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Aviation students had no way to practice exam questions with answers grounded in their actual course material — generic AI chatbots hallucinate on technical aviation content.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1"/>
          <p:cNvSpPr txBox="1"/>
          <p:nvPr/>
        </p:nvSpPr>
        <p:spPr>
          <a:xfrm>
            <a:off x="443484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THE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1"/>
          <p:cNvSpPr txBox="1"/>
          <p:nvPr/>
        </p:nvSpPr>
        <p:spPr>
          <a:xfrm>
            <a:off x="443484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Node.js, Python/FastAPI, MongoDB, Pinecone, and GPT-4 — with a custom PDF parser and a subtopic-scoped retrieval pipeline (RAG).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1"/>
          <p:cNvSpPr txBox="1"/>
          <p:nvPr/>
        </p:nvSpPr>
        <p:spPr>
          <a:xfrm>
            <a:off x="800100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THE OUTCOME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1"/>
          <p:cNvSpPr txBox="1"/>
          <p:nvPr/>
        </p:nvSpPr>
        <p:spPr>
          <a:xfrm>
            <a:off x="800100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source-bound system prompt keeps every answer grounded in real material, plus a custom eval harness built to keep iterating on answer quality after launch.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1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2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Case study: built solo, outside the day job</a:t>
            </a:r>
            <a:endParaRPr sz="3000"/>
          </a:p>
        </p:txBody>
      </p:sp>
      <p:sp>
        <p:nvSpPr>
          <p:cNvPr id="585" name="Google Shape;585;p32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fmla="val 2353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2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7" name="Google Shape;58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2"/>
          <p:cNvSpPr txBox="1"/>
          <p:nvPr/>
        </p:nvSpPr>
        <p:spPr>
          <a:xfrm>
            <a:off x="1920240" y="1828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Eclipse — iOS Productivity App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2"/>
          <p:cNvSpPr txBox="1"/>
          <p:nvPr/>
        </p:nvSpPr>
        <p:spPr>
          <a:xfrm>
            <a:off x="192024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LIVE ON THE APP STORE · REAL SUBSCRIPTION PRICING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2"/>
          <p:cNvSpPr txBox="1"/>
          <p:nvPr/>
        </p:nvSpPr>
        <p:spPr>
          <a:xfrm>
            <a:off x="86868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2"/>
          <p:cNvSpPr txBox="1"/>
          <p:nvPr/>
        </p:nvSpPr>
        <p:spPr>
          <a:xfrm>
            <a:off x="86868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who wanted to cut down phone distraction needed a reliable way to schedule grayscale mode and app limits — and to trust that the automation actually fires.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2"/>
          <p:cNvSpPr txBox="1"/>
          <p:nvPr/>
        </p:nvSpPr>
        <p:spPr>
          <a:xfrm>
            <a:off x="443484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THE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2"/>
          <p:cNvSpPr txBox="1"/>
          <p:nvPr/>
        </p:nvSpPr>
        <p:spPr>
          <a:xfrm>
            <a:off x="443484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Swift for the native iOS client, a Node.js/TypeScript backend, MongoDB, and AWS — built on Apple's Screen Time framework.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2"/>
          <p:cNvSpPr txBox="1"/>
          <p:nvPr/>
        </p:nvSpPr>
        <p:spPr>
          <a:xfrm>
            <a:off x="800100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THE OUTCOME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2"/>
          <p:cNvSpPr txBox="1"/>
          <p:nvPr/>
        </p:nvSpPr>
        <p:spPr>
          <a:xfrm>
            <a:off x="800100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custom reliability system that verifies scheduled automations actually ran on time — not just that the feature exists — plus a Python scraper for supporting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2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3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skill stack that gets you hired in 2026</a:t>
            </a:r>
            <a:endParaRPr sz="3000"/>
          </a:p>
        </p:txBody>
      </p:sp>
      <p:sp>
        <p:nvSpPr>
          <p:cNvPr id="603" name="Google Shape;603;p33"/>
          <p:cNvSpPr/>
          <p:nvPr/>
        </p:nvSpPr>
        <p:spPr>
          <a:xfrm>
            <a:off x="548640" y="169164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3"/>
          <p:cNvSpPr/>
          <p:nvPr/>
        </p:nvSpPr>
        <p:spPr>
          <a:xfrm>
            <a:off x="777240" y="1965960"/>
            <a:ext cx="457200" cy="109728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3"/>
          <p:cNvSpPr txBox="1"/>
          <p:nvPr/>
        </p:nvSpPr>
        <p:spPr>
          <a:xfrm>
            <a:off x="777240" y="21945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Frontend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3"/>
          <p:cNvSpPr txBox="1"/>
          <p:nvPr/>
        </p:nvSpPr>
        <p:spPr>
          <a:xfrm>
            <a:off x="777240" y="2743200"/>
            <a:ext cx="21488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React / Next.js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3"/>
          <p:cNvSpPr/>
          <p:nvPr/>
        </p:nvSpPr>
        <p:spPr>
          <a:xfrm>
            <a:off x="3337560" y="169164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3566160" y="1965960"/>
            <a:ext cx="457200" cy="109728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3"/>
          <p:cNvSpPr txBox="1"/>
          <p:nvPr/>
        </p:nvSpPr>
        <p:spPr>
          <a:xfrm>
            <a:off x="3566160" y="21945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Backend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3"/>
          <p:cNvSpPr txBox="1"/>
          <p:nvPr/>
        </p:nvSpPr>
        <p:spPr>
          <a:xfrm>
            <a:off x="3566160" y="2743200"/>
            <a:ext cx="21488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Node.js / Express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Python / FastAPI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REST + GraphQL APIs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3"/>
          <p:cNvSpPr/>
          <p:nvPr/>
        </p:nvSpPr>
        <p:spPr>
          <a:xfrm>
            <a:off x="6126480" y="169164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3"/>
          <p:cNvSpPr/>
          <p:nvPr/>
        </p:nvSpPr>
        <p:spPr>
          <a:xfrm>
            <a:off x="6355080" y="1965960"/>
            <a:ext cx="457200" cy="109728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3"/>
          <p:cNvSpPr txBox="1"/>
          <p:nvPr/>
        </p:nvSpPr>
        <p:spPr>
          <a:xfrm>
            <a:off x="6355080" y="21945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 &amp; Infra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3"/>
          <p:cNvSpPr txBox="1"/>
          <p:nvPr/>
        </p:nvSpPr>
        <p:spPr>
          <a:xfrm>
            <a:off x="6355080" y="2743200"/>
            <a:ext cx="21488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PostgreSQL / MongoDB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Docker, CI/CD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AWS or GCP basics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3"/>
          <p:cNvSpPr/>
          <p:nvPr/>
        </p:nvSpPr>
        <p:spPr>
          <a:xfrm>
            <a:off x="8915400" y="1691640"/>
            <a:ext cx="2606040" cy="4206240"/>
          </a:xfrm>
          <a:prstGeom prst="roundRect">
            <a:avLst>
              <a:gd fmla="val 4211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3"/>
          <p:cNvSpPr/>
          <p:nvPr/>
        </p:nvSpPr>
        <p:spPr>
          <a:xfrm>
            <a:off x="9144000" y="1965960"/>
            <a:ext cx="457200" cy="109728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3"/>
          <p:cNvSpPr txBox="1"/>
          <p:nvPr/>
        </p:nvSpPr>
        <p:spPr>
          <a:xfrm>
            <a:off x="9144000" y="21945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The differentiator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3"/>
          <p:cNvSpPr txBox="1"/>
          <p:nvPr/>
        </p:nvSpPr>
        <p:spPr>
          <a:xfrm>
            <a:off x="9144000" y="2743200"/>
            <a:ext cx="21488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One project shipped end-to-end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 live, working URL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 can explain every decision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3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4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7C3AED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4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162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7" name="Google Shape;62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" y="171907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4"/>
          <p:cNvSpPr txBox="1"/>
          <p:nvPr/>
        </p:nvSpPr>
        <p:spPr>
          <a:xfrm>
            <a:off x="822960" y="23317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PART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4"/>
          <p:cNvSpPr txBox="1"/>
          <p:nvPr>
            <p:ph type="title"/>
          </p:nvPr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Mentorship: Landing Your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First Freelance Clients</a:t>
            </a:r>
            <a:endParaRPr sz="3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5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Where your first client actually comes from</a:t>
            </a:r>
            <a:endParaRPr sz="3000"/>
          </a:p>
        </p:txBody>
      </p:sp>
      <p:sp>
        <p:nvSpPr>
          <p:cNvPr id="636" name="Google Shape;636;p35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5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8" name="Google Shape;6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" y="20025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5"/>
          <p:cNvSpPr txBox="1"/>
          <p:nvPr/>
        </p:nvSpPr>
        <p:spPr>
          <a:xfrm>
            <a:off x="1600200" y="1856232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Your own network 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5"/>
          <p:cNvSpPr txBox="1"/>
          <p:nvPr/>
        </p:nvSpPr>
        <p:spPr>
          <a:xfrm>
            <a:off x="822960" y="251460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Family friends, local shop owners, your college's clubs or events — almost nobody's first client comes from a cold platform message.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5"/>
          <p:cNvSpPr/>
          <p:nvPr/>
        </p:nvSpPr>
        <p:spPr>
          <a:xfrm>
            <a:off x="6172200" y="160020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5"/>
          <p:cNvSpPr/>
          <p:nvPr/>
        </p:nvSpPr>
        <p:spPr>
          <a:xfrm>
            <a:off x="6446520" y="187452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3" name="Google Shape;6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4536" y="200253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5"/>
          <p:cNvSpPr txBox="1"/>
          <p:nvPr/>
        </p:nvSpPr>
        <p:spPr>
          <a:xfrm>
            <a:off x="7223760" y="1856232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free or discounted first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5"/>
          <p:cNvSpPr txBox="1"/>
          <p:nvPr/>
        </p:nvSpPr>
        <p:spPr>
          <a:xfrm>
            <a:off x="6446520" y="251460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One real, finished project for a known contact — for a testimonial and referral, not for free forever — beats ten unanswered cold pitches.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5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5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8" name="Google Shape;64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976" y="442569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5"/>
          <p:cNvSpPr txBox="1"/>
          <p:nvPr/>
        </p:nvSpPr>
        <p:spPr>
          <a:xfrm>
            <a:off x="1600200" y="4279392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Freelance platforms, used right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5"/>
          <p:cNvSpPr txBox="1"/>
          <p:nvPr/>
        </p:nvSpPr>
        <p:spPr>
          <a:xfrm>
            <a:off x="822960" y="493776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Upwork/Fiverr work once you have 1–2 case studies to show — apply with a specific idea for their business, not a generic template.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5"/>
          <p:cNvSpPr/>
          <p:nvPr/>
        </p:nvSpPr>
        <p:spPr>
          <a:xfrm>
            <a:off x="6172200" y="4023360"/>
            <a:ext cx="5349240" cy="2148840"/>
          </a:xfrm>
          <a:prstGeom prst="roundRect">
            <a:avLst>
              <a:gd fmla="val 5106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5"/>
          <p:cNvSpPr/>
          <p:nvPr/>
        </p:nvSpPr>
        <p:spPr>
          <a:xfrm>
            <a:off x="6446520" y="429768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3" name="Google Shape;65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4536" y="442569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5"/>
          <p:cNvSpPr txBox="1"/>
          <p:nvPr/>
        </p:nvSpPr>
        <p:spPr>
          <a:xfrm>
            <a:off x="7223760" y="4279392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Build in public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5"/>
          <p:cNvSpPr txBox="1"/>
          <p:nvPr/>
        </p:nvSpPr>
        <p:spPr>
          <a:xfrm>
            <a:off x="6446520" y="4937760"/>
            <a:ext cx="4800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Post your project's progress on LinkedIn as you build it — clients and recruiters find you before you ever apply anywhere.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5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6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Pitching with zero track record</a:t>
            </a:r>
            <a:endParaRPr sz="3000"/>
          </a:p>
        </p:txBody>
      </p:sp>
      <p:sp>
        <p:nvSpPr>
          <p:cNvPr id="663" name="Google Shape;663;p36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6"/>
          <p:cNvSpPr txBox="1"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“You don't need experience to sound credible — you need specificity. A pitch about their exact problem beats a resume every time.”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6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6" name="Google Shape;66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291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36"/>
          <p:cNvSpPr txBox="1"/>
          <p:nvPr/>
        </p:nvSpPr>
        <p:spPr>
          <a:xfrm>
            <a:off x="1143000" y="3154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Lead with their problem, not your skills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6"/>
          <p:cNvSpPr txBox="1"/>
          <p:nvPr/>
        </p:nvSpPr>
        <p:spPr>
          <a:xfrm>
            <a:off x="1143000" y="3547872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“I noticed your site takes 6 seconds to load on mobile” beats “I know React and Node.js.”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6"/>
          <p:cNvSpPr/>
          <p:nvPr/>
        </p:nvSpPr>
        <p:spPr>
          <a:xfrm>
            <a:off x="6172200" y="3200400"/>
            <a:ext cx="457200" cy="4572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0" name="Google Shape;67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3291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6"/>
          <p:cNvSpPr txBox="1"/>
          <p:nvPr/>
        </p:nvSpPr>
        <p:spPr>
          <a:xfrm>
            <a:off x="6766560" y="3154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Show, don't tell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6"/>
          <p:cNvSpPr txBox="1"/>
          <p:nvPr/>
        </p:nvSpPr>
        <p:spPr>
          <a:xfrm>
            <a:off x="6766560" y="3547872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Attach your shipped project or a quick 2-minute Loom walkthrough instead of describing your skills in prose.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6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4" name="Google Shape;67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074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6"/>
          <p:cNvSpPr txBox="1"/>
          <p:nvPr/>
        </p:nvSpPr>
        <p:spPr>
          <a:xfrm>
            <a:off x="1143000" y="4937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Offer a small, scoped first step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6"/>
          <p:cNvSpPr txBox="1"/>
          <p:nvPr/>
        </p:nvSpPr>
        <p:spPr>
          <a:xfrm>
            <a:off x="1143000" y="5330952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 fixed-price landing page or a one-week sprint is a far easier yes than an open-ended retainer.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6"/>
          <p:cNvSpPr/>
          <p:nvPr/>
        </p:nvSpPr>
        <p:spPr>
          <a:xfrm>
            <a:off x="6172200" y="4983480"/>
            <a:ext cx="457200" cy="4572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8" name="Google Shape;6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5074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36"/>
          <p:cNvSpPr txBox="1"/>
          <p:nvPr/>
        </p:nvSpPr>
        <p:spPr>
          <a:xfrm>
            <a:off x="6766560" y="4937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Ask for a testimonial, not just payment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6"/>
          <p:cNvSpPr txBox="1"/>
          <p:nvPr/>
        </p:nvSpPr>
        <p:spPr>
          <a:xfrm>
            <a:off x="6766560" y="5330952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Early on, a specific written testimonial is worth as much as the invoice — it's what gets you client #3.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6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7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to realistically expect, starting out</a:t>
            </a:r>
            <a:endParaRPr sz="3000"/>
          </a:p>
        </p:txBody>
      </p:sp>
      <p:sp>
        <p:nvSpPr>
          <p:cNvPr id="688" name="Google Shape;688;p37"/>
          <p:cNvSpPr/>
          <p:nvPr/>
        </p:nvSpPr>
        <p:spPr>
          <a:xfrm>
            <a:off x="548640" y="1600200"/>
            <a:ext cx="3291840" cy="4480560"/>
          </a:xfrm>
          <a:prstGeom prst="roundRect">
            <a:avLst>
              <a:gd fmla="val 3333" name="adj"/>
            </a:avLst>
          </a:prstGeom>
          <a:solidFill>
            <a:srgbClr val="1E2761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7"/>
          <p:cNvSpPr txBox="1"/>
          <p:nvPr/>
        </p:nvSpPr>
        <p:spPr>
          <a:xfrm>
            <a:off x="548640" y="196596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$500–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$2,000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7"/>
          <p:cNvSpPr txBox="1"/>
          <p:nvPr/>
        </p:nvSpPr>
        <p:spPr>
          <a:xfrm>
            <a:off x="548640" y="32461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7"/>
          <p:cNvSpPr txBox="1"/>
          <p:nvPr/>
        </p:nvSpPr>
        <p:spPr>
          <a:xfrm>
            <a:off x="914400" y="3749040"/>
            <a:ext cx="2560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is a realistic part-time range once you're established — not your first week.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7"/>
          <p:cNvSpPr/>
          <p:nvPr/>
        </p:nvSpPr>
        <p:spPr>
          <a:xfrm>
            <a:off x="4160520" y="160020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3" name="Google Shape;69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170992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37"/>
          <p:cNvSpPr txBox="1"/>
          <p:nvPr/>
        </p:nvSpPr>
        <p:spPr>
          <a:xfrm>
            <a:off x="4846320" y="157276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Upwork for breadth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7"/>
          <p:cNvSpPr txBox="1"/>
          <p:nvPr/>
        </p:nvSpPr>
        <p:spPr>
          <a:xfrm>
            <a:off x="4846320" y="198424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Largest pool of live work, but crowded — apply with a specific idea for that business, not a template.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7"/>
          <p:cNvSpPr/>
          <p:nvPr/>
        </p:nvSpPr>
        <p:spPr>
          <a:xfrm>
            <a:off x="4160520" y="269748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7" name="Google Shape;69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28072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37"/>
          <p:cNvSpPr txBox="1"/>
          <p:nvPr/>
        </p:nvSpPr>
        <p:spPr>
          <a:xfrm>
            <a:off x="4846320" y="267004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Fiverr for creative/content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7"/>
          <p:cNvSpPr txBox="1"/>
          <p:nvPr/>
        </p:nvSpPr>
        <p:spPr>
          <a:xfrm>
            <a:off x="4846320" y="308152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Good for design, editing, writing — but AI has commoditized the lowest-tier gigs, so specialize.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7"/>
          <p:cNvSpPr/>
          <p:nvPr/>
        </p:nvSpPr>
        <p:spPr>
          <a:xfrm>
            <a:off x="4160520" y="379476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1" name="Google Shape;70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39044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37"/>
          <p:cNvSpPr txBox="1"/>
          <p:nvPr/>
        </p:nvSpPr>
        <p:spPr>
          <a:xfrm>
            <a:off x="4846320" y="376732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Build reviews with small jobs 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7"/>
          <p:cNvSpPr txBox="1"/>
          <p:nvPr/>
        </p:nvSpPr>
        <p:spPr>
          <a:xfrm>
            <a:off x="4846320" y="417880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Apply consistently, finish small projects well, and let reviews compound — don't chase the biggest gig first.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7"/>
          <p:cNvSpPr/>
          <p:nvPr/>
        </p:nvSpPr>
        <p:spPr>
          <a:xfrm>
            <a:off x="4160520" y="4892040"/>
            <a:ext cx="502920" cy="50292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5" name="Google Shape;7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248" y="50017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7"/>
          <p:cNvSpPr txBox="1"/>
          <p:nvPr/>
        </p:nvSpPr>
        <p:spPr>
          <a:xfrm>
            <a:off x="4846320" y="4864608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Check fees and payout timing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7"/>
          <p:cNvSpPr txBox="1"/>
          <p:nvPr/>
        </p:nvSpPr>
        <p:spPr>
          <a:xfrm>
            <a:off x="4846320" y="5276088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Platform fees and payout delays (Fiverr's clearing period, for one) eat into cash flow — price with that in mind.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7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8"/>
          <p:cNvSpPr txBox="1"/>
          <p:nvPr>
            <p:ph type="title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Case study: built solo, outside the day job</a:t>
            </a:r>
            <a:endParaRPr sz="3000"/>
          </a:p>
        </p:txBody>
      </p:sp>
      <p:sp>
        <p:nvSpPr>
          <p:cNvPr id="715" name="Google Shape;715;p38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fmla="val 2353" name="adj"/>
            </a:avLst>
          </a:prstGeom>
          <a:solidFill>
            <a:srgbClr val="EEF2FF"/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8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7" name="Google Shape;7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38"/>
          <p:cNvSpPr txBox="1"/>
          <p:nvPr/>
        </p:nvSpPr>
        <p:spPr>
          <a:xfrm>
            <a:off x="1920240" y="1828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Adhian Gurus — From Freelance Instinct to Co-founding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8"/>
          <p:cNvSpPr txBox="1"/>
          <p:nvPr/>
        </p:nvSpPr>
        <p:spPr>
          <a:xfrm>
            <a:off x="1920240" y="2286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LIVE TWO-SIDED MARKETPLACE · FOUNDING-TUTOR PROGRAM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8"/>
          <p:cNvSpPr txBox="1"/>
          <p:nvPr/>
        </p:nvSpPr>
        <p:spPr>
          <a:xfrm>
            <a:off x="86868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8"/>
          <p:cNvSpPr txBox="1"/>
          <p:nvPr/>
        </p:nvSpPr>
        <p:spPr>
          <a:xfrm>
            <a:off x="86868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Verified tutors across CBSE, ICSE, IB, and state boards had no trustworthy platform to reach students — and parents had no visibility into what was actually taught each session.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8"/>
          <p:cNvSpPr txBox="1"/>
          <p:nvPr/>
        </p:nvSpPr>
        <p:spPr>
          <a:xfrm>
            <a:off x="443484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8"/>
          <p:cNvSpPr txBox="1"/>
          <p:nvPr/>
        </p:nvSpPr>
        <p:spPr>
          <a:xfrm>
            <a:off x="443484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Node.js/Express and MongoDB on the backend, a Next.js frontend, with GPT-4-powered AI session summaries for parents after every class.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8"/>
          <p:cNvSpPr txBox="1"/>
          <p:nvPr/>
        </p:nvSpPr>
        <p:spPr>
          <a:xfrm>
            <a:off x="8001000" y="3063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OUTCOME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8"/>
          <p:cNvSpPr txBox="1"/>
          <p:nvPr/>
        </p:nvSpPr>
        <p:spPr>
          <a:xfrm>
            <a:off x="8001000" y="3429000"/>
            <a:ext cx="3337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0% commission founding-tutor program for year one to win trust first — the same instinct as a freelancer's first discounted project, just at company scale.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8"/>
          <p:cNvSpPr txBox="1"/>
          <p:nvPr>
            <p:ph idx="4294967295" type="sldNum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9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7C3AED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9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22D3EE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9"/>
          <p:cNvSpPr txBox="1"/>
          <p:nvPr>
            <p:ph type="title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Three things to do this week</a:t>
            </a:r>
            <a:endParaRPr sz="3200"/>
          </a:p>
        </p:txBody>
      </p:sp>
      <p:sp>
        <p:nvSpPr>
          <p:cNvPr id="735" name="Google Shape;735;p39"/>
          <p:cNvSpPr/>
          <p:nvPr/>
        </p:nvSpPr>
        <p:spPr>
          <a:xfrm>
            <a:off x="822960" y="2103120"/>
            <a:ext cx="3429000" cy="3291840"/>
          </a:xfrm>
          <a:prstGeom prst="roundRect">
            <a:avLst>
              <a:gd fmla="val 3333" name="adj"/>
            </a:avLst>
          </a:prstGeom>
          <a:solidFill>
            <a:srgbClr val="111932">
              <a:alpha val="50196"/>
            </a:srgbClr>
          </a:solidFill>
          <a:ln cap="flat" cmpd="sng" w="12700">
            <a:solidFill>
              <a:srgbClr val="2A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9"/>
          <p:cNvSpPr/>
          <p:nvPr/>
        </p:nvSpPr>
        <p:spPr>
          <a:xfrm>
            <a:off x="1143000" y="2423160"/>
            <a:ext cx="685800" cy="685800"/>
          </a:xfrm>
          <a:prstGeom prst="ellipse">
            <a:avLst/>
          </a:prstGeom>
          <a:solidFill>
            <a:srgbClr val="1A2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7" name="Google Shape;7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257860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39"/>
          <p:cNvSpPr txBox="1"/>
          <p:nvPr/>
        </p:nvSpPr>
        <p:spPr>
          <a:xfrm>
            <a:off x="1143000" y="338328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Rewrite 3 resume bullets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9"/>
          <p:cNvSpPr txBox="1"/>
          <p:nvPr/>
        </p:nvSpPr>
        <p:spPr>
          <a:xfrm>
            <a:off x="1143000" y="4206240"/>
            <a:ext cx="2788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Use the action + tool + measurable-result formula from Part 1 — tonight, not someday.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9"/>
          <p:cNvSpPr/>
          <p:nvPr/>
        </p:nvSpPr>
        <p:spPr>
          <a:xfrm>
            <a:off x="4526280" y="2103120"/>
            <a:ext cx="3429000" cy="3291840"/>
          </a:xfrm>
          <a:prstGeom prst="roundRect">
            <a:avLst>
              <a:gd fmla="val 3333" name="adj"/>
            </a:avLst>
          </a:prstGeom>
          <a:solidFill>
            <a:srgbClr val="111932">
              <a:alpha val="50196"/>
            </a:srgbClr>
          </a:solidFill>
          <a:ln cap="flat" cmpd="sng" w="12700">
            <a:solidFill>
              <a:srgbClr val="2A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9"/>
          <p:cNvSpPr/>
          <p:nvPr/>
        </p:nvSpPr>
        <p:spPr>
          <a:xfrm>
            <a:off x="4846320" y="2423160"/>
            <a:ext cx="685800" cy="685800"/>
          </a:xfrm>
          <a:prstGeom prst="ellipse">
            <a:avLst/>
          </a:prstGeom>
          <a:solidFill>
            <a:srgbClr val="1A2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2" name="Google Shape;74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1768" y="257860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39"/>
          <p:cNvSpPr txBox="1"/>
          <p:nvPr/>
        </p:nvSpPr>
        <p:spPr>
          <a:xfrm>
            <a:off x="4846320" y="338328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Write down one project idea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9"/>
          <p:cNvSpPr txBox="1"/>
          <p:nvPr/>
        </p:nvSpPr>
        <p:spPr>
          <a:xfrm>
            <a:off x="4846320" y="4206240"/>
            <a:ext cx="2788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One real annoyance, scoped to a weekend. Don't wait for the perfect idea — ship a small one.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9"/>
          <p:cNvSpPr/>
          <p:nvPr/>
        </p:nvSpPr>
        <p:spPr>
          <a:xfrm>
            <a:off x="8229600" y="2103120"/>
            <a:ext cx="3429000" cy="3291840"/>
          </a:xfrm>
          <a:prstGeom prst="roundRect">
            <a:avLst>
              <a:gd fmla="val 3333" name="adj"/>
            </a:avLst>
          </a:prstGeom>
          <a:solidFill>
            <a:srgbClr val="111932">
              <a:alpha val="50196"/>
            </a:srgbClr>
          </a:solidFill>
          <a:ln cap="flat" cmpd="sng" w="12700">
            <a:solidFill>
              <a:srgbClr val="2A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9"/>
          <p:cNvSpPr/>
          <p:nvPr/>
        </p:nvSpPr>
        <p:spPr>
          <a:xfrm>
            <a:off x="8549640" y="2423160"/>
            <a:ext cx="685800" cy="685800"/>
          </a:xfrm>
          <a:prstGeom prst="ellipse">
            <a:avLst/>
          </a:prstGeom>
          <a:solidFill>
            <a:srgbClr val="1A2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7" name="Google Shape;74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05088" y="257860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39"/>
          <p:cNvSpPr txBox="1"/>
          <p:nvPr/>
        </p:nvSpPr>
        <p:spPr>
          <a:xfrm>
            <a:off x="8549640" y="338328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Message one person in your network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9"/>
          <p:cNvSpPr txBox="1"/>
          <p:nvPr/>
        </p:nvSpPr>
        <p:spPr>
          <a:xfrm>
            <a:off x="8549640" y="4206240"/>
            <a:ext cx="2788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Ask if they or someone they know needs a small website or tool built — that's your first pitch.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0"/>
          <p:cNvSpPr/>
          <p:nvPr/>
        </p:nvSpPr>
        <p:spPr>
          <a:xfrm>
            <a:off x="5486400" y="-2743200"/>
            <a:ext cx="6400800" cy="6400800"/>
          </a:xfrm>
          <a:prstGeom prst="ellipse">
            <a:avLst/>
          </a:prstGeom>
          <a:solidFill>
            <a:srgbClr val="7C3AED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0"/>
          <p:cNvSpPr txBox="1"/>
          <p:nvPr>
            <p:ph type="title"/>
          </p:nvPr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Let's stay in touch</a:t>
            </a:r>
            <a:endParaRPr sz="3200"/>
          </a:p>
        </p:txBody>
      </p:sp>
      <p:sp>
        <p:nvSpPr>
          <p:cNvPr id="757" name="Google Shape;757;p40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1A2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8" name="Google Shape;75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21284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40"/>
          <p:cNvSpPr txBox="1"/>
          <p:nvPr/>
        </p:nvSpPr>
        <p:spPr>
          <a:xfrm>
            <a:off x="1508760" y="208483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Portfolio &amp; projects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0"/>
          <p:cNvSpPr txBox="1"/>
          <p:nvPr/>
        </p:nvSpPr>
        <p:spPr>
          <a:xfrm>
            <a:off x="1508760" y="23774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adamya-kumar-portfolio.vercel.app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0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1A2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2" name="Google Shape;76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9900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40"/>
          <p:cNvSpPr txBox="1"/>
          <p:nvPr/>
        </p:nvSpPr>
        <p:spPr>
          <a:xfrm>
            <a:off x="1508760" y="286207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0"/>
          <p:cNvSpPr txBox="1"/>
          <p:nvPr/>
        </p:nvSpPr>
        <p:spPr>
          <a:xfrm>
            <a:off x="1508760" y="315468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kumar.adamya2000@gmail.com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0"/>
          <p:cNvSpPr/>
          <p:nvPr/>
        </p:nvSpPr>
        <p:spPr>
          <a:xfrm>
            <a:off x="822960" y="3657600"/>
            <a:ext cx="502920" cy="502920"/>
          </a:xfrm>
          <a:prstGeom prst="ellipse">
            <a:avLst/>
          </a:prstGeom>
          <a:solidFill>
            <a:srgbClr val="1A2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6" name="Google Shape;76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88" y="376732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40"/>
          <p:cNvSpPr txBox="1"/>
          <p:nvPr/>
        </p:nvSpPr>
        <p:spPr>
          <a:xfrm>
            <a:off x="1508760" y="363931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Phone / WhatsApp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0"/>
          <p:cNvSpPr txBox="1"/>
          <p:nvPr/>
        </p:nvSpPr>
        <p:spPr>
          <a:xfrm>
            <a:off x="1508760" y="39319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+91 70173 68626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0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1A2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0" name="Google Shape;770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" y="45445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40"/>
          <p:cNvSpPr txBox="1"/>
          <p:nvPr/>
        </p:nvSpPr>
        <p:spPr>
          <a:xfrm>
            <a:off x="1508760" y="441655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0"/>
          <p:cNvSpPr txBox="1"/>
          <p:nvPr/>
        </p:nvSpPr>
        <p:spPr>
          <a:xfrm>
            <a:off x="1508760" y="47091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linkedin.com/in/adamya-kumar-5947751ba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0"/>
          <p:cNvSpPr/>
          <p:nvPr/>
        </p:nvSpPr>
        <p:spPr>
          <a:xfrm>
            <a:off x="8138160" y="2103120"/>
            <a:ext cx="3291840" cy="3108960"/>
          </a:xfrm>
          <a:prstGeom prst="roundRect">
            <a:avLst>
              <a:gd fmla="val 3529" name="adj"/>
            </a:avLst>
          </a:prstGeom>
          <a:solidFill>
            <a:srgbClr val="111932">
              <a:alpha val="50196"/>
            </a:srgbClr>
          </a:solidFill>
          <a:ln>
            <a:noFill/>
          </a:ln>
          <a:effectLst>
            <a:outerShdw blurRad="1270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0"/>
          <p:cNvSpPr txBox="1"/>
          <p:nvPr/>
        </p:nvSpPr>
        <p:spPr>
          <a:xfrm>
            <a:off x="8412480" y="23317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Workshop registration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0"/>
          <p:cNvSpPr txBox="1"/>
          <p:nvPr/>
        </p:nvSpPr>
        <p:spPr>
          <a:xfrm>
            <a:off x="8412480" y="269748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Share this with a friend who should be here too: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0"/>
          <p:cNvSpPr txBox="1"/>
          <p:nvPr/>
        </p:nvSpPr>
        <p:spPr>
          <a:xfrm>
            <a:off x="8412480" y="356616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adamya-kumar-portfolio.vercel.app/workshop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0"/>
          <p:cNvSpPr txBox="1"/>
          <p:nvPr/>
        </p:nvSpPr>
        <p:spPr>
          <a:xfrm>
            <a:off x="822960" y="59436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Thank you — now go build something.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damyaWorkshop">
  <a:themeElements>
    <a:clrScheme name="AdamyaWorkshop">
      <a:dk1>
        <a:srgbClr val="0B1220"/>
      </a:dk1>
      <a:lt1>
        <a:srgbClr val="FFFFFF"/>
      </a:lt1>
      <a:dk2>
        <a:srgbClr val="1E2761"/>
      </a:dk2>
      <a:lt2>
        <a:srgbClr val="EEF2FF"/>
      </a:lt2>
      <a:accent1>
        <a:srgbClr val="7C3AED"/>
      </a:accent1>
      <a:accent2>
        <a:srgbClr val="22D3EE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2D3EE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damyaWorkshop">
  <a:themeElements>
    <a:clrScheme name="AdamyaWorkshop">
      <a:dk1>
        <a:srgbClr val="0B1220"/>
      </a:dk1>
      <a:lt1>
        <a:srgbClr val="FFFFFF"/>
      </a:lt1>
      <a:dk2>
        <a:srgbClr val="1E2761"/>
      </a:dk2>
      <a:lt2>
        <a:srgbClr val="EEF2FF"/>
      </a:lt2>
      <a:accent1>
        <a:srgbClr val="7C3AED"/>
      </a:accent1>
      <a:accent2>
        <a:srgbClr val="22D3EE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2D3EE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