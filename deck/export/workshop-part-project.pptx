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part that separates you from a pile of tutorial clones. One project, finished, deployed, explained.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who already has a deployed project. Usually very few hands.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Tutorials are for learning. They are not proof. Interviewers can tell in two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Profly AI story: an exam-practice tool built because the problem was real, then grown by real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club or a local shop makes the best first client too, which sets up Part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in Later goes into the README as a roadmap. It shows judgement.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Draw the arrows on the board: browser to API to database and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spend a week choosing. Use what you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deadline is the feature. Without it, projects drift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leaked API key on a public repo can cost real money. Show the .gitignore and .env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Tools and free tiers change fast: check each vendor's page before the session. Gemini CLI's individual free access reportedly ended in June 2026, so I do not recommend relying on it. Start with whichever one you can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habits come from vendor docs and community guides. The graphify numbers are the author's claims and I could not verify them. Say that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Rule: if you cannot explain a line in the interview, you should not ship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Even three simple tests on the core feature set you apart.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Render's free web services spin down when idle, so the first request is slow. Warn students before 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Always set a billing alert and delete test resources. A card is usually required to sign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a friend to follow your README cold. Where they get stuck is where it breaks.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Tell the story of what went wrong too: scope creep, a bad deploy, a bug found by a user. Add a second real example from your own work if you have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one-line pitch goes straight onto the resume and LinkedIn.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 through the list with one person's project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the part. Point to the next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Dark">
  <p:cSld name="TitleDark">
    <p:bg>
      <p:bgPr>
        <a:solidFill>
          <a:srgbClr val="0B122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22960" y="2331720"/>
            <a:ext cx="10515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mbria"/>
              <a:buNone/>
              <a:defRPr b="1" i="0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Light">
  <p:cSld name="ContentLight">
    <p:bg>
      <p:bgPr>
        <a:solidFill>
          <a:srgbClr val="FFFFFF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  <a:defRPr b="1" i="0" sz="3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Breaking Into Tech, 2026 — Adamya Kumar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Dark">
  <p:cSld name="SectionDark">
    <p:bg>
      <p:bgPr>
        <a:solidFill>
          <a:srgbClr val="0B122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822960" y="283464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mbria"/>
              <a:buNone/>
              <a:defRPr b="1" i="0" sz="3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Dark">
  <p:cSld name="ClosingDark">
    <p:bg>
      <p:bgPr>
        <a:solidFill>
          <a:srgbClr val="0B1220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mbria"/>
              <a:buNone/>
              <a:defRPr b="1" i="0" sz="32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148840"/>
            <a:ext cx="10607040" cy="1554480"/>
          </a:xfrm>
        </p:spPr>
        <p:txBody>
          <a:bodyPr/>
          <a:lstStyle/>
          <a:p>
            <a:r>
              <a:rPr b="1" sz="4600">
                <a:solidFill>
                  <a:srgbClr val="FFFFFF"/>
                </a:solidFill>
                <a:latin typeface="Cambria"/>
              </a:rPr>
              <a:t>Build one real project</a:t>
            </a:r>
          </a:p>
        </p:txBody>
      </p:sp>
      <p:sp>
        <p:nvSpPr>
          <p:cNvPr id="3" name="Decor purple"/>
          <p:cNvSpPr/>
          <p:nvPr/>
        </p:nvSpPr>
        <p:spPr>
          <a:xfrm>
            <a:off x="9966960" y="-2286000"/>
            <a:ext cx="4754880" cy="47548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Decor cyan"/>
          <p:cNvSpPr/>
          <p:nvPr/>
        </p:nvSpPr>
        <p:spPr>
          <a:xfrm>
            <a:off x="-2377440" y="5120640"/>
            <a:ext cx="4572000" cy="4572000"/>
          </a:xfrm>
          <a:prstGeom prst="ellipse">
            <a:avLst/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Eyebrow"/>
          <p:cNvSpPr txBox="1"/>
          <p:nvPr/>
        </p:nvSpPr>
        <p:spPr>
          <a:xfrm>
            <a:off x="822960" y="16002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PART 3 OF 4 · BUILD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822960" y="384048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Calibri"/>
              </a:rPr>
              <a:t>Pick it, scope it, ship it in three weekends, and put a live link on your resume.</a:t>
            </a:r>
          </a:p>
        </p:txBody>
      </p:sp>
      <p:sp>
        <p:nvSpPr>
          <p:cNvPr id="7" name="rocket_w circle"/>
          <p:cNvSpPr/>
          <p:nvPr/>
        </p:nvSpPr>
        <p:spPr>
          <a:xfrm>
            <a:off x="822960" y="5074920"/>
            <a:ext cx="566928" cy="566928"/>
          </a:xfrm>
          <a:prstGeom prst="ellipse">
            <a:avLst/>
          </a:prstGeom>
          <a:solidFill>
            <a:srgbClr val="1622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icon:rocket_w" descr="df14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30" y="5227990"/>
            <a:ext cx="260786" cy="260786"/>
          </a:xfrm>
          <a:prstGeom prst="rect">
            <a:avLst/>
          </a:prstGeom>
        </p:spPr>
      </p:pic>
      <p:sp>
        <p:nvSpPr>
          <p:cNvPr id="9" name="Presenter"/>
          <p:cNvSpPr txBox="1"/>
          <p:nvPr/>
        </p:nvSpPr>
        <p:spPr>
          <a:xfrm>
            <a:off x="1554480" y="507492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Adamya Kumar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Breaking Into Tech in 2026 · Part 3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What you will leave with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One finished project beats five half-built ones.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ard 1"/>
          <p:cNvSpPr/>
          <p:nvPr/>
        </p:nvSpPr>
        <p:spPr>
          <a:xfrm>
            <a:off x="548640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target circle"/>
          <p:cNvSpPr/>
          <p:nvPr/>
        </p:nvSpPr>
        <p:spPr>
          <a:xfrm>
            <a:off x="822959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9" name="icon:target" descr="d8fc09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1" y="2138781"/>
            <a:ext cx="294436" cy="294436"/>
          </a:xfrm>
          <a:prstGeom prst="rect">
            <a:avLst/>
          </a:prstGeom>
        </p:spPr>
      </p:pic>
      <p:sp>
        <p:nvSpPr>
          <p:cNvPr id="130" name="Card 1 head"/>
          <p:cNvSpPr txBox="1"/>
          <p:nvPr/>
        </p:nvSpPr>
        <p:spPr>
          <a:xfrm>
            <a:off x="82295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A project you chose</a:t>
            </a:r>
          </a:p>
        </p:txBody>
      </p:sp>
      <p:sp>
        <p:nvSpPr>
          <p:cNvPr id="131" name="Card 1 body"/>
          <p:cNvSpPr txBox="1"/>
          <p:nvPr/>
        </p:nvSpPr>
        <p:spPr>
          <a:xfrm>
            <a:off x="82295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Small enough to finish, real enough to matter.</a:t>
            </a:r>
          </a:p>
        </p:txBody>
      </p:sp>
      <p:sp>
        <p:nvSpPr>
          <p:cNvPr id="132" name="Card 2"/>
          <p:cNvSpPr/>
          <p:nvPr/>
        </p:nvSpPr>
        <p:spPr>
          <a:xfrm>
            <a:off x="4328159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3" name="rocket circle"/>
          <p:cNvSpPr/>
          <p:nvPr/>
        </p:nvSpPr>
        <p:spPr>
          <a:xfrm>
            <a:off x="4602479" y="1965960"/>
            <a:ext cx="640080" cy="640080"/>
          </a:xfrm>
          <a:prstGeom prst="ellipse">
            <a:avLst/>
          </a:prstGeom>
          <a:solidFill>
            <a:srgbClr val="2A37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4" name="icon:rocket" descr="3bdf0d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301" y="2138781"/>
            <a:ext cx="294436" cy="294436"/>
          </a:xfrm>
          <a:prstGeom prst="rect">
            <a:avLst/>
          </a:prstGeom>
        </p:spPr>
      </p:pic>
      <p:sp>
        <p:nvSpPr>
          <p:cNvPr id="135" name="Card 2 head"/>
          <p:cNvSpPr txBox="1"/>
          <p:nvPr/>
        </p:nvSpPr>
        <p:spPr>
          <a:xfrm>
            <a:off x="460247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A live link</a:t>
            </a:r>
          </a:p>
        </p:txBody>
      </p:sp>
      <p:sp>
        <p:nvSpPr>
          <p:cNvPr id="136" name="Card 2 body"/>
          <p:cNvSpPr txBox="1"/>
          <p:nvPr/>
        </p:nvSpPr>
        <p:spPr>
          <a:xfrm>
            <a:off x="460247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Deployed so anyone can open it from a phone.</a:t>
            </a:r>
          </a:p>
        </p:txBody>
      </p:sp>
      <p:sp>
        <p:nvSpPr>
          <p:cNvPr id="137" name="Card 3"/>
          <p:cNvSpPr/>
          <p:nvPr/>
        </p:nvSpPr>
        <p:spPr>
          <a:xfrm>
            <a:off x="8107679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8" name="doc circle"/>
          <p:cNvSpPr/>
          <p:nvPr/>
        </p:nvSpPr>
        <p:spPr>
          <a:xfrm>
            <a:off x="8381999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9" name="icon:doc" descr="94ed00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4821" y="2138781"/>
            <a:ext cx="294436" cy="294436"/>
          </a:xfrm>
          <a:prstGeom prst="rect">
            <a:avLst/>
          </a:prstGeom>
        </p:spPr>
      </p:pic>
      <p:sp>
        <p:nvSpPr>
          <p:cNvPr id="140" name="Card 3 head"/>
          <p:cNvSpPr txBox="1"/>
          <p:nvPr/>
        </p:nvSpPr>
        <p:spPr>
          <a:xfrm>
            <a:off x="838199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A story to tell</a:t>
            </a:r>
          </a:p>
        </p:txBody>
      </p:sp>
      <p:sp>
        <p:nvSpPr>
          <p:cNvPr id="141" name="Card 3 body"/>
          <p:cNvSpPr txBox="1"/>
          <p:nvPr/>
        </p:nvSpPr>
        <p:spPr>
          <a:xfrm>
            <a:off x="838199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A README and a two-minute demo you can give in an interview.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Tutorial project vs your own project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Weak panel"/>
          <p:cNvSpPr/>
          <p:nvPr/>
        </p:nvSpPr>
        <p:spPr>
          <a:xfrm>
            <a:off x="548640" y="1691640"/>
            <a:ext cx="5349240" cy="448056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Strong panel"/>
          <p:cNvSpPr/>
          <p:nvPr/>
        </p:nvSpPr>
        <p:spPr>
          <a:xfrm>
            <a:off x="6309360" y="1691640"/>
            <a:ext cx="5349240" cy="448056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9" name="Weak chip"/>
          <p:cNvSpPr/>
          <p:nvPr/>
        </p:nvSpPr>
        <p:spPr>
          <a:xfrm>
            <a:off x="822960" y="19202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TUTORIAL CLONE</a:t>
            </a:r>
          </a:p>
        </p:txBody>
      </p:sp>
      <p:sp>
        <p:nvSpPr>
          <p:cNvPr id="130" name="Strong chip"/>
          <p:cNvSpPr/>
          <p:nvPr/>
        </p:nvSpPr>
        <p:spPr>
          <a:xfrm>
            <a:off x="6583680" y="19202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YOUR OWN</a:t>
            </a:r>
          </a:p>
        </p:txBody>
      </p:sp>
      <p:sp>
        <p:nvSpPr>
          <p:cNvPr id="131" name="Arrow"/>
          <p:cNvSpPr/>
          <p:nvPr/>
        </p:nvSpPr>
        <p:spPr>
          <a:xfrm rot="5400000">
            <a:off x="5943600" y="3794760"/>
            <a:ext cx="274320" cy="274320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Weak 1"/>
          <p:cNvSpPr txBox="1"/>
          <p:nvPr/>
        </p:nvSpPr>
        <p:spPr>
          <a:xfrm>
            <a:off x="822960" y="2423160"/>
            <a:ext cx="484632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Todo app that everyone has built</a:t>
            </a:r>
          </a:p>
        </p:txBody>
      </p:sp>
      <p:sp>
        <p:nvSpPr>
          <p:cNvPr id="133" name="Strong 1"/>
          <p:cNvSpPr txBox="1"/>
          <p:nvPr/>
        </p:nvSpPr>
        <p:spPr>
          <a:xfrm>
            <a:off x="6583680" y="2423160"/>
            <a:ext cx="484632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 tool for a problem you or friends really have</a:t>
            </a:r>
          </a:p>
        </p:txBody>
      </p:sp>
      <p:sp>
        <p:nvSpPr>
          <p:cNvPr id="134" name="Weak 2"/>
          <p:cNvSpPr txBox="1"/>
          <p:nvPr/>
        </p:nvSpPr>
        <p:spPr>
          <a:xfrm>
            <a:off x="822960" y="3326130"/>
            <a:ext cx="484632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Follows the video line by line</a:t>
            </a:r>
          </a:p>
        </p:txBody>
      </p:sp>
      <p:sp>
        <p:nvSpPr>
          <p:cNvPr id="135" name="Strong 2"/>
          <p:cNvSpPr txBox="1"/>
          <p:nvPr/>
        </p:nvSpPr>
        <p:spPr>
          <a:xfrm>
            <a:off x="6583680" y="3326130"/>
            <a:ext cx="484632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You made the design decisions and can defend them</a:t>
            </a:r>
          </a:p>
        </p:txBody>
      </p:sp>
      <p:sp>
        <p:nvSpPr>
          <p:cNvPr id="136" name="Weak 3"/>
          <p:cNvSpPr txBox="1"/>
          <p:nvPr/>
        </p:nvSpPr>
        <p:spPr>
          <a:xfrm>
            <a:off x="822960" y="4229100"/>
            <a:ext cx="484632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Runs only on your laptop</a:t>
            </a:r>
          </a:p>
        </p:txBody>
      </p:sp>
      <p:sp>
        <p:nvSpPr>
          <p:cNvPr id="137" name="Strong 3"/>
          <p:cNvSpPr txBox="1"/>
          <p:nvPr/>
        </p:nvSpPr>
        <p:spPr>
          <a:xfrm>
            <a:off x="6583680" y="4229100"/>
            <a:ext cx="484632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Deployed with a link on your resume</a:t>
            </a:r>
          </a:p>
        </p:txBody>
      </p:sp>
      <p:sp>
        <p:nvSpPr>
          <p:cNvPr id="138" name="Weak 4"/>
          <p:cNvSpPr txBox="1"/>
          <p:nvPr/>
        </p:nvSpPr>
        <p:spPr>
          <a:xfrm>
            <a:off x="822960" y="5132070"/>
            <a:ext cx="484632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No users, no feedback</a:t>
            </a:r>
          </a:p>
        </p:txBody>
      </p:sp>
      <p:sp>
        <p:nvSpPr>
          <p:cNvPr id="139" name="Strong 4"/>
          <p:cNvSpPr txBox="1"/>
          <p:nvPr/>
        </p:nvSpPr>
        <p:spPr>
          <a:xfrm>
            <a:off x="6583680" y="5132070"/>
            <a:ext cx="484632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Used by even five real people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How to pick a project you will finish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Path line"/>
          <p:cNvSpPr/>
          <p:nvPr/>
        </p:nvSpPr>
        <p:spPr>
          <a:xfrm>
            <a:off x="1028700" y="2372868"/>
            <a:ext cx="8332470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Arrow 1"/>
          <p:cNvSpPr/>
          <p:nvPr/>
        </p:nvSpPr>
        <p:spPr>
          <a:xfrm rot="5400000">
            <a:off x="2177415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bulb circle"/>
          <p:cNvSpPr/>
          <p:nvPr/>
        </p:nvSpPr>
        <p:spPr>
          <a:xfrm>
            <a:off x="54864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0" name="icon:bulb" descr="54383f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" y="2179472"/>
            <a:ext cx="441655" cy="441655"/>
          </a:xfrm>
          <a:prstGeom prst="rect">
            <a:avLst/>
          </a:prstGeom>
        </p:spPr>
      </p:pic>
      <p:sp>
        <p:nvSpPr>
          <p:cNvPr id="131" name="Step 1"/>
          <p:cNvSpPr/>
          <p:nvPr/>
        </p:nvSpPr>
        <p:spPr>
          <a:xfrm>
            <a:off x="125272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1</a:t>
            </a:r>
          </a:p>
        </p:txBody>
      </p:sp>
      <p:sp>
        <p:nvSpPr>
          <p:cNvPr id="132" name="Step 1 head"/>
          <p:cNvSpPr txBox="1"/>
          <p:nvPr/>
        </p:nvSpPr>
        <p:spPr>
          <a:xfrm>
            <a:off x="54864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Find a pain</a:t>
            </a:r>
          </a:p>
        </p:txBody>
      </p:sp>
      <p:sp>
        <p:nvSpPr>
          <p:cNvPr id="133" name="Step 1 body"/>
          <p:cNvSpPr txBox="1"/>
          <p:nvPr/>
        </p:nvSpPr>
        <p:spPr>
          <a:xfrm>
            <a:off x="54864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Something annoying in your hostel, club or family business.</a:t>
            </a:r>
          </a:p>
        </p:txBody>
      </p:sp>
      <p:sp>
        <p:nvSpPr>
          <p:cNvPr id="134" name="Arrow 2"/>
          <p:cNvSpPr/>
          <p:nvPr/>
        </p:nvSpPr>
        <p:spPr>
          <a:xfrm rot="5400000">
            <a:off x="4954905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arget circle"/>
          <p:cNvSpPr/>
          <p:nvPr/>
        </p:nvSpPr>
        <p:spPr>
          <a:xfrm>
            <a:off x="332613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6" name="icon:target" descr="d8fc09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362" y="2179472"/>
            <a:ext cx="441655" cy="441655"/>
          </a:xfrm>
          <a:prstGeom prst="rect">
            <a:avLst/>
          </a:prstGeom>
        </p:spPr>
      </p:pic>
      <p:sp>
        <p:nvSpPr>
          <p:cNvPr id="137" name="Step 2"/>
          <p:cNvSpPr/>
          <p:nvPr/>
        </p:nvSpPr>
        <p:spPr>
          <a:xfrm>
            <a:off x="403021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2</a:t>
            </a:r>
          </a:p>
        </p:txBody>
      </p:sp>
      <p:sp>
        <p:nvSpPr>
          <p:cNvPr id="138" name="Step 2 head"/>
          <p:cNvSpPr txBox="1"/>
          <p:nvPr/>
        </p:nvSpPr>
        <p:spPr>
          <a:xfrm>
            <a:off x="332613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Cut it small</a:t>
            </a:r>
          </a:p>
        </p:txBody>
      </p:sp>
      <p:sp>
        <p:nvSpPr>
          <p:cNvPr id="139" name="Step 2 body"/>
          <p:cNvSpPr txBox="1"/>
          <p:nvPr/>
        </p:nvSpPr>
        <p:spPr>
          <a:xfrm>
            <a:off x="332613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The smallest version that is still useful.</a:t>
            </a:r>
          </a:p>
        </p:txBody>
      </p:sp>
      <p:sp>
        <p:nvSpPr>
          <p:cNvPr id="140" name="Arrow 3"/>
          <p:cNvSpPr/>
          <p:nvPr/>
        </p:nvSpPr>
        <p:spPr>
          <a:xfrm rot="5400000">
            <a:off x="7732394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people circle"/>
          <p:cNvSpPr/>
          <p:nvPr/>
        </p:nvSpPr>
        <p:spPr>
          <a:xfrm>
            <a:off x="610362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2" name="icon:people" descr="65bca2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852" y="2179472"/>
            <a:ext cx="441655" cy="441655"/>
          </a:xfrm>
          <a:prstGeom prst="rect">
            <a:avLst/>
          </a:prstGeom>
        </p:spPr>
      </p:pic>
      <p:sp>
        <p:nvSpPr>
          <p:cNvPr id="143" name="Step 3"/>
          <p:cNvSpPr/>
          <p:nvPr/>
        </p:nvSpPr>
        <p:spPr>
          <a:xfrm>
            <a:off x="6807707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3</a:t>
            </a:r>
          </a:p>
        </p:txBody>
      </p:sp>
      <p:sp>
        <p:nvSpPr>
          <p:cNvPr id="144" name="Step 3 head"/>
          <p:cNvSpPr txBox="1"/>
          <p:nvPr/>
        </p:nvSpPr>
        <p:spPr>
          <a:xfrm>
            <a:off x="610362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Name a user</a:t>
            </a:r>
          </a:p>
        </p:txBody>
      </p:sp>
      <p:sp>
        <p:nvSpPr>
          <p:cNvPr id="145" name="Step 3 body"/>
          <p:cNvSpPr txBox="1"/>
          <p:nvPr/>
        </p:nvSpPr>
        <p:spPr>
          <a:xfrm>
            <a:off x="610362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One real person who would try it.</a:t>
            </a:r>
          </a:p>
        </p:txBody>
      </p:sp>
      <p:sp>
        <p:nvSpPr>
          <p:cNvPr id="146" name="rocket circle"/>
          <p:cNvSpPr/>
          <p:nvPr/>
        </p:nvSpPr>
        <p:spPr>
          <a:xfrm>
            <a:off x="888111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7" name="icon:rocket" descr="3bdf0d7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0342" y="2179472"/>
            <a:ext cx="441655" cy="441655"/>
          </a:xfrm>
          <a:prstGeom prst="rect">
            <a:avLst/>
          </a:prstGeom>
        </p:spPr>
      </p:pic>
      <p:sp>
        <p:nvSpPr>
          <p:cNvPr id="148" name="Step 4"/>
          <p:cNvSpPr/>
          <p:nvPr/>
        </p:nvSpPr>
        <p:spPr>
          <a:xfrm>
            <a:off x="958519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4</a:t>
            </a:r>
          </a:p>
        </p:txBody>
      </p:sp>
      <p:sp>
        <p:nvSpPr>
          <p:cNvPr id="149" name="Step 4 head"/>
          <p:cNvSpPr txBox="1"/>
          <p:nvPr/>
        </p:nvSpPr>
        <p:spPr>
          <a:xfrm>
            <a:off x="888111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Set a date</a:t>
            </a:r>
          </a:p>
        </p:txBody>
      </p:sp>
      <p:sp>
        <p:nvSpPr>
          <p:cNvPr id="150" name="Step 4 body"/>
          <p:cNvSpPr txBox="1"/>
          <p:nvPr/>
        </p:nvSpPr>
        <p:spPr>
          <a:xfrm>
            <a:off x="888111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Three weekends, then ship.</a:t>
            </a:r>
          </a:p>
        </p:txBody>
      </p:sp>
      <p:sp>
        <p:nvSpPr>
          <p:cNvPr id="151" name="Callout band"/>
          <p:cNvSpPr/>
          <p:nvPr/>
        </p:nvSpPr>
        <p:spPr>
          <a:xfrm>
            <a:off x="548640" y="5486400"/>
            <a:ext cx="11109960" cy="68580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2" name="Callout tag"/>
          <p:cNvSpPr/>
          <p:nvPr/>
        </p:nvSpPr>
        <p:spPr>
          <a:xfrm>
            <a:off x="822960" y="5669280"/>
            <a:ext cx="1234440" cy="3200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1220"/>
                </a:solidFill>
                <a:latin typeface="Calibri"/>
              </a:rPr>
              <a:t>TEST</a:t>
            </a:r>
          </a:p>
        </p:txBody>
      </p:sp>
      <p:sp>
        <p:nvSpPr>
          <p:cNvPr id="153" name="Callout"/>
          <p:cNvSpPr txBox="1"/>
          <p:nvPr/>
        </p:nvSpPr>
        <p:spPr>
          <a:xfrm>
            <a:off x="2286000" y="5532120"/>
            <a:ext cx="9144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0B1220"/>
                </a:solidFill>
                <a:latin typeface="Calibri"/>
              </a:rPr>
              <a:t>If you cannot explain it in one sentence, it is too big.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Ideas by interest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Pick a column, then shrink the idea.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ard 1"/>
          <p:cNvSpPr/>
          <p:nvPr/>
        </p:nvSpPr>
        <p:spPr>
          <a:xfrm>
            <a:off x="548640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chat circle"/>
          <p:cNvSpPr/>
          <p:nvPr/>
        </p:nvSpPr>
        <p:spPr>
          <a:xfrm>
            <a:off x="822959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9" name="icon:chat" descr="4036ec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1" y="2138781"/>
            <a:ext cx="294436" cy="294436"/>
          </a:xfrm>
          <a:prstGeom prst="rect">
            <a:avLst/>
          </a:prstGeom>
        </p:spPr>
      </p:pic>
      <p:sp>
        <p:nvSpPr>
          <p:cNvPr id="130" name="Card 1 head"/>
          <p:cNvSpPr txBox="1"/>
          <p:nvPr/>
        </p:nvSpPr>
        <p:spPr>
          <a:xfrm>
            <a:off x="82295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Chat and AI</a:t>
            </a:r>
          </a:p>
        </p:txBody>
      </p:sp>
      <p:sp>
        <p:nvSpPr>
          <p:cNvPr id="131" name="Card 1 body"/>
          <p:cNvSpPr txBox="1"/>
          <p:nvPr/>
        </p:nvSpPr>
        <p:spPr>
          <a:xfrm>
            <a:off x="82295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A study bot over your own notes, a resume reviewer, an FAQ bot for a club.</a:t>
            </a:r>
          </a:p>
        </p:txBody>
      </p:sp>
      <p:sp>
        <p:nvSpPr>
          <p:cNvPr id="132" name="Card 2"/>
          <p:cNvSpPr/>
          <p:nvPr/>
        </p:nvSpPr>
        <p:spPr>
          <a:xfrm>
            <a:off x="4328159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3" name="mobile circle"/>
          <p:cNvSpPr/>
          <p:nvPr/>
        </p:nvSpPr>
        <p:spPr>
          <a:xfrm>
            <a:off x="4602479" y="1965960"/>
            <a:ext cx="640080" cy="640080"/>
          </a:xfrm>
          <a:prstGeom prst="ellipse">
            <a:avLst/>
          </a:prstGeom>
          <a:solidFill>
            <a:srgbClr val="2A37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4" name="icon:mobile" descr="e467b6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301" y="2138781"/>
            <a:ext cx="294436" cy="294436"/>
          </a:xfrm>
          <a:prstGeom prst="rect">
            <a:avLst/>
          </a:prstGeom>
        </p:spPr>
      </p:pic>
      <p:sp>
        <p:nvSpPr>
          <p:cNvPr id="135" name="Card 2 head"/>
          <p:cNvSpPr txBox="1"/>
          <p:nvPr/>
        </p:nvSpPr>
        <p:spPr>
          <a:xfrm>
            <a:off x="460247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Apps and tools</a:t>
            </a:r>
          </a:p>
        </p:txBody>
      </p:sp>
      <p:sp>
        <p:nvSpPr>
          <p:cNvPr id="136" name="Card 2 body"/>
          <p:cNvSpPr txBox="1"/>
          <p:nvPr/>
        </p:nvSpPr>
        <p:spPr>
          <a:xfrm>
            <a:off x="460247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Expense splitter, mess menu tracker, timetable reminder.</a:t>
            </a:r>
          </a:p>
        </p:txBody>
      </p:sp>
      <p:sp>
        <p:nvSpPr>
          <p:cNvPr id="137" name="Card 3"/>
          <p:cNvSpPr/>
          <p:nvPr/>
        </p:nvSpPr>
        <p:spPr>
          <a:xfrm>
            <a:off x="8107679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8" name="chart circle"/>
          <p:cNvSpPr/>
          <p:nvPr/>
        </p:nvSpPr>
        <p:spPr>
          <a:xfrm>
            <a:off x="8381999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9" name="icon:chart" descr="cf5e67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4821" y="2138781"/>
            <a:ext cx="294436" cy="294436"/>
          </a:xfrm>
          <a:prstGeom prst="rect">
            <a:avLst/>
          </a:prstGeom>
        </p:spPr>
      </p:pic>
      <p:sp>
        <p:nvSpPr>
          <p:cNvPr id="140" name="Card 3 head"/>
          <p:cNvSpPr txBox="1"/>
          <p:nvPr/>
        </p:nvSpPr>
        <p:spPr>
          <a:xfrm>
            <a:off x="838199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Data</a:t>
            </a:r>
          </a:p>
        </p:txBody>
      </p:sp>
      <p:sp>
        <p:nvSpPr>
          <p:cNvPr id="141" name="Card 3 body"/>
          <p:cNvSpPr txBox="1"/>
          <p:nvPr/>
        </p:nvSpPr>
        <p:spPr>
          <a:xfrm>
            <a:off x="838199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Dashboard of campus placement data, price tracker, cricket stats.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Scope it: must, should, later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Header row"/>
          <p:cNvSpPr/>
          <p:nvPr/>
        </p:nvSpPr>
        <p:spPr>
          <a:xfrm>
            <a:off x="548640" y="1691640"/>
            <a:ext cx="1110996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Head 1"/>
          <p:cNvSpPr txBox="1"/>
          <p:nvPr/>
        </p:nvSpPr>
        <p:spPr>
          <a:xfrm>
            <a:off x="685800" y="16916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Bucket</a:t>
            </a:r>
          </a:p>
        </p:txBody>
      </p:sp>
      <p:sp>
        <p:nvSpPr>
          <p:cNvPr id="129" name="Head 2"/>
          <p:cNvSpPr txBox="1"/>
          <p:nvPr/>
        </p:nvSpPr>
        <p:spPr>
          <a:xfrm>
            <a:off x="2880360" y="169164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What goes here</a:t>
            </a:r>
          </a:p>
        </p:txBody>
      </p:sp>
      <p:sp>
        <p:nvSpPr>
          <p:cNvPr id="130" name="Head 3"/>
          <p:cNvSpPr txBox="1"/>
          <p:nvPr/>
        </p:nvSpPr>
        <p:spPr>
          <a:xfrm>
            <a:off x="7086600" y="1691640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Example: study bot</a:t>
            </a:r>
          </a:p>
        </p:txBody>
      </p:sp>
      <p:sp>
        <p:nvSpPr>
          <p:cNvPr id="131" name="Row 1"/>
          <p:cNvSpPr/>
          <p:nvPr/>
        </p:nvSpPr>
        <p:spPr>
          <a:xfrm>
            <a:off x="548640" y="2194560"/>
            <a:ext cx="11109960" cy="77724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Cell 1.1"/>
          <p:cNvSpPr txBox="1"/>
          <p:nvPr/>
        </p:nvSpPr>
        <p:spPr>
          <a:xfrm>
            <a:off x="685800" y="219456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Must</a:t>
            </a:r>
          </a:p>
        </p:txBody>
      </p:sp>
      <p:sp>
        <p:nvSpPr>
          <p:cNvPr id="133" name="Cell 1.2"/>
          <p:cNvSpPr txBox="1"/>
          <p:nvPr/>
        </p:nvSpPr>
        <p:spPr>
          <a:xfrm>
            <a:off x="2880360" y="2194560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Without it, the project is useless</a:t>
            </a:r>
          </a:p>
        </p:txBody>
      </p:sp>
      <p:sp>
        <p:nvSpPr>
          <p:cNvPr id="134" name="Cell 1.3"/>
          <p:cNvSpPr txBox="1"/>
          <p:nvPr/>
        </p:nvSpPr>
        <p:spPr>
          <a:xfrm>
            <a:off x="7086600" y="2194560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Upload notes, ask a question, get an answer</a:t>
            </a:r>
          </a:p>
        </p:txBody>
      </p:sp>
      <p:sp>
        <p:nvSpPr>
          <p:cNvPr id="135" name="Row 2"/>
          <p:cNvSpPr/>
          <p:nvPr/>
        </p:nvSpPr>
        <p:spPr>
          <a:xfrm>
            <a:off x="548640" y="2971800"/>
            <a:ext cx="111099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Cell 2.1"/>
          <p:cNvSpPr txBox="1"/>
          <p:nvPr/>
        </p:nvSpPr>
        <p:spPr>
          <a:xfrm>
            <a:off x="685800" y="297180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Should</a:t>
            </a:r>
          </a:p>
        </p:txBody>
      </p:sp>
      <p:sp>
        <p:nvSpPr>
          <p:cNvPr id="137" name="Cell 2.2"/>
          <p:cNvSpPr txBox="1"/>
          <p:nvPr/>
        </p:nvSpPr>
        <p:spPr>
          <a:xfrm>
            <a:off x="2880360" y="2971800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Makes it pleasant, add if time allows</a:t>
            </a:r>
          </a:p>
        </p:txBody>
      </p:sp>
      <p:sp>
        <p:nvSpPr>
          <p:cNvPr id="138" name="Cell 2.3"/>
          <p:cNvSpPr txBox="1"/>
          <p:nvPr/>
        </p:nvSpPr>
        <p:spPr>
          <a:xfrm>
            <a:off x="7086600" y="2971800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Show which note the answer came from</a:t>
            </a:r>
          </a:p>
        </p:txBody>
      </p:sp>
      <p:sp>
        <p:nvSpPr>
          <p:cNvPr id="139" name="Row 3"/>
          <p:cNvSpPr/>
          <p:nvPr/>
        </p:nvSpPr>
        <p:spPr>
          <a:xfrm>
            <a:off x="548640" y="3749040"/>
            <a:ext cx="11109960" cy="77724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Cell 3.1"/>
          <p:cNvSpPr txBox="1"/>
          <p:nvPr/>
        </p:nvSpPr>
        <p:spPr>
          <a:xfrm>
            <a:off x="685800" y="374904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Later</a:t>
            </a:r>
          </a:p>
        </p:txBody>
      </p:sp>
      <p:sp>
        <p:nvSpPr>
          <p:cNvPr id="141" name="Cell 3.2"/>
          <p:cNvSpPr txBox="1"/>
          <p:nvPr/>
        </p:nvSpPr>
        <p:spPr>
          <a:xfrm>
            <a:off x="2880360" y="3749040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Good idea, not this month</a:t>
            </a:r>
          </a:p>
        </p:txBody>
      </p:sp>
      <p:sp>
        <p:nvSpPr>
          <p:cNvPr id="142" name="Cell 3.3"/>
          <p:cNvSpPr txBox="1"/>
          <p:nvPr/>
        </p:nvSpPr>
        <p:spPr>
          <a:xfrm>
            <a:off x="7086600" y="3749040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Login, payments, mobile 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Anatomy of a small web app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Know the five parts and what each one does.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Row 1"/>
          <p:cNvSpPr/>
          <p:nvPr/>
        </p:nvSpPr>
        <p:spPr>
          <a:xfrm>
            <a:off x="548640" y="1691640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Row 1 number"/>
          <p:cNvSpPr/>
          <p:nvPr/>
        </p:nvSpPr>
        <p:spPr>
          <a:xfrm>
            <a:off x="777240" y="186720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9" name="Row 1 head"/>
          <p:cNvSpPr txBox="1"/>
          <p:nvPr/>
        </p:nvSpPr>
        <p:spPr>
          <a:xfrm>
            <a:off x="1508760" y="1691640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Frontend</a:t>
            </a:r>
          </a:p>
        </p:txBody>
      </p:sp>
      <p:sp>
        <p:nvSpPr>
          <p:cNvPr id="130" name="Row 1 body"/>
          <p:cNvSpPr txBox="1"/>
          <p:nvPr/>
        </p:nvSpPr>
        <p:spPr>
          <a:xfrm>
            <a:off x="4663440" y="1691640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What the user sees and clicks. Runs in the browser.</a:t>
            </a:r>
          </a:p>
        </p:txBody>
      </p:sp>
      <p:sp>
        <p:nvSpPr>
          <p:cNvPr id="131" name="Row 2"/>
          <p:cNvSpPr/>
          <p:nvPr/>
        </p:nvSpPr>
        <p:spPr>
          <a:xfrm>
            <a:off x="548640" y="2609697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2" name="Row 2 number"/>
          <p:cNvSpPr/>
          <p:nvPr/>
        </p:nvSpPr>
        <p:spPr>
          <a:xfrm>
            <a:off x="777240" y="278526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3" name="Row 2 head"/>
          <p:cNvSpPr txBox="1"/>
          <p:nvPr/>
        </p:nvSpPr>
        <p:spPr>
          <a:xfrm>
            <a:off x="1508760" y="2609697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Backend API</a:t>
            </a:r>
          </a:p>
        </p:txBody>
      </p:sp>
      <p:sp>
        <p:nvSpPr>
          <p:cNvPr id="134" name="Row 2 body"/>
          <p:cNvSpPr txBox="1"/>
          <p:nvPr/>
        </p:nvSpPr>
        <p:spPr>
          <a:xfrm>
            <a:off x="4663440" y="2609697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Receives requests, applies rules, talks to the database.</a:t>
            </a:r>
          </a:p>
        </p:txBody>
      </p:sp>
      <p:sp>
        <p:nvSpPr>
          <p:cNvPr id="135" name="Row 3"/>
          <p:cNvSpPr/>
          <p:nvPr/>
        </p:nvSpPr>
        <p:spPr>
          <a:xfrm>
            <a:off x="548640" y="3527755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6" name="Row 3 number"/>
          <p:cNvSpPr/>
          <p:nvPr/>
        </p:nvSpPr>
        <p:spPr>
          <a:xfrm>
            <a:off x="777240" y="37033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7" name="Row 3 head"/>
          <p:cNvSpPr txBox="1"/>
          <p:nvPr/>
        </p:nvSpPr>
        <p:spPr>
          <a:xfrm>
            <a:off x="1508760" y="3527755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Database</a:t>
            </a:r>
          </a:p>
        </p:txBody>
      </p:sp>
      <p:sp>
        <p:nvSpPr>
          <p:cNvPr id="138" name="Row 3 body"/>
          <p:cNvSpPr txBox="1"/>
          <p:nvPr/>
        </p:nvSpPr>
        <p:spPr>
          <a:xfrm>
            <a:off x="4663440" y="3527755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Stores users and data so it survives a restart.</a:t>
            </a:r>
          </a:p>
        </p:txBody>
      </p:sp>
      <p:sp>
        <p:nvSpPr>
          <p:cNvPr id="139" name="Row 4"/>
          <p:cNvSpPr/>
          <p:nvPr/>
        </p:nvSpPr>
        <p:spPr>
          <a:xfrm>
            <a:off x="548640" y="4445812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0" name="Row 4 number"/>
          <p:cNvSpPr/>
          <p:nvPr/>
        </p:nvSpPr>
        <p:spPr>
          <a:xfrm>
            <a:off x="777240" y="4621377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41" name="Row 4 head"/>
          <p:cNvSpPr txBox="1"/>
          <p:nvPr/>
        </p:nvSpPr>
        <p:spPr>
          <a:xfrm>
            <a:off x="1508760" y="4445812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Auth</a:t>
            </a:r>
          </a:p>
        </p:txBody>
      </p:sp>
      <p:sp>
        <p:nvSpPr>
          <p:cNvPr id="142" name="Row 4 body"/>
          <p:cNvSpPr txBox="1"/>
          <p:nvPr/>
        </p:nvSpPr>
        <p:spPr>
          <a:xfrm>
            <a:off x="4663440" y="4445812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Knows who is signed in. Use a library or provider, do not invent it.</a:t>
            </a:r>
          </a:p>
        </p:txBody>
      </p:sp>
      <p:sp>
        <p:nvSpPr>
          <p:cNvPr id="143" name="Row 5"/>
          <p:cNvSpPr/>
          <p:nvPr/>
        </p:nvSpPr>
        <p:spPr>
          <a:xfrm>
            <a:off x="548640" y="5363870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4" name="Row 5 number"/>
          <p:cNvSpPr/>
          <p:nvPr/>
        </p:nvSpPr>
        <p:spPr>
          <a:xfrm>
            <a:off x="777240" y="553943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45" name="Row 5 head"/>
          <p:cNvSpPr txBox="1"/>
          <p:nvPr/>
        </p:nvSpPr>
        <p:spPr>
          <a:xfrm>
            <a:off x="1508760" y="5363870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Hosting</a:t>
            </a:r>
          </a:p>
        </p:txBody>
      </p:sp>
      <p:sp>
        <p:nvSpPr>
          <p:cNvPr id="146" name="Row 5 body"/>
          <p:cNvSpPr txBox="1"/>
          <p:nvPr/>
        </p:nvSpPr>
        <p:spPr>
          <a:xfrm>
            <a:off x="4663440" y="5363870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A server or platform that keeps it online.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Pick a stack you can finish with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Header row"/>
          <p:cNvSpPr/>
          <p:nvPr/>
        </p:nvSpPr>
        <p:spPr>
          <a:xfrm>
            <a:off x="548640" y="1691640"/>
            <a:ext cx="11109959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Head 1"/>
          <p:cNvSpPr txBox="1"/>
          <p:nvPr/>
        </p:nvSpPr>
        <p:spPr>
          <a:xfrm>
            <a:off x="685800" y="16916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Goal</a:t>
            </a:r>
          </a:p>
        </p:txBody>
      </p:sp>
      <p:sp>
        <p:nvSpPr>
          <p:cNvPr id="129" name="Head 2"/>
          <p:cNvSpPr txBox="1"/>
          <p:nvPr/>
        </p:nvSpPr>
        <p:spPr>
          <a:xfrm>
            <a:off x="3611880" y="169164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Good fit</a:t>
            </a:r>
          </a:p>
        </p:txBody>
      </p:sp>
      <p:sp>
        <p:nvSpPr>
          <p:cNvPr id="130" name="Head 3"/>
          <p:cNvSpPr txBox="1"/>
          <p:nvPr/>
        </p:nvSpPr>
        <p:spPr>
          <a:xfrm>
            <a:off x="7818120" y="169164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31" name="Row 1"/>
          <p:cNvSpPr/>
          <p:nvPr/>
        </p:nvSpPr>
        <p:spPr>
          <a:xfrm>
            <a:off x="548640" y="2194560"/>
            <a:ext cx="11109959" cy="77724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Cell 1.1"/>
          <p:cNvSpPr txBox="1"/>
          <p:nvPr/>
        </p:nvSpPr>
        <p:spPr>
          <a:xfrm>
            <a:off x="685800" y="219456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Web app, fast</a:t>
            </a:r>
          </a:p>
        </p:txBody>
      </p:sp>
      <p:sp>
        <p:nvSpPr>
          <p:cNvPr id="133" name="Cell 1.2"/>
          <p:cNvSpPr txBox="1"/>
          <p:nvPr/>
        </p:nvSpPr>
        <p:spPr>
          <a:xfrm>
            <a:off x="3611880" y="2194560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Next.js or React + Node.js</a:t>
            </a:r>
          </a:p>
        </p:txBody>
      </p:sp>
      <p:sp>
        <p:nvSpPr>
          <p:cNvPr id="134" name="Cell 1.3"/>
          <p:cNvSpPr txBox="1"/>
          <p:nvPr/>
        </p:nvSpPr>
        <p:spPr>
          <a:xfrm>
            <a:off x="7818120" y="2194560"/>
            <a:ext cx="3703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One language end to end</a:t>
            </a:r>
          </a:p>
        </p:txBody>
      </p:sp>
      <p:sp>
        <p:nvSpPr>
          <p:cNvPr id="135" name="Row 2"/>
          <p:cNvSpPr/>
          <p:nvPr/>
        </p:nvSpPr>
        <p:spPr>
          <a:xfrm>
            <a:off x="548640" y="2971800"/>
            <a:ext cx="11109959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Cell 2.1"/>
          <p:cNvSpPr txBox="1"/>
          <p:nvPr/>
        </p:nvSpPr>
        <p:spPr>
          <a:xfrm>
            <a:off x="685800" y="297180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API and AI work</a:t>
            </a:r>
          </a:p>
        </p:txBody>
      </p:sp>
      <p:sp>
        <p:nvSpPr>
          <p:cNvPr id="137" name="Cell 2.2"/>
          <p:cNvSpPr txBox="1"/>
          <p:nvPr/>
        </p:nvSpPr>
        <p:spPr>
          <a:xfrm>
            <a:off x="3611880" y="2971800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FastAPI (Python)</a:t>
            </a:r>
          </a:p>
        </p:txBody>
      </p:sp>
      <p:sp>
        <p:nvSpPr>
          <p:cNvPr id="138" name="Cell 2.3"/>
          <p:cNvSpPr txBox="1"/>
          <p:nvPr/>
        </p:nvSpPr>
        <p:spPr>
          <a:xfrm>
            <a:off x="7818120" y="2971800"/>
            <a:ext cx="3703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Great for models and data</a:t>
            </a:r>
          </a:p>
        </p:txBody>
      </p:sp>
      <p:sp>
        <p:nvSpPr>
          <p:cNvPr id="139" name="Row 3"/>
          <p:cNvSpPr/>
          <p:nvPr/>
        </p:nvSpPr>
        <p:spPr>
          <a:xfrm>
            <a:off x="548640" y="3749040"/>
            <a:ext cx="11109959" cy="77724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Cell 3.1"/>
          <p:cNvSpPr txBox="1"/>
          <p:nvPr/>
        </p:nvSpPr>
        <p:spPr>
          <a:xfrm>
            <a:off x="685800" y="374904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Mobile app</a:t>
            </a:r>
          </a:p>
        </p:txBody>
      </p:sp>
      <p:sp>
        <p:nvSpPr>
          <p:cNvPr id="141" name="Cell 3.2"/>
          <p:cNvSpPr txBox="1"/>
          <p:nvPr/>
        </p:nvSpPr>
        <p:spPr>
          <a:xfrm>
            <a:off x="3611880" y="3749040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Flutter</a:t>
            </a:r>
          </a:p>
        </p:txBody>
      </p:sp>
      <p:sp>
        <p:nvSpPr>
          <p:cNvPr id="142" name="Cell 3.3"/>
          <p:cNvSpPr txBox="1"/>
          <p:nvPr/>
        </p:nvSpPr>
        <p:spPr>
          <a:xfrm>
            <a:off x="7818120" y="3749040"/>
            <a:ext cx="3703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One codebase for Android and iOS</a:t>
            </a:r>
          </a:p>
        </p:txBody>
      </p:sp>
      <p:sp>
        <p:nvSpPr>
          <p:cNvPr id="143" name="Row 4"/>
          <p:cNvSpPr/>
          <p:nvPr/>
        </p:nvSpPr>
        <p:spPr>
          <a:xfrm>
            <a:off x="548640" y="4526280"/>
            <a:ext cx="11109959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Cell 4.1"/>
          <p:cNvSpPr txBox="1"/>
          <p:nvPr/>
        </p:nvSpPr>
        <p:spPr>
          <a:xfrm>
            <a:off x="685800" y="452628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Simple data</a:t>
            </a:r>
          </a:p>
        </p:txBody>
      </p:sp>
      <p:sp>
        <p:nvSpPr>
          <p:cNvPr id="145" name="Cell 4.2"/>
          <p:cNvSpPr txBox="1"/>
          <p:nvPr/>
        </p:nvSpPr>
        <p:spPr>
          <a:xfrm>
            <a:off x="3611880" y="4526280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MongoDB or PostgreSQL</a:t>
            </a:r>
          </a:p>
        </p:txBody>
      </p:sp>
      <p:sp>
        <p:nvSpPr>
          <p:cNvPr id="146" name="Cell 4.3"/>
          <p:cNvSpPr txBox="1"/>
          <p:nvPr/>
        </p:nvSpPr>
        <p:spPr>
          <a:xfrm>
            <a:off x="7818120" y="4526280"/>
            <a:ext cx="3703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Either is fine, pick one</a:t>
            </a:r>
          </a:p>
        </p:txBody>
      </p:sp>
      <p:sp>
        <p:nvSpPr>
          <p:cNvPr id="147" name="Source"/>
          <p:cNvSpPr txBox="1"/>
          <p:nvPr/>
        </p:nvSpPr>
        <p:spPr>
          <a:xfrm>
            <a:off x="640080" y="6291072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Source: The best stack is the one you already half know. Do not learn three new tools at once.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A three-weekend plan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Roughly 8 to 10 hours each weekend.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Row 1"/>
          <p:cNvSpPr/>
          <p:nvPr/>
        </p:nvSpPr>
        <p:spPr>
          <a:xfrm>
            <a:off x="548640" y="1691640"/>
            <a:ext cx="11109960" cy="1037844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Row 1 number"/>
          <p:cNvSpPr/>
          <p:nvPr/>
        </p:nvSpPr>
        <p:spPr>
          <a:xfrm>
            <a:off x="777240" y="198196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9" name="Row 1 head"/>
          <p:cNvSpPr txBox="1"/>
          <p:nvPr/>
        </p:nvSpPr>
        <p:spPr>
          <a:xfrm>
            <a:off x="1508760" y="1691640"/>
            <a:ext cx="3017520" cy="10378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Weekend 1: skeleton</a:t>
            </a:r>
          </a:p>
        </p:txBody>
      </p:sp>
      <p:sp>
        <p:nvSpPr>
          <p:cNvPr id="130" name="Row 1 body"/>
          <p:cNvSpPr txBox="1"/>
          <p:nvPr/>
        </p:nvSpPr>
        <p:spPr>
          <a:xfrm>
            <a:off x="4663440" y="1691640"/>
            <a:ext cx="6766560" cy="10378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Repo, README, one screen, one API route, one database table.</a:t>
            </a:r>
          </a:p>
        </p:txBody>
      </p:sp>
      <p:sp>
        <p:nvSpPr>
          <p:cNvPr id="131" name="Row 2"/>
          <p:cNvSpPr/>
          <p:nvPr/>
        </p:nvSpPr>
        <p:spPr>
          <a:xfrm>
            <a:off x="548640" y="2839212"/>
            <a:ext cx="11109960" cy="1037844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2" name="Row 2 number"/>
          <p:cNvSpPr/>
          <p:nvPr/>
        </p:nvSpPr>
        <p:spPr>
          <a:xfrm>
            <a:off x="777240" y="312953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3" name="Row 2 head"/>
          <p:cNvSpPr txBox="1"/>
          <p:nvPr/>
        </p:nvSpPr>
        <p:spPr>
          <a:xfrm>
            <a:off x="1508760" y="2839212"/>
            <a:ext cx="3017520" cy="10378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Weekend 2: core feature</a:t>
            </a:r>
          </a:p>
        </p:txBody>
      </p:sp>
      <p:sp>
        <p:nvSpPr>
          <p:cNvPr id="134" name="Row 2 body"/>
          <p:cNvSpPr txBox="1"/>
          <p:nvPr/>
        </p:nvSpPr>
        <p:spPr>
          <a:xfrm>
            <a:off x="4663440" y="2839212"/>
            <a:ext cx="6766560" cy="10378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Build the Must list only. Test it with a friend.</a:t>
            </a:r>
          </a:p>
        </p:txBody>
      </p:sp>
      <p:sp>
        <p:nvSpPr>
          <p:cNvPr id="135" name="Row 3"/>
          <p:cNvSpPr/>
          <p:nvPr/>
        </p:nvSpPr>
        <p:spPr>
          <a:xfrm>
            <a:off x="548640" y="3986783"/>
            <a:ext cx="11109960" cy="1037844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6" name="Row 3 number"/>
          <p:cNvSpPr/>
          <p:nvPr/>
        </p:nvSpPr>
        <p:spPr>
          <a:xfrm>
            <a:off x="777240" y="427710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7" name="Row 3 head"/>
          <p:cNvSpPr txBox="1"/>
          <p:nvPr/>
        </p:nvSpPr>
        <p:spPr>
          <a:xfrm>
            <a:off x="1508760" y="3986783"/>
            <a:ext cx="3017520" cy="10378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Weekend 3: ship</a:t>
            </a:r>
          </a:p>
        </p:txBody>
      </p:sp>
      <p:sp>
        <p:nvSpPr>
          <p:cNvPr id="138" name="Row 3 body"/>
          <p:cNvSpPr txBox="1"/>
          <p:nvPr/>
        </p:nvSpPr>
        <p:spPr>
          <a:xfrm>
            <a:off x="4663440" y="3986783"/>
            <a:ext cx="6766560" cy="10378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Fix what the friend broke, deploy, write the README, record a demo.</a:t>
            </a:r>
          </a:p>
        </p:txBody>
      </p:sp>
      <p:sp>
        <p:nvSpPr>
          <p:cNvPr id="139" name="Row 4"/>
          <p:cNvSpPr/>
          <p:nvPr/>
        </p:nvSpPr>
        <p:spPr>
          <a:xfrm>
            <a:off x="548640" y="5134356"/>
            <a:ext cx="11109960" cy="1037844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0" name="Row 4 number"/>
          <p:cNvSpPr/>
          <p:nvPr/>
        </p:nvSpPr>
        <p:spPr>
          <a:xfrm>
            <a:off x="777240" y="542467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41" name="Row 4 head"/>
          <p:cNvSpPr txBox="1"/>
          <p:nvPr/>
        </p:nvSpPr>
        <p:spPr>
          <a:xfrm>
            <a:off x="1508760" y="5134356"/>
            <a:ext cx="3017520" cy="10378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After: grow</a:t>
            </a:r>
          </a:p>
        </p:txBody>
      </p:sp>
      <p:sp>
        <p:nvSpPr>
          <p:cNvPr id="142" name="Row 4 body"/>
          <p:cNvSpPr txBox="1"/>
          <p:nvPr/>
        </p:nvSpPr>
        <p:spPr>
          <a:xfrm>
            <a:off x="4663440" y="5134356"/>
            <a:ext cx="6766560" cy="10378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Add one Should item per week, based on feedback.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Git habits employers notice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Path line"/>
          <p:cNvSpPr/>
          <p:nvPr/>
        </p:nvSpPr>
        <p:spPr>
          <a:xfrm>
            <a:off x="1028700" y="2372868"/>
            <a:ext cx="8332470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Arrow 1"/>
          <p:cNvSpPr/>
          <p:nvPr/>
        </p:nvSpPr>
        <p:spPr>
          <a:xfrm rot="5400000">
            <a:off x="2177415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code circle"/>
          <p:cNvSpPr/>
          <p:nvPr/>
        </p:nvSpPr>
        <p:spPr>
          <a:xfrm>
            <a:off x="54864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0" name="icon:code" descr="534b89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" y="2179472"/>
            <a:ext cx="441655" cy="441655"/>
          </a:xfrm>
          <a:prstGeom prst="rect">
            <a:avLst/>
          </a:prstGeom>
        </p:spPr>
      </p:pic>
      <p:sp>
        <p:nvSpPr>
          <p:cNvPr id="131" name="Step 1"/>
          <p:cNvSpPr/>
          <p:nvPr/>
        </p:nvSpPr>
        <p:spPr>
          <a:xfrm>
            <a:off x="125272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1</a:t>
            </a:r>
          </a:p>
        </p:txBody>
      </p:sp>
      <p:sp>
        <p:nvSpPr>
          <p:cNvPr id="132" name="Step 1 head"/>
          <p:cNvSpPr txBox="1"/>
          <p:nvPr/>
        </p:nvSpPr>
        <p:spPr>
          <a:xfrm>
            <a:off x="54864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Commit small</a:t>
            </a:r>
          </a:p>
        </p:txBody>
      </p:sp>
      <p:sp>
        <p:nvSpPr>
          <p:cNvPr id="133" name="Step 1 body"/>
          <p:cNvSpPr txBox="1"/>
          <p:nvPr/>
        </p:nvSpPr>
        <p:spPr>
          <a:xfrm>
            <a:off x="54864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One idea per commit, with a clear message.</a:t>
            </a:r>
          </a:p>
        </p:txBody>
      </p:sp>
      <p:sp>
        <p:nvSpPr>
          <p:cNvPr id="134" name="Arrow 2"/>
          <p:cNvSpPr/>
          <p:nvPr/>
        </p:nvSpPr>
        <p:spPr>
          <a:xfrm rot="5400000">
            <a:off x="4954905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layers circle"/>
          <p:cNvSpPr/>
          <p:nvPr/>
        </p:nvSpPr>
        <p:spPr>
          <a:xfrm>
            <a:off x="332613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6" name="icon:layers" descr="d9e5fb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362" y="2179472"/>
            <a:ext cx="441655" cy="441655"/>
          </a:xfrm>
          <a:prstGeom prst="rect">
            <a:avLst/>
          </a:prstGeom>
        </p:spPr>
      </p:pic>
      <p:sp>
        <p:nvSpPr>
          <p:cNvPr id="137" name="Step 2"/>
          <p:cNvSpPr/>
          <p:nvPr/>
        </p:nvSpPr>
        <p:spPr>
          <a:xfrm>
            <a:off x="403021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2</a:t>
            </a:r>
          </a:p>
        </p:txBody>
      </p:sp>
      <p:sp>
        <p:nvSpPr>
          <p:cNvPr id="138" name="Step 2 head"/>
          <p:cNvSpPr txBox="1"/>
          <p:nvPr/>
        </p:nvSpPr>
        <p:spPr>
          <a:xfrm>
            <a:off x="332613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Use branches</a:t>
            </a:r>
          </a:p>
        </p:txBody>
      </p:sp>
      <p:sp>
        <p:nvSpPr>
          <p:cNvPr id="139" name="Step 2 body"/>
          <p:cNvSpPr txBox="1"/>
          <p:nvPr/>
        </p:nvSpPr>
        <p:spPr>
          <a:xfrm>
            <a:off x="332613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A branch per feature, merge when it works.</a:t>
            </a:r>
          </a:p>
        </p:txBody>
      </p:sp>
      <p:sp>
        <p:nvSpPr>
          <p:cNvPr id="140" name="Arrow 3"/>
          <p:cNvSpPr/>
          <p:nvPr/>
        </p:nvSpPr>
        <p:spPr>
          <a:xfrm rot="5400000">
            <a:off x="7732394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doc circle"/>
          <p:cNvSpPr/>
          <p:nvPr/>
        </p:nvSpPr>
        <p:spPr>
          <a:xfrm>
            <a:off x="610362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2" name="icon:doc" descr="94ed00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852" y="2179472"/>
            <a:ext cx="441655" cy="441655"/>
          </a:xfrm>
          <a:prstGeom prst="rect">
            <a:avLst/>
          </a:prstGeom>
        </p:spPr>
      </p:pic>
      <p:sp>
        <p:nvSpPr>
          <p:cNvPr id="143" name="Step 3"/>
          <p:cNvSpPr/>
          <p:nvPr/>
        </p:nvSpPr>
        <p:spPr>
          <a:xfrm>
            <a:off x="6807707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3</a:t>
            </a:r>
          </a:p>
        </p:txBody>
      </p:sp>
      <p:sp>
        <p:nvSpPr>
          <p:cNvPr id="144" name="Step 3 head"/>
          <p:cNvSpPr txBox="1"/>
          <p:nvPr/>
        </p:nvSpPr>
        <p:spPr>
          <a:xfrm>
            <a:off x="610362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Write a README</a:t>
            </a:r>
          </a:p>
        </p:txBody>
      </p:sp>
      <p:sp>
        <p:nvSpPr>
          <p:cNvPr id="145" name="Step 3 body"/>
          <p:cNvSpPr txBox="1"/>
          <p:nvPr/>
        </p:nvSpPr>
        <p:spPr>
          <a:xfrm>
            <a:off x="610362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What it is, how to run it, a screenshot.</a:t>
            </a:r>
          </a:p>
        </p:txBody>
      </p:sp>
      <p:sp>
        <p:nvSpPr>
          <p:cNvPr id="146" name="check circle"/>
          <p:cNvSpPr/>
          <p:nvPr/>
        </p:nvSpPr>
        <p:spPr>
          <a:xfrm>
            <a:off x="888111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7" name="icon:check" descr="4f1c2c6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0342" y="2179472"/>
            <a:ext cx="441655" cy="441655"/>
          </a:xfrm>
          <a:prstGeom prst="rect">
            <a:avLst/>
          </a:prstGeom>
        </p:spPr>
      </p:pic>
      <p:sp>
        <p:nvSpPr>
          <p:cNvPr id="148" name="Step 4"/>
          <p:cNvSpPr/>
          <p:nvPr/>
        </p:nvSpPr>
        <p:spPr>
          <a:xfrm>
            <a:off x="958519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4</a:t>
            </a:r>
          </a:p>
        </p:txBody>
      </p:sp>
      <p:sp>
        <p:nvSpPr>
          <p:cNvPr id="149" name="Step 4 head"/>
          <p:cNvSpPr txBox="1"/>
          <p:nvPr/>
        </p:nvSpPr>
        <p:spPr>
          <a:xfrm>
            <a:off x="888111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Never commit secrets</a:t>
            </a:r>
          </a:p>
        </p:txBody>
      </p:sp>
      <p:sp>
        <p:nvSpPr>
          <p:cNvPr id="150" name="Step 4 body"/>
          <p:cNvSpPr txBox="1"/>
          <p:nvPr/>
        </p:nvSpPr>
        <p:spPr>
          <a:xfrm>
            <a:off x="888111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Keep keys in environment variables.</a:t>
            </a:r>
          </a:p>
        </p:txBody>
      </p:sp>
      <p:sp>
        <p:nvSpPr>
          <p:cNvPr id="151" name="Callout band"/>
          <p:cNvSpPr/>
          <p:nvPr/>
        </p:nvSpPr>
        <p:spPr>
          <a:xfrm>
            <a:off x="548640" y="5486400"/>
            <a:ext cx="11109960" cy="68580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2" name="Callout tag"/>
          <p:cNvSpPr/>
          <p:nvPr/>
        </p:nvSpPr>
        <p:spPr>
          <a:xfrm>
            <a:off x="822960" y="5669280"/>
            <a:ext cx="1234440" cy="3200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1220"/>
                </a:solidFill>
                <a:latin typeface="Calibri"/>
              </a:rPr>
              <a:t>TIP</a:t>
            </a:r>
          </a:p>
        </p:txBody>
      </p:sp>
      <p:sp>
        <p:nvSpPr>
          <p:cNvPr id="153" name="Callout"/>
          <p:cNvSpPr txBox="1"/>
          <p:nvPr/>
        </p:nvSpPr>
        <p:spPr>
          <a:xfrm>
            <a:off x="2286000" y="5532120"/>
            <a:ext cx="9144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0B1220"/>
                </a:solidFill>
                <a:latin typeface="Calibri"/>
              </a:rPr>
              <a:t>Your commit history is a free portfolio piece.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Pick your AI coding setup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Use one well before adding a second.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ard 1"/>
          <p:cNvSpPr/>
          <p:nvPr/>
        </p:nvSpPr>
        <p:spPr>
          <a:xfrm>
            <a:off x="548640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code circle"/>
          <p:cNvSpPr/>
          <p:nvPr/>
        </p:nvSpPr>
        <p:spPr>
          <a:xfrm>
            <a:off x="822959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9" name="icon:code" descr="534b89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1" y="2138781"/>
            <a:ext cx="294436" cy="294436"/>
          </a:xfrm>
          <a:prstGeom prst="rect">
            <a:avLst/>
          </a:prstGeom>
        </p:spPr>
      </p:pic>
      <p:sp>
        <p:nvSpPr>
          <p:cNvPr id="130" name="Card 1 head"/>
          <p:cNvSpPr txBox="1"/>
          <p:nvPr/>
        </p:nvSpPr>
        <p:spPr>
          <a:xfrm>
            <a:off x="82295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Claude Code</a:t>
            </a:r>
          </a:p>
        </p:txBody>
      </p:sp>
      <p:sp>
        <p:nvSpPr>
          <p:cNvPr id="131" name="Card 1 body"/>
          <p:cNvSpPr txBox="1"/>
          <p:nvPr/>
        </p:nvSpPr>
        <p:spPr>
          <a:xfrm>
            <a:off x="82295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Agent in your terminal that reads the repo, edits files and runs tests. Add a CLAUDE.md with your rules.</a:t>
            </a:r>
          </a:p>
        </p:txBody>
      </p:sp>
      <p:sp>
        <p:nvSpPr>
          <p:cNvPr id="132" name="Card 2"/>
          <p:cNvSpPr/>
          <p:nvPr/>
        </p:nvSpPr>
        <p:spPr>
          <a:xfrm>
            <a:off x="4328159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3" name="codefile circle"/>
          <p:cNvSpPr/>
          <p:nvPr/>
        </p:nvSpPr>
        <p:spPr>
          <a:xfrm>
            <a:off x="4602479" y="1965960"/>
            <a:ext cx="640080" cy="640080"/>
          </a:xfrm>
          <a:prstGeom prst="ellipse">
            <a:avLst/>
          </a:prstGeom>
          <a:solidFill>
            <a:srgbClr val="2A37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4" name="icon:codefile" descr="e32f45b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301" y="2138781"/>
            <a:ext cx="294436" cy="294436"/>
          </a:xfrm>
          <a:prstGeom prst="rect">
            <a:avLst/>
          </a:prstGeom>
        </p:spPr>
      </p:pic>
      <p:sp>
        <p:nvSpPr>
          <p:cNvPr id="135" name="Card 2 head"/>
          <p:cNvSpPr txBox="1"/>
          <p:nvPr/>
        </p:nvSpPr>
        <p:spPr>
          <a:xfrm>
            <a:off x="460247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Codex in VS Code</a:t>
            </a:r>
          </a:p>
        </p:txBody>
      </p:sp>
      <p:sp>
        <p:nvSpPr>
          <p:cNvPr id="136" name="Card 2 body"/>
          <p:cNvSpPr txBox="1"/>
          <p:nvPr/>
        </p:nvSpPr>
        <p:spPr>
          <a:xfrm>
            <a:off x="460247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OpenAI's extension and CLI. Keep project rules in an AGENTS.md file.</a:t>
            </a:r>
          </a:p>
        </p:txBody>
      </p:sp>
      <p:sp>
        <p:nvSpPr>
          <p:cNvPr id="137" name="Card 3"/>
          <p:cNvSpPr/>
          <p:nvPr/>
        </p:nvSpPr>
        <p:spPr>
          <a:xfrm>
            <a:off x="8107679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8" name="chat circle"/>
          <p:cNvSpPr/>
          <p:nvPr/>
        </p:nvSpPr>
        <p:spPr>
          <a:xfrm>
            <a:off x="8381999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9" name="icon:chat" descr="4036ec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4821" y="2138781"/>
            <a:ext cx="294436" cy="294436"/>
          </a:xfrm>
          <a:prstGeom prst="rect">
            <a:avLst/>
          </a:prstGeom>
        </p:spPr>
      </p:pic>
      <p:sp>
        <p:nvSpPr>
          <p:cNvPr id="140" name="Card 3 head"/>
          <p:cNvSpPr txBox="1"/>
          <p:nvPr/>
        </p:nvSpPr>
        <p:spPr>
          <a:xfrm>
            <a:off x="838199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Chat assistants</a:t>
            </a:r>
          </a:p>
        </p:txBody>
      </p:sp>
      <p:sp>
        <p:nvSpPr>
          <p:cNvPr id="141" name="Card 3 body"/>
          <p:cNvSpPr txBox="1"/>
          <p:nvPr/>
        </p:nvSpPr>
        <p:spPr>
          <a:xfrm>
            <a:off x="838199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Good for explaining errors and trade-offs. Weaker at editing a whole repo.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Get more work out of every token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Tokens are your budget. Spend them on thinking, not on re-reading.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Row 1"/>
          <p:cNvSpPr/>
          <p:nvPr/>
        </p:nvSpPr>
        <p:spPr>
          <a:xfrm>
            <a:off x="548640" y="1691640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Row 1 number"/>
          <p:cNvSpPr/>
          <p:nvPr/>
        </p:nvSpPr>
        <p:spPr>
          <a:xfrm>
            <a:off x="777240" y="186720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9" name="Row 1 head"/>
          <p:cNvSpPr txBox="1"/>
          <p:nvPr/>
        </p:nvSpPr>
        <p:spPr>
          <a:xfrm>
            <a:off x="1508760" y="1691640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Write rules once</a:t>
            </a:r>
          </a:p>
        </p:txBody>
      </p:sp>
      <p:sp>
        <p:nvSpPr>
          <p:cNvPr id="130" name="Row 1 body"/>
          <p:cNvSpPr txBox="1"/>
          <p:nvPr/>
        </p:nvSpPr>
        <p:spPr>
          <a:xfrm>
            <a:off x="4663440" y="1691640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Put stack, commands and conventions in CLAUDE.md or AGENTS.md instead of repeating them.</a:t>
            </a:r>
          </a:p>
        </p:txBody>
      </p:sp>
      <p:sp>
        <p:nvSpPr>
          <p:cNvPr id="131" name="Row 2"/>
          <p:cNvSpPr/>
          <p:nvPr/>
        </p:nvSpPr>
        <p:spPr>
          <a:xfrm>
            <a:off x="548640" y="2609697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2" name="Row 2 number"/>
          <p:cNvSpPr/>
          <p:nvPr/>
        </p:nvSpPr>
        <p:spPr>
          <a:xfrm>
            <a:off x="777240" y="278526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3" name="Row 2 head"/>
          <p:cNvSpPr txBox="1"/>
          <p:nvPr/>
        </p:nvSpPr>
        <p:spPr>
          <a:xfrm>
            <a:off x="1508760" y="2609697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One task per session</a:t>
            </a:r>
          </a:p>
        </p:txBody>
      </p:sp>
      <p:sp>
        <p:nvSpPr>
          <p:cNvPr id="134" name="Row 2 body"/>
          <p:cNvSpPr txBox="1"/>
          <p:nvPr/>
        </p:nvSpPr>
        <p:spPr>
          <a:xfrm>
            <a:off x="4663440" y="2609697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Start fresh for a new task. Long chats get slower and costlier.</a:t>
            </a:r>
          </a:p>
        </p:txBody>
      </p:sp>
      <p:sp>
        <p:nvSpPr>
          <p:cNvPr id="135" name="Row 3"/>
          <p:cNvSpPr/>
          <p:nvPr/>
        </p:nvSpPr>
        <p:spPr>
          <a:xfrm>
            <a:off x="548640" y="3527755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6" name="Row 3 number"/>
          <p:cNvSpPr/>
          <p:nvPr/>
        </p:nvSpPr>
        <p:spPr>
          <a:xfrm>
            <a:off x="777240" y="37033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7" name="Row 3 head"/>
          <p:cNvSpPr txBox="1"/>
          <p:nvPr/>
        </p:nvSpPr>
        <p:spPr>
          <a:xfrm>
            <a:off x="1508760" y="3527755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Point at files</a:t>
            </a:r>
          </a:p>
        </p:txBody>
      </p:sp>
      <p:sp>
        <p:nvSpPr>
          <p:cNvPr id="138" name="Row 3 body"/>
          <p:cNvSpPr txBox="1"/>
          <p:nvPr/>
        </p:nvSpPr>
        <p:spPr>
          <a:xfrm>
            <a:off x="4663440" y="3527755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Name the file and function instead of letting it search the whole repo.</a:t>
            </a:r>
          </a:p>
        </p:txBody>
      </p:sp>
      <p:sp>
        <p:nvSpPr>
          <p:cNvPr id="139" name="Row 4"/>
          <p:cNvSpPr/>
          <p:nvPr/>
        </p:nvSpPr>
        <p:spPr>
          <a:xfrm>
            <a:off x="548640" y="4445812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0" name="Row 4 number"/>
          <p:cNvSpPr/>
          <p:nvPr/>
        </p:nvSpPr>
        <p:spPr>
          <a:xfrm>
            <a:off x="777240" y="4621377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41" name="Row 4 head"/>
          <p:cNvSpPr txBox="1"/>
          <p:nvPr/>
        </p:nvSpPr>
        <p:spPr>
          <a:xfrm>
            <a:off x="1508760" y="4445812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Plan first, then edit</a:t>
            </a:r>
          </a:p>
        </p:txBody>
      </p:sp>
      <p:sp>
        <p:nvSpPr>
          <p:cNvPr id="142" name="Row 4 body"/>
          <p:cNvSpPr txBox="1"/>
          <p:nvPr/>
        </p:nvSpPr>
        <p:spPr>
          <a:xfrm>
            <a:off x="4663440" y="4445812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Ask for a plan, check it, then let it write. Fewer wasted edits.</a:t>
            </a:r>
          </a:p>
        </p:txBody>
      </p:sp>
      <p:sp>
        <p:nvSpPr>
          <p:cNvPr id="143" name="Row 5"/>
          <p:cNvSpPr/>
          <p:nvPr/>
        </p:nvSpPr>
        <p:spPr>
          <a:xfrm>
            <a:off x="548640" y="5363870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4" name="Row 5 number"/>
          <p:cNvSpPr/>
          <p:nvPr/>
        </p:nvSpPr>
        <p:spPr>
          <a:xfrm>
            <a:off x="777240" y="553943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45" name="Row 5 head"/>
          <p:cNvSpPr txBox="1"/>
          <p:nvPr/>
        </p:nvSpPr>
        <p:spPr>
          <a:xfrm>
            <a:off x="1508760" y="5363870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Use a code map</a:t>
            </a:r>
          </a:p>
        </p:txBody>
      </p:sp>
      <p:sp>
        <p:nvSpPr>
          <p:cNvPr id="146" name="Row 5 body"/>
          <p:cNvSpPr txBox="1"/>
          <p:nvPr/>
        </p:nvSpPr>
        <p:spPr>
          <a:xfrm>
            <a:off x="4663440" y="5363870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Tools like graphify build a graph of your repo so the agent reads less. Test it; savings claims vary.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AI as pair programmer, not autopilot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olumn 1"/>
          <p:cNvSpPr/>
          <p:nvPr/>
        </p:nvSpPr>
        <p:spPr>
          <a:xfrm>
            <a:off x="548640" y="1691640"/>
            <a:ext cx="5440680" cy="44348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check circle"/>
          <p:cNvSpPr/>
          <p:nvPr/>
        </p:nvSpPr>
        <p:spPr>
          <a:xfrm>
            <a:off x="822959" y="192024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9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7" y="2080717"/>
            <a:ext cx="273405" cy="273405"/>
          </a:xfrm>
          <a:prstGeom prst="rect">
            <a:avLst/>
          </a:prstGeom>
        </p:spPr>
      </p:pic>
      <p:sp>
        <p:nvSpPr>
          <p:cNvPr id="130" name="Column 1 head"/>
          <p:cNvSpPr txBox="1"/>
          <p:nvPr/>
        </p:nvSpPr>
        <p:spPr>
          <a:xfrm>
            <a:off x="1600200" y="1920240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Good uses</a:t>
            </a:r>
          </a:p>
        </p:txBody>
      </p:sp>
      <p:sp>
        <p:nvSpPr>
          <p:cNvPr id="131" name="Column 1 bullets"/>
          <p:cNvSpPr txBox="1"/>
          <p:nvPr/>
        </p:nvSpPr>
        <p:spPr>
          <a:xfrm>
            <a:off x="868680" y="2743200"/>
            <a:ext cx="48463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Scaffold boilerplate and tests</a:t>
            </a:r>
          </a:p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Explain an error message</a:t>
            </a:r>
          </a:p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Review your diff for bugs</a:t>
            </a:r>
          </a:p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Suggest edge cases</a:t>
            </a:r>
          </a:p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Write the README first draft</a:t>
            </a:r>
          </a:p>
        </p:txBody>
      </p:sp>
      <p:sp>
        <p:nvSpPr>
          <p:cNvPr id="132" name="Column 2"/>
          <p:cNvSpPr/>
          <p:nvPr/>
        </p:nvSpPr>
        <p:spPr>
          <a:xfrm>
            <a:off x="6217920" y="1691640"/>
            <a:ext cx="5440680" cy="44348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3" name="x circle"/>
          <p:cNvSpPr/>
          <p:nvPr/>
        </p:nvSpPr>
        <p:spPr>
          <a:xfrm>
            <a:off x="6492240" y="1920240"/>
            <a:ext cx="594360" cy="594360"/>
          </a:xfrm>
          <a:prstGeom prst="ellipse">
            <a:avLst/>
          </a:prstGeom>
          <a:solidFill>
            <a:srgbClr val="2A37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4" name="icon:x" descr="7ef058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717" y="2080717"/>
            <a:ext cx="273405" cy="273405"/>
          </a:xfrm>
          <a:prstGeom prst="rect">
            <a:avLst/>
          </a:prstGeom>
        </p:spPr>
      </p:pic>
      <p:sp>
        <p:nvSpPr>
          <p:cNvPr id="135" name="Column 2 head"/>
          <p:cNvSpPr txBox="1"/>
          <p:nvPr/>
        </p:nvSpPr>
        <p:spPr>
          <a:xfrm>
            <a:off x="7269479" y="1920240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Risky uses</a:t>
            </a:r>
          </a:p>
        </p:txBody>
      </p:sp>
      <p:sp>
        <p:nvSpPr>
          <p:cNvPr id="136" name="Column 2 bullets"/>
          <p:cNvSpPr txBox="1"/>
          <p:nvPr/>
        </p:nvSpPr>
        <p:spPr>
          <a:xfrm>
            <a:off x="6537959" y="2743200"/>
            <a:ext cx="48463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Accepting code you cannot explain</a:t>
            </a:r>
          </a:p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Pasting secrets into a chat</a:t>
            </a:r>
          </a:p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Skipping tests because it looks right</a:t>
            </a:r>
          </a:p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Letting it choose the architecture</a:t>
            </a:r>
          </a:p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Copying code with unclear licence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Test and debug like an engineer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Path line"/>
          <p:cNvSpPr/>
          <p:nvPr/>
        </p:nvSpPr>
        <p:spPr>
          <a:xfrm>
            <a:off x="1028700" y="2372868"/>
            <a:ext cx="8332470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Arrow 1"/>
          <p:cNvSpPr/>
          <p:nvPr/>
        </p:nvSpPr>
        <p:spPr>
          <a:xfrm rot="5400000">
            <a:off x="2177415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search circle"/>
          <p:cNvSpPr/>
          <p:nvPr/>
        </p:nvSpPr>
        <p:spPr>
          <a:xfrm>
            <a:off x="54864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0" name="icon:search" descr="12be32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" y="2179472"/>
            <a:ext cx="441655" cy="441655"/>
          </a:xfrm>
          <a:prstGeom prst="rect">
            <a:avLst/>
          </a:prstGeom>
        </p:spPr>
      </p:pic>
      <p:sp>
        <p:nvSpPr>
          <p:cNvPr id="131" name="Step 1"/>
          <p:cNvSpPr/>
          <p:nvPr/>
        </p:nvSpPr>
        <p:spPr>
          <a:xfrm>
            <a:off x="125272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1</a:t>
            </a:r>
          </a:p>
        </p:txBody>
      </p:sp>
      <p:sp>
        <p:nvSpPr>
          <p:cNvPr id="132" name="Step 1 head"/>
          <p:cNvSpPr txBox="1"/>
          <p:nvPr/>
        </p:nvSpPr>
        <p:spPr>
          <a:xfrm>
            <a:off x="54864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Reproduce</a:t>
            </a:r>
          </a:p>
        </p:txBody>
      </p:sp>
      <p:sp>
        <p:nvSpPr>
          <p:cNvPr id="133" name="Step 1 body"/>
          <p:cNvSpPr txBox="1"/>
          <p:nvPr/>
        </p:nvSpPr>
        <p:spPr>
          <a:xfrm>
            <a:off x="54864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Make the bug happen on demand.</a:t>
            </a:r>
          </a:p>
        </p:txBody>
      </p:sp>
      <p:sp>
        <p:nvSpPr>
          <p:cNvPr id="134" name="Arrow 2"/>
          <p:cNvSpPr/>
          <p:nvPr/>
        </p:nvSpPr>
        <p:spPr>
          <a:xfrm rot="5400000">
            <a:off x="4954905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bolt circle"/>
          <p:cNvSpPr/>
          <p:nvPr/>
        </p:nvSpPr>
        <p:spPr>
          <a:xfrm>
            <a:off x="332613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6" name="icon:bolt" descr="366e19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362" y="2179472"/>
            <a:ext cx="441655" cy="441655"/>
          </a:xfrm>
          <a:prstGeom prst="rect">
            <a:avLst/>
          </a:prstGeom>
        </p:spPr>
      </p:pic>
      <p:sp>
        <p:nvSpPr>
          <p:cNvPr id="137" name="Step 2"/>
          <p:cNvSpPr/>
          <p:nvPr/>
        </p:nvSpPr>
        <p:spPr>
          <a:xfrm>
            <a:off x="403021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2</a:t>
            </a:r>
          </a:p>
        </p:txBody>
      </p:sp>
      <p:sp>
        <p:nvSpPr>
          <p:cNvPr id="138" name="Step 2 head"/>
          <p:cNvSpPr txBox="1"/>
          <p:nvPr/>
        </p:nvSpPr>
        <p:spPr>
          <a:xfrm>
            <a:off x="332613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Read the error</a:t>
            </a:r>
          </a:p>
        </p:txBody>
      </p:sp>
      <p:sp>
        <p:nvSpPr>
          <p:cNvPr id="139" name="Step 2 body"/>
          <p:cNvSpPr txBox="1"/>
          <p:nvPr/>
        </p:nvSpPr>
        <p:spPr>
          <a:xfrm>
            <a:off x="332613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The message and line number usually say where.</a:t>
            </a:r>
          </a:p>
        </p:txBody>
      </p:sp>
      <p:sp>
        <p:nvSpPr>
          <p:cNvPr id="140" name="Arrow 3"/>
          <p:cNvSpPr/>
          <p:nvPr/>
        </p:nvSpPr>
        <p:spPr>
          <a:xfrm rot="5400000">
            <a:off x="7732394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target circle"/>
          <p:cNvSpPr/>
          <p:nvPr/>
        </p:nvSpPr>
        <p:spPr>
          <a:xfrm>
            <a:off x="610362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2" name="icon:target" descr="d8fc09b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852" y="2179472"/>
            <a:ext cx="441655" cy="441655"/>
          </a:xfrm>
          <a:prstGeom prst="rect">
            <a:avLst/>
          </a:prstGeom>
        </p:spPr>
      </p:pic>
      <p:sp>
        <p:nvSpPr>
          <p:cNvPr id="143" name="Step 3"/>
          <p:cNvSpPr/>
          <p:nvPr/>
        </p:nvSpPr>
        <p:spPr>
          <a:xfrm>
            <a:off x="6807707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3</a:t>
            </a:r>
          </a:p>
        </p:txBody>
      </p:sp>
      <p:sp>
        <p:nvSpPr>
          <p:cNvPr id="144" name="Step 3 head"/>
          <p:cNvSpPr txBox="1"/>
          <p:nvPr/>
        </p:nvSpPr>
        <p:spPr>
          <a:xfrm>
            <a:off x="610362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Isolate</a:t>
            </a:r>
          </a:p>
        </p:txBody>
      </p:sp>
      <p:sp>
        <p:nvSpPr>
          <p:cNvPr id="145" name="Step 3 body"/>
          <p:cNvSpPr txBox="1"/>
          <p:nvPr/>
        </p:nvSpPr>
        <p:spPr>
          <a:xfrm>
            <a:off x="610362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Print or log to cut the problem in half.</a:t>
            </a:r>
          </a:p>
        </p:txBody>
      </p:sp>
      <p:sp>
        <p:nvSpPr>
          <p:cNvPr id="146" name="check circle"/>
          <p:cNvSpPr/>
          <p:nvPr/>
        </p:nvSpPr>
        <p:spPr>
          <a:xfrm>
            <a:off x="888111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7" name="icon:check" descr="4f1c2c6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0342" y="2179472"/>
            <a:ext cx="441655" cy="441655"/>
          </a:xfrm>
          <a:prstGeom prst="rect">
            <a:avLst/>
          </a:prstGeom>
        </p:spPr>
      </p:pic>
      <p:sp>
        <p:nvSpPr>
          <p:cNvPr id="148" name="Step 4"/>
          <p:cNvSpPr/>
          <p:nvPr/>
        </p:nvSpPr>
        <p:spPr>
          <a:xfrm>
            <a:off x="958519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4</a:t>
            </a:r>
          </a:p>
        </p:txBody>
      </p:sp>
      <p:sp>
        <p:nvSpPr>
          <p:cNvPr id="149" name="Step 4 head"/>
          <p:cNvSpPr txBox="1"/>
          <p:nvPr/>
        </p:nvSpPr>
        <p:spPr>
          <a:xfrm>
            <a:off x="888111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Add a test</a:t>
            </a:r>
          </a:p>
        </p:txBody>
      </p:sp>
      <p:sp>
        <p:nvSpPr>
          <p:cNvPr id="150" name="Step 4 body"/>
          <p:cNvSpPr txBox="1"/>
          <p:nvPr/>
        </p:nvSpPr>
        <p:spPr>
          <a:xfrm>
            <a:off x="888111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So the bug never comes back.</a:t>
            </a:r>
          </a:p>
        </p:txBody>
      </p:sp>
      <p:sp>
        <p:nvSpPr>
          <p:cNvPr id="151" name="Callout band"/>
          <p:cNvSpPr/>
          <p:nvPr/>
        </p:nvSpPr>
        <p:spPr>
          <a:xfrm>
            <a:off x="548640" y="5486400"/>
            <a:ext cx="11109960" cy="68580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2" name="Callout tag"/>
          <p:cNvSpPr/>
          <p:nvPr/>
        </p:nvSpPr>
        <p:spPr>
          <a:xfrm>
            <a:off x="822960" y="5669280"/>
            <a:ext cx="1234440" cy="3200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1220"/>
                </a:solidFill>
                <a:latin typeface="Calibri"/>
              </a:rPr>
              <a:t>HABIT</a:t>
            </a:r>
          </a:p>
        </p:txBody>
      </p:sp>
      <p:sp>
        <p:nvSpPr>
          <p:cNvPr id="153" name="Callout"/>
          <p:cNvSpPr txBox="1"/>
          <p:nvPr/>
        </p:nvSpPr>
        <p:spPr>
          <a:xfrm>
            <a:off x="2286000" y="5532120"/>
            <a:ext cx="9144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0B1220"/>
                </a:solidFill>
                <a:latin typeface="Calibri"/>
              </a:rPr>
              <a:t>Describe the bug to a rubber duck or an AI before you ask a person.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Deploy for free: your options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Header row"/>
          <p:cNvSpPr/>
          <p:nvPr/>
        </p:nvSpPr>
        <p:spPr>
          <a:xfrm>
            <a:off x="548640" y="1691640"/>
            <a:ext cx="1110996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Head 1"/>
          <p:cNvSpPr txBox="1"/>
          <p:nvPr/>
        </p:nvSpPr>
        <p:spPr>
          <a:xfrm>
            <a:off x="685800" y="1691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Need</a:t>
            </a:r>
          </a:p>
        </p:txBody>
      </p:sp>
      <p:sp>
        <p:nvSpPr>
          <p:cNvPr id="129" name="Head 2"/>
          <p:cNvSpPr txBox="1"/>
          <p:nvPr/>
        </p:nvSpPr>
        <p:spPr>
          <a:xfrm>
            <a:off x="3337560" y="169164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Options</a:t>
            </a:r>
          </a:p>
        </p:txBody>
      </p:sp>
      <p:sp>
        <p:nvSpPr>
          <p:cNvPr id="130" name="Head 3"/>
          <p:cNvSpPr txBox="1"/>
          <p:nvPr/>
        </p:nvSpPr>
        <p:spPr>
          <a:xfrm>
            <a:off x="7543800" y="1691640"/>
            <a:ext cx="3977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Watch out for</a:t>
            </a:r>
          </a:p>
        </p:txBody>
      </p:sp>
      <p:sp>
        <p:nvSpPr>
          <p:cNvPr id="131" name="Row 1"/>
          <p:cNvSpPr/>
          <p:nvPr/>
        </p:nvSpPr>
        <p:spPr>
          <a:xfrm>
            <a:off x="548640" y="2194560"/>
            <a:ext cx="11109960" cy="77724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Cell 1.1"/>
          <p:cNvSpPr txBox="1"/>
          <p:nvPr/>
        </p:nvSpPr>
        <p:spPr>
          <a:xfrm>
            <a:off x="685800" y="219456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Static site or front end</a:t>
            </a:r>
          </a:p>
        </p:txBody>
      </p:sp>
      <p:sp>
        <p:nvSpPr>
          <p:cNvPr id="133" name="Cell 1.2"/>
          <p:cNvSpPr txBox="1"/>
          <p:nvPr/>
        </p:nvSpPr>
        <p:spPr>
          <a:xfrm>
            <a:off x="3337560" y="2194560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Vercel, Netlify, GitHub Pages</a:t>
            </a:r>
          </a:p>
        </p:txBody>
      </p:sp>
      <p:sp>
        <p:nvSpPr>
          <p:cNvPr id="134" name="Cell 1.3"/>
          <p:cNvSpPr txBox="1"/>
          <p:nvPr/>
        </p:nvSpPr>
        <p:spPr>
          <a:xfrm>
            <a:off x="7543800" y="2194560"/>
            <a:ext cx="3977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Vercel Hobby is for non-commercial use</a:t>
            </a:r>
          </a:p>
        </p:txBody>
      </p:sp>
      <p:sp>
        <p:nvSpPr>
          <p:cNvPr id="135" name="Row 2"/>
          <p:cNvSpPr/>
          <p:nvPr/>
        </p:nvSpPr>
        <p:spPr>
          <a:xfrm>
            <a:off x="548640" y="2971800"/>
            <a:ext cx="111099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Cell 2.1"/>
          <p:cNvSpPr txBox="1"/>
          <p:nvPr/>
        </p:nvSpPr>
        <p:spPr>
          <a:xfrm>
            <a:off x="685800" y="297180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Backend API</a:t>
            </a:r>
          </a:p>
        </p:txBody>
      </p:sp>
      <p:sp>
        <p:nvSpPr>
          <p:cNvPr id="137" name="Cell 2.2"/>
          <p:cNvSpPr txBox="1"/>
          <p:nvPr/>
        </p:nvSpPr>
        <p:spPr>
          <a:xfrm>
            <a:off x="3337560" y="2971800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Render, Railway, Fly.io</a:t>
            </a:r>
          </a:p>
        </p:txBody>
      </p:sp>
      <p:sp>
        <p:nvSpPr>
          <p:cNvPr id="138" name="Cell 2.3"/>
          <p:cNvSpPr txBox="1"/>
          <p:nvPr/>
        </p:nvSpPr>
        <p:spPr>
          <a:xfrm>
            <a:off x="7543800" y="2971800"/>
            <a:ext cx="3977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Free tiers can sleep or change</a:t>
            </a:r>
          </a:p>
        </p:txBody>
      </p:sp>
      <p:sp>
        <p:nvSpPr>
          <p:cNvPr id="139" name="Row 3"/>
          <p:cNvSpPr/>
          <p:nvPr/>
        </p:nvSpPr>
        <p:spPr>
          <a:xfrm>
            <a:off x="548640" y="3749040"/>
            <a:ext cx="11109960" cy="77724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Cell 3.1"/>
          <p:cNvSpPr txBox="1"/>
          <p:nvPr/>
        </p:nvSpPr>
        <p:spPr>
          <a:xfrm>
            <a:off x="685800" y="374904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Database</a:t>
            </a:r>
          </a:p>
        </p:txBody>
      </p:sp>
      <p:sp>
        <p:nvSpPr>
          <p:cNvPr id="141" name="Cell 3.2"/>
          <p:cNvSpPr txBox="1"/>
          <p:nvPr/>
        </p:nvSpPr>
        <p:spPr>
          <a:xfrm>
            <a:off x="3337560" y="3749040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MongoDB Atlas free tier, Supabase</a:t>
            </a:r>
          </a:p>
        </p:txBody>
      </p:sp>
      <p:sp>
        <p:nvSpPr>
          <p:cNvPr id="142" name="Cell 3.3"/>
          <p:cNvSpPr txBox="1"/>
          <p:nvPr/>
        </p:nvSpPr>
        <p:spPr>
          <a:xfrm>
            <a:off x="7543800" y="3749040"/>
            <a:ext cx="3977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Storage limits</a:t>
            </a:r>
          </a:p>
        </p:txBody>
      </p:sp>
      <p:sp>
        <p:nvSpPr>
          <p:cNvPr id="143" name="Row 4"/>
          <p:cNvSpPr/>
          <p:nvPr/>
        </p:nvSpPr>
        <p:spPr>
          <a:xfrm>
            <a:off x="548640" y="4526280"/>
            <a:ext cx="111099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Cell 4.1"/>
          <p:cNvSpPr txBox="1"/>
          <p:nvPr/>
        </p:nvSpPr>
        <p:spPr>
          <a:xfrm>
            <a:off x="685800" y="452628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Domain</a:t>
            </a:r>
          </a:p>
        </p:txBody>
      </p:sp>
      <p:sp>
        <p:nvSpPr>
          <p:cNvPr id="145" name="Cell 4.2"/>
          <p:cNvSpPr txBox="1"/>
          <p:nvPr/>
        </p:nvSpPr>
        <p:spPr>
          <a:xfrm>
            <a:off x="3337560" y="4526280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A cheap .in or .dev domain</a:t>
            </a:r>
          </a:p>
        </p:txBody>
      </p:sp>
      <p:sp>
        <p:nvSpPr>
          <p:cNvPr id="146" name="Cell 4.3"/>
          <p:cNvSpPr txBox="1"/>
          <p:nvPr/>
        </p:nvSpPr>
        <p:spPr>
          <a:xfrm>
            <a:off x="7543800" y="4526280"/>
            <a:ext cx="3977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Optional but looks professional</a:t>
            </a:r>
          </a:p>
        </p:txBody>
      </p:sp>
      <p:sp>
        <p:nvSpPr>
          <p:cNvPr id="147" name="Source"/>
          <p:cNvSpPr txBox="1"/>
          <p:nvPr/>
        </p:nvSpPr>
        <p:spPr>
          <a:xfrm>
            <a:off x="640080" y="6291072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Source: Verify each free tier on the vendor's pricing page before the session. They change often.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Optional: ship on Google Cloud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For students who want cloud on the resume.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ard 1"/>
          <p:cNvSpPr/>
          <p:nvPr/>
        </p:nvSpPr>
        <p:spPr>
          <a:xfrm>
            <a:off x="548640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cloud circle"/>
          <p:cNvSpPr/>
          <p:nvPr/>
        </p:nvSpPr>
        <p:spPr>
          <a:xfrm>
            <a:off x="822959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9" name="icon:cloud" descr="d256c8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1" y="2138781"/>
            <a:ext cx="294436" cy="294436"/>
          </a:xfrm>
          <a:prstGeom prst="rect">
            <a:avLst/>
          </a:prstGeom>
        </p:spPr>
      </p:pic>
      <p:sp>
        <p:nvSpPr>
          <p:cNvPr id="130" name="Card 1 head"/>
          <p:cNvSpPr txBox="1"/>
          <p:nvPr/>
        </p:nvSpPr>
        <p:spPr>
          <a:xfrm>
            <a:off x="82295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Free credits</a:t>
            </a:r>
          </a:p>
        </p:txBody>
      </p:sp>
      <p:sp>
        <p:nvSpPr>
          <p:cNvPr id="131" name="Card 1 body"/>
          <p:cNvSpPr txBox="1"/>
          <p:nvPr/>
        </p:nvSpPr>
        <p:spPr>
          <a:xfrm>
            <a:off x="82295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New accounts have been offered about $300 for 90 days, plus an always-free tier. Check current terms.</a:t>
            </a:r>
          </a:p>
        </p:txBody>
      </p:sp>
      <p:sp>
        <p:nvSpPr>
          <p:cNvPr id="132" name="Card 2"/>
          <p:cNvSpPr/>
          <p:nvPr/>
        </p:nvSpPr>
        <p:spPr>
          <a:xfrm>
            <a:off x="4328159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3" name="rocket circle"/>
          <p:cNvSpPr/>
          <p:nvPr/>
        </p:nvSpPr>
        <p:spPr>
          <a:xfrm>
            <a:off x="4602479" y="1965960"/>
            <a:ext cx="640080" cy="640080"/>
          </a:xfrm>
          <a:prstGeom prst="ellipse">
            <a:avLst/>
          </a:prstGeom>
          <a:solidFill>
            <a:srgbClr val="2A37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4" name="icon:rocket" descr="3bdf0d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301" y="2138781"/>
            <a:ext cx="294436" cy="294436"/>
          </a:xfrm>
          <a:prstGeom prst="rect">
            <a:avLst/>
          </a:prstGeom>
        </p:spPr>
      </p:pic>
      <p:sp>
        <p:nvSpPr>
          <p:cNvPr id="135" name="Card 2 head"/>
          <p:cNvSpPr txBox="1"/>
          <p:nvPr/>
        </p:nvSpPr>
        <p:spPr>
          <a:xfrm>
            <a:off x="460247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Cloud Run</a:t>
            </a:r>
          </a:p>
        </p:txBody>
      </p:sp>
      <p:sp>
        <p:nvSpPr>
          <p:cNvPr id="136" name="Card 2 body"/>
          <p:cNvSpPr txBox="1"/>
          <p:nvPr/>
        </p:nvSpPr>
        <p:spPr>
          <a:xfrm>
            <a:off x="460247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Put your app in a container and deploy it. Pays only when it handles requests.</a:t>
            </a:r>
          </a:p>
        </p:txBody>
      </p:sp>
      <p:sp>
        <p:nvSpPr>
          <p:cNvPr id="137" name="Card 3"/>
          <p:cNvSpPr/>
          <p:nvPr/>
        </p:nvSpPr>
        <p:spPr>
          <a:xfrm>
            <a:off x="8107679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8" name="layers circle"/>
          <p:cNvSpPr/>
          <p:nvPr/>
        </p:nvSpPr>
        <p:spPr>
          <a:xfrm>
            <a:off x="8381999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9" name="icon:layers" descr="d9e5fb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4821" y="2138781"/>
            <a:ext cx="294436" cy="294436"/>
          </a:xfrm>
          <a:prstGeom prst="rect">
            <a:avLst/>
          </a:prstGeom>
        </p:spPr>
      </p:pic>
      <p:sp>
        <p:nvSpPr>
          <p:cNvPr id="140" name="Card 3 head"/>
          <p:cNvSpPr txBox="1"/>
          <p:nvPr/>
        </p:nvSpPr>
        <p:spPr>
          <a:xfrm>
            <a:off x="838199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Set a budget alert</a:t>
            </a:r>
          </a:p>
        </p:txBody>
      </p:sp>
      <p:sp>
        <p:nvSpPr>
          <p:cNvPr id="141" name="Card 3 body"/>
          <p:cNvSpPr txBox="1"/>
          <p:nvPr/>
        </p:nvSpPr>
        <p:spPr>
          <a:xfrm>
            <a:off x="838199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Create it first so a mistake cannot become a bill.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A README that sells the project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Recruiters often read this and nothing else.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Row 1"/>
          <p:cNvSpPr/>
          <p:nvPr/>
        </p:nvSpPr>
        <p:spPr>
          <a:xfrm>
            <a:off x="548640" y="1691640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Row 1 number"/>
          <p:cNvSpPr/>
          <p:nvPr/>
        </p:nvSpPr>
        <p:spPr>
          <a:xfrm>
            <a:off x="777240" y="186720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9" name="Row 1 head"/>
          <p:cNvSpPr txBox="1"/>
          <p:nvPr/>
        </p:nvSpPr>
        <p:spPr>
          <a:xfrm>
            <a:off x="1508760" y="1691640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One-line pitch</a:t>
            </a:r>
          </a:p>
        </p:txBody>
      </p:sp>
      <p:sp>
        <p:nvSpPr>
          <p:cNvPr id="130" name="Row 1 body"/>
          <p:cNvSpPr txBox="1"/>
          <p:nvPr/>
        </p:nvSpPr>
        <p:spPr>
          <a:xfrm>
            <a:off x="4663440" y="1691640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What it does and who it is for.</a:t>
            </a:r>
          </a:p>
        </p:txBody>
      </p:sp>
      <p:sp>
        <p:nvSpPr>
          <p:cNvPr id="131" name="Row 2"/>
          <p:cNvSpPr/>
          <p:nvPr/>
        </p:nvSpPr>
        <p:spPr>
          <a:xfrm>
            <a:off x="548640" y="2609697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2" name="Row 2 number"/>
          <p:cNvSpPr/>
          <p:nvPr/>
        </p:nvSpPr>
        <p:spPr>
          <a:xfrm>
            <a:off x="777240" y="278526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3" name="Row 2 head"/>
          <p:cNvSpPr txBox="1"/>
          <p:nvPr/>
        </p:nvSpPr>
        <p:spPr>
          <a:xfrm>
            <a:off x="1508760" y="2609697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Screenshot or GIF</a:t>
            </a:r>
          </a:p>
        </p:txBody>
      </p:sp>
      <p:sp>
        <p:nvSpPr>
          <p:cNvPr id="134" name="Row 2 body"/>
          <p:cNvSpPr txBox="1"/>
          <p:nvPr/>
        </p:nvSpPr>
        <p:spPr>
          <a:xfrm>
            <a:off x="4663440" y="2609697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Show it working in five seconds.</a:t>
            </a:r>
          </a:p>
        </p:txBody>
      </p:sp>
      <p:sp>
        <p:nvSpPr>
          <p:cNvPr id="135" name="Row 3"/>
          <p:cNvSpPr/>
          <p:nvPr/>
        </p:nvSpPr>
        <p:spPr>
          <a:xfrm>
            <a:off x="548640" y="3527755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6" name="Row 3 number"/>
          <p:cNvSpPr/>
          <p:nvPr/>
        </p:nvSpPr>
        <p:spPr>
          <a:xfrm>
            <a:off x="777240" y="37033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7" name="Row 3 head"/>
          <p:cNvSpPr txBox="1"/>
          <p:nvPr/>
        </p:nvSpPr>
        <p:spPr>
          <a:xfrm>
            <a:off x="1508760" y="3527755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Live link</a:t>
            </a:r>
          </a:p>
        </p:txBody>
      </p:sp>
      <p:sp>
        <p:nvSpPr>
          <p:cNvPr id="138" name="Row 3 body"/>
          <p:cNvSpPr txBox="1"/>
          <p:nvPr/>
        </p:nvSpPr>
        <p:spPr>
          <a:xfrm>
            <a:off x="4663440" y="3527755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Click-through demo, tested on a phone.</a:t>
            </a:r>
          </a:p>
        </p:txBody>
      </p:sp>
      <p:sp>
        <p:nvSpPr>
          <p:cNvPr id="139" name="Row 4"/>
          <p:cNvSpPr/>
          <p:nvPr/>
        </p:nvSpPr>
        <p:spPr>
          <a:xfrm>
            <a:off x="548640" y="4445812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0" name="Row 4 number"/>
          <p:cNvSpPr/>
          <p:nvPr/>
        </p:nvSpPr>
        <p:spPr>
          <a:xfrm>
            <a:off x="777240" y="4621377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41" name="Row 4 head"/>
          <p:cNvSpPr txBox="1"/>
          <p:nvPr/>
        </p:nvSpPr>
        <p:spPr>
          <a:xfrm>
            <a:off x="1508760" y="4445812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Stack and decisions</a:t>
            </a:r>
          </a:p>
        </p:txBody>
      </p:sp>
      <p:sp>
        <p:nvSpPr>
          <p:cNvPr id="142" name="Row 4 body"/>
          <p:cNvSpPr txBox="1"/>
          <p:nvPr/>
        </p:nvSpPr>
        <p:spPr>
          <a:xfrm>
            <a:off x="4663440" y="4445812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Why you chose each tool.</a:t>
            </a:r>
          </a:p>
        </p:txBody>
      </p:sp>
      <p:sp>
        <p:nvSpPr>
          <p:cNvPr id="143" name="Row 5"/>
          <p:cNvSpPr/>
          <p:nvPr/>
        </p:nvSpPr>
        <p:spPr>
          <a:xfrm>
            <a:off x="548640" y="5363870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4" name="Row 5 number"/>
          <p:cNvSpPr/>
          <p:nvPr/>
        </p:nvSpPr>
        <p:spPr>
          <a:xfrm>
            <a:off x="777240" y="553943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45" name="Row 5 head"/>
          <p:cNvSpPr txBox="1"/>
          <p:nvPr/>
        </p:nvSpPr>
        <p:spPr>
          <a:xfrm>
            <a:off x="1508760" y="5363870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Run it locally</a:t>
            </a:r>
          </a:p>
        </p:txBody>
      </p:sp>
      <p:sp>
        <p:nvSpPr>
          <p:cNvPr id="146" name="Row 5 body"/>
          <p:cNvSpPr txBox="1"/>
          <p:nvPr/>
        </p:nvSpPr>
        <p:spPr>
          <a:xfrm>
            <a:off x="4663440" y="5363870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Exact commands that work on a clean machine.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One real story, and yours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olumn 1"/>
          <p:cNvSpPr/>
          <p:nvPr/>
        </p:nvSpPr>
        <p:spPr>
          <a:xfrm>
            <a:off x="548640" y="1691640"/>
            <a:ext cx="5440680" cy="44348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chat circle"/>
          <p:cNvSpPr/>
          <p:nvPr/>
        </p:nvSpPr>
        <p:spPr>
          <a:xfrm>
            <a:off x="822959" y="192024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9" name="icon:chat" descr="4036ec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7" y="2080717"/>
            <a:ext cx="273405" cy="273405"/>
          </a:xfrm>
          <a:prstGeom prst="rect">
            <a:avLst/>
          </a:prstGeom>
        </p:spPr>
      </p:pic>
      <p:sp>
        <p:nvSpPr>
          <p:cNvPr id="130" name="Column 1 head"/>
          <p:cNvSpPr txBox="1"/>
          <p:nvPr/>
        </p:nvSpPr>
        <p:spPr>
          <a:xfrm>
            <a:off x="1600200" y="1920240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Profly AI</a:t>
            </a:r>
          </a:p>
        </p:txBody>
      </p:sp>
      <p:sp>
        <p:nvSpPr>
          <p:cNvPr id="131" name="Column 1 bullets"/>
          <p:cNvSpPr txBox="1"/>
          <p:nvPr/>
        </p:nvSpPr>
        <p:spPr>
          <a:xfrm>
            <a:off x="868680" y="2743200"/>
            <a:ext cx="48463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Exam-practice platform with AI-generated questions</a:t>
            </a:r>
          </a:p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Used by 30+ students</a:t>
            </a:r>
          </a:p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Built a RAG pipeline on Node.js, FastAPI, MongoDB and Pinecone</a:t>
            </a:r>
          </a:p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Improved from user feedback</a:t>
            </a:r>
          </a:p>
        </p:txBody>
      </p:sp>
      <p:sp>
        <p:nvSpPr>
          <p:cNvPr id="132" name="Column 2"/>
          <p:cNvSpPr/>
          <p:nvPr/>
        </p:nvSpPr>
        <p:spPr>
          <a:xfrm>
            <a:off x="6217920" y="1691640"/>
            <a:ext cx="5440680" cy="44348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3" name="rocket circle"/>
          <p:cNvSpPr/>
          <p:nvPr/>
        </p:nvSpPr>
        <p:spPr>
          <a:xfrm>
            <a:off x="6492240" y="1920240"/>
            <a:ext cx="594360" cy="594360"/>
          </a:xfrm>
          <a:prstGeom prst="ellipse">
            <a:avLst/>
          </a:prstGeom>
          <a:solidFill>
            <a:srgbClr val="2A37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4" name="icon:rocket" descr="3bdf0d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717" y="2080717"/>
            <a:ext cx="273405" cy="273405"/>
          </a:xfrm>
          <a:prstGeom prst="rect">
            <a:avLst/>
          </a:prstGeom>
        </p:spPr>
      </p:pic>
      <p:sp>
        <p:nvSpPr>
          <p:cNvPr id="135" name="Column 2 head"/>
          <p:cNvSpPr txBox="1"/>
          <p:nvPr/>
        </p:nvSpPr>
        <p:spPr>
          <a:xfrm>
            <a:off x="7269479" y="1920240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Your story (fill in)</a:t>
            </a:r>
          </a:p>
        </p:txBody>
      </p:sp>
      <p:sp>
        <p:nvSpPr>
          <p:cNvPr id="136" name="Column 2 bullets"/>
          <p:cNvSpPr txBox="1"/>
          <p:nvPr/>
        </p:nvSpPr>
        <p:spPr>
          <a:xfrm>
            <a:off x="6537959" y="2743200"/>
            <a:ext cx="48463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The problem you saw</a:t>
            </a:r>
          </a:p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What you built first</a:t>
            </a:r>
          </a:p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What broke, and how you fixed it</a:t>
            </a:r>
          </a:p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Who used it and what they said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371600"/>
            <a:ext cx="10515600" cy="914400"/>
          </a:xfrm>
        </p:spPr>
        <p:txBody>
          <a:bodyPr/>
          <a:lstStyle/>
          <a:p>
            <a:r>
              <a:rPr b="1" sz="3800">
                <a:solidFill>
                  <a:srgbClr val="FFFFFF"/>
                </a:solidFill>
                <a:latin typeface="Cambria"/>
              </a:rPr>
              <a:t>Demo-day drill: pitch your project</a:t>
            </a:r>
          </a:p>
        </p:txBody>
      </p:sp>
      <p:sp>
        <p:nvSpPr>
          <p:cNvPr id="3" name="Activity tag"/>
          <p:cNvSpPr/>
          <p:nvPr/>
        </p:nvSpPr>
        <p:spPr>
          <a:xfrm>
            <a:off x="822960" y="8229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ACTIVITY · 10 MIN</a:t>
            </a:r>
          </a:p>
        </p:txBody>
      </p:sp>
      <p:sp>
        <p:nvSpPr>
          <p:cNvPr id="4" name="Step 1"/>
          <p:cNvSpPr/>
          <p:nvPr/>
        </p:nvSpPr>
        <p:spPr>
          <a:xfrm>
            <a:off x="822960" y="260604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Instruction 1"/>
          <p:cNvSpPr txBox="1"/>
          <p:nvPr/>
        </p:nvSpPr>
        <p:spPr>
          <a:xfrm>
            <a:off x="1508760" y="256032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Write one sentence: who it helps and how.</a:t>
            </a:r>
          </a:p>
        </p:txBody>
      </p:sp>
      <p:sp>
        <p:nvSpPr>
          <p:cNvPr id="6" name="Step 2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Instruction 2"/>
          <p:cNvSpPr txBox="1"/>
          <p:nvPr/>
        </p:nvSpPr>
        <p:spPr>
          <a:xfrm>
            <a:off x="1508760" y="333756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List Must, Should and Later.</a:t>
            </a:r>
          </a:p>
        </p:txBody>
      </p:sp>
      <p:sp>
        <p:nvSpPr>
          <p:cNvPr id="8" name="Step 3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Instruction 3"/>
          <p:cNvSpPr txBox="1"/>
          <p:nvPr/>
        </p:nvSpPr>
        <p:spPr>
          <a:xfrm>
            <a:off x="1508760" y="411480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Tell it to a neighbour in 60 seconds.</a:t>
            </a:r>
          </a:p>
        </p:txBody>
      </p:sp>
      <p:sp>
        <p:nvSpPr>
          <p:cNvPr id="10" name="Step 4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Instruction 4"/>
          <p:cNvSpPr txBox="1"/>
          <p:nvPr/>
        </p:nvSpPr>
        <p:spPr>
          <a:xfrm>
            <a:off x="1508760" y="489204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Swap and give one question each.</a:t>
            </a:r>
          </a:p>
        </p:txBody>
      </p:sp>
      <p:sp>
        <p:nvSpPr>
          <p:cNvPr id="12" name="Output card"/>
          <p:cNvSpPr/>
          <p:nvPr/>
        </p:nvSpPr>
        <p:spPr>
          <a:xfrm>
            <a:off x="7589520" y="2606040"/>
            <a:ext cx="4069080" cy="3383280"/>
          </a:xfrm>
          <a:prstGeom prst="roundRect">
            <a:avLst>
              <a:gd name="adj" fmla="val 6000"/>
            </a:avLst>
          </a:prstGeom>
          <a:solidFill>
            <a:srgbClr val="111A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utput label"/>
          <p:cNvSpPr txBox="1"/>
          <p:nvPr/>
        </p:nvSpPr>
        <p:spPr>
          <a:xfrm>
            <a:off x="7863840" y="27889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YOU LEAVE WITH</a:t>
            </a:r>
          </a:p>
        </p:txBody>
      </p:sp>
      <p:sp>
        <p:nvSpPr>
          <p:cNvPr id="14" name="Output"/>
          <p:cNvSpPr txBox="1"/>
          <p:nvPr/>
        </p:nvSpPr>
        <p:spPr>
          <a:xfrm>
            <a:off x="7863840" y="3246120"/>
            <a:ext cx="35661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FFFFFF"/>
              </a:buClr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A one-line pitch</a:t>
            </a:r>
          </a:p>
          <a:p>
            <a:pPr algn="l" marL="228600" indent="-228600">
              <a:spcAft>
                <a:spcPts val="800"/>
              </a:spcAft>
              <a:buClr>
                <a:srgbClr val="FFFFFF"/>
              </a:buClr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A scoped plan</a:t>
            </a:r>
          </a:p>
          <a:p>
            <a:pPr algn="l" marL="228600" indent="-228600">
              <a:spcAft>
                <a:spcPts val="800"/>
              </a:spcAft>
              <a:buClr>
                <a:srgbClr val="FFFFFF"/>
              </a:buClr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The first interview answer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Ready to ship checklist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hecklist card"/>
          <p:cNvSpPr/>
          <p:nvPr/>
        </p:nvSpPr>
        <p:spPr>
          <a:xfrm>
            <a:off x="548640" y="1691640"/>
            <a:ext cx="11109960" cy="443484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28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93392"/>
            <a:ext cx="329184" cy="329184"/>
          </a:xfrm>
          <a:prstGeom prst="rect">
            <a:avLst/>
          </a:prstGeom>
        </p:spPr>
      </p:pic>
      <p:sp>
        <p:nvSpPr>
          <p:cNvPr id="129" name="Item 1"/>
          <p:cNvSpPr txBox="1"/>
          <p:nvPr/>
        </p:nvSpPr>
        <p:spPr>
          <a:xfrm>
            <a:off x="1371600" y="1920240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Live link works on a phone</a:t>
            </a:r>
          </a:p>
        </p:txBody>
      </p:sp>
      <p:pic>
        <p:nvPicPr>
          <p:cNvPr id="130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06624"/>
            <a:ext cx="329184" cy="329184"/>
          </a:xfrm>
          <a:prstGeom prst="rect">
            <a:avLst/>
          </a:prstGeom>
        </p:spPr>
      </p:pic>
      <p:sp>
        <p:nvSpPr>
          <p:cNvPr id="131" name="Item 2"/>
          <p:cNvSpPr txBox="1"/>
          <p:nvPr/>
        </p:nvSpPr>
        <p:spPr>
          <a:xfrm>
            <a:off x="1371600" y="2633472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README with screenshot</a:t>
            </a:r>
          </a:p>
        </p:txBody>
      </p:sp>
      <p:pic>
        <p:nvPicPr>
          <p:cNvPr id="132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19856"/>
            <a:ext cx="329184" cy="329184"/>
          </a:xfrm>
          <a:prstGeom prst="rect">
            <a:avLst/>
          </a:prstGeom>
        </p:spPr>
      </p:pic>
      <p:sp>
        <p:nvSpPr>
          <p:cNvPr id="133" name="Item 3"/>
          <p:cNvSpPr txBox="1"/>
          <p:nvPr/>
        </p:nvSpPr>
        <p:spPr>
          <a:xfrm>
            <a:off x="1371600" y="3346704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No secrets in the repo</a:t>
            </a:r>
          </a:p>
        </p:txBody>
      </p:sp>
      <p:pic>
        <p:nvPicPr>
          <p:cNvPr id="134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33087"/>
            <a:ext cx="329184" cy="329184"/>
          </a:xfrm>
          <a:prstGeom prst="rect">
            <a:avLst/>
          </a:prstGeom>
        </p:spPr>
      </p:pic>
      <p:sp>
        <p:nvSpPr>
          <p:cNvPr id="135" name="Item 4"/>
          <p:cNvSpPr txBox="1"/>
          <p:nvPr/>
        </p:nvSpPr>
        <p:spPr>
          <a:xfrm>
            <a:off x="1371600" y="4059935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Three tests on the core feature</a:t>
            </a:r>
          </a:p>
        </p:txBody>
      </p:sp>
      <p:pic>
        <p:nvPicPr>
          <p:cNvPr id="136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846320"/>
            <a:ext cx="329184" cy="329184"/>
          </a:xfrm>
          <a:prstGeom prst="rect">
            <a:avLst/>
          </a:prstGeom>
        </p:spPr>
      </p:pic>
      <p:sp>
        <p:nvSpPr>
          <p:cNvPr id="137" name="Item 5"/>
          <p:cNvSpPr txBox="1"/>
          <p:nvPr/>
        </p:nvSpPr>
        <p:spPr>
          <a:xfrm>
            <a:off x="1371600" y="4773168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Clear commit history</a:t>
            </a:r>
          </a:p>
        </p:txBody>
      </p:sp>
      <p:pic>
        <p:nvPicPr>
          <p:cNvPr id="138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993392"/>
            <a:ext cx="329184" cy="329184"/>
          </a:xfrm>
          <a:prstGeom prst="rect">
            <a:avLst/>
          </a:prstGeom>
        </p:spPr>
      </p:pic>
      <p:sp>
        <p:nvSpPr>
          <p:cNvPr id="139" name="Item 6"/>
          <p:cNvSpPr txBox="1"/>
          <p:nvPr/>
        </p:nvSpPr>
        <p:spPr>
          <a:xfrm>
            <a:off x="6949440" y="1920240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Error pages and empty states</a:t>
            </a:r>
          </a:p>
        </p:txBody>
      </p:sp>
      <p:pic>
        <p:nvPicPr>
          <p:cNvPr id="140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706624"/>
            <a:ext cx="329184" cy="329184"/>
          </a:xfrm>
          <a:prstGeom prst="rect">
            <a:avLst/>
          </a:prstGeom>
        </p:spPr>
      </p:pic>
      <p:sp>
        <p:nvSpPr>
          <p:cNvPr id="141" name="Item 7"/>
          <p:cNvSpPr txBox="1"/>
          <p:nvPr/>
        </p:nvSpPr>
        <p:spPr>
          <a:xfrm>
            <a:off x="6949440" y="2633472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One real user tried it</a:t>
            </a:r>
          </a:p>
        </p:txBody>
      </p:sp>
      <p:pic>
        <p:nvPicPr>
          <p:cNvPr id="142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419856"/>
            <a:ext cx="329184" cy="329184"/>
          </a:xfrm>
          <a:prstGeom prst="rect">
            <a:avLst/>
          </a:prstGeom>
        </p:spPr>
      </p:pic>
      <p:sp>
        <p:nvSpPr>
          <p:cNvPr id="143" name="Item 8"/>
          <p:cNvSpPr txBox="1"/>
          <p:nvPr/>
        </p:nvSpPr>
        <p:spPr>
          <a:xfrm>
            <a:off x="6949440" y="3346704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Resume bullet with a number</a:t>
            </a:r>
          </a:p>
        </p:txBody>
      </p:sp>
      <p:pic>
        <p:nvPicPr>
          <p:cNvPr id="144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133087"/>
            <a:ext cx="329184" cy="329184"/>
          </a:xfrm>
          <a:prstGeom prst="rect">
            <a:avLst/>
          </a:prstGeom>
        </p:spPr>
      </p:pic>
      <p:sp>
        <p:nvSpPr>
          <p:cNvPr id="145" name="Item 9"/>
          <p:cNvSpPr txBox="1"/>
          <p:nvPr/>
        </p:nvSpPr>
        <p:spPr>
          <a:xfrm>
            <a:off x="6949440" y="4059935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Two-minute demo recorded</a:t>
            </a:r>
          </a:p>
        </p:txBody>
      </p:sp>
      <p:pic>
        <p:nvPicPr>
          <p:cNvPr id="146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846320"/>
            <a:ext cx="329184" cy="329184"/>
          </a:xfrm>
          <a:prstGeom prst="rect">
            <a:avLst/>
          </a:prstGeom>
        </p:spPr>
      </p:pic>
      <p:sp>
        <p:nvSpPr>
          <p:cNvPr id="147" name="Item 10"/>
          <p:cNvSpPr txBox="1"/>
          <p:nvPr/>
        </p:nvSpPr>
        <p:spPr>
          <a:xfrm>
            <a:off x="6949440" y="4773168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You can explain every file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Decor purple"/>
          <p:cNvSpPr/>
          <p:nvPr/>
        </p:nvSpPr>
        <p:spPr>
          <a:xfrm>
            <a:off x="9966960" y="-2286000"/>
            <a:ext cx="4754880" cy="47548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Decor cyan"/>
          <p:cNvSpPr/>
          <p:nvPr/>
        </p:nvSpPr>
        <p:spPr>
          <a:xfrm>
            <a:off x="-2377440" y="5120640"/>
            <a:ext cx="4572000" cy="4572000"/>
          </a:xfrm>
          <a:prstGeom prst="ellipse">
            <a:avLst/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ag"/>
          <p:cNvSpPr/>
          <p:nvPr/>
        </p:nvSpPr>
        <p:spPr>
          <a:xfrm>
            <a:off x="822960" y="11887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REMEMBER</a:t>
            </a:r>
          </a:p>
        </p:txBody>
      </p:sp>
      <p:sp>
        <p:nvSpPr>
          <p:cNvPr id="6" name="Statement"/>
          <p:cNvSpPr txBox="1"/>
          <p:nvPr/>
        </p:nvSpPr>
        <p:spPr>
          <a:xfrm>
            <a:off x="822960" y="2011680"/>
            <a:ext cx="100584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Ship small. Show it. Explain it.</a:t>
            </a:r>
          </a:p>
        </p:txBody>
      </p:sp>
      <p:sp>
        <p:nvSpPr>
          <p:cNvPr id="7" name="Sub"/>
          <p:cNvSpPr txBox="1"/>
          <p:nvPr/>
        </p:nvSpPr>
        <p:spPr>
          <a:xfrm>
            <a:off x="822960" y="475488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Calibri"/>
              </a:rPr>
              <a:t>Next: turn skills into your first paying client.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damyaWorkshop">
  <a:themeElements>
    <a:clrScheme name="AdamyaWorkshop">
      <a:dk1>
        <a:srgbClr val="0B1220"/>
      </a:dk1>
      <a:lt1>
        <a:srgbClr val="FFFFFF"/>
      </a:lt1>
      <a:dk2>
        <a:srgbClr val="1E2761"/>
      </a:dk2>
      <a:lt2>
        <a:srgbClr val="EEF2FF"/>
      </a:lt2>
      <a:accent1>
        <a:srgbClr val="7C3AED"/>
      </a:accent1>
      <a:accent2>
        <a:srgbClr val="22D3EE"/>
      </a:accent2>
      <a:accent3>
        <a:srgbClr val="F59E0B"/>
      </a:accent3>
      <a:accent4>
        <a:srgbClr val="10B981"/>
      </a:accent4>
      <a:accent5>
        <a:srgbClr val="EF4444"/>
      </a:accent5>
      <a:accent6>
        <a:srgbClr val="64748B"/>
      </a:accent6>
      <a:hlink>
        <a:srgbClr val="22D3EE"/>
      </a:hlink>
      <a:folHlink>
        <a:srgbClr val="7C3AE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damyaWorkshop">
  <a:themeElements>
    <a:clrScheme name="AdamyaWorkshop">
      <a:dk1>
        <a:srgbClr val="0B1220"/>
      </a:dk1>
      <a:lt1>
        <a:srgbClr val="FFFFFF"/>
      </a:lt1>
      <a:dk2>
        <a:srgbClr val="1E2761"/>
      </a:dk2>
      <a:lt2>
        <a:srgbClr val="EEF2FF"/>
      </a:lt2>
      <a:accent1>
        <a:srgbClr val="7C3AED"/>
      </a:accent1>
      <a:accent2>
        <a:srgbClr val="22D3EE"/>
      </a:accent2>
      <a:accent3>
        <a:srgbClr val="F59E0B"/>
      </a:accent3>
      <a:accent4>
        <a:srgbClr val="10B981"/>
      </a:accent4>
      <a:accent5>
        <a:srgbClr val="EF4444"/>
      </a:accent5>
      <a:accent6>
        <a:srgbClr val="64748B"/>
      </a:accent6>
      <a:hlink>
        <a:srgbClr val="22D3EE"/>
      </a:hlink>
      <a:folHlink>
        <a:srgbClr val="7C3AE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