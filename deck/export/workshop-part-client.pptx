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part that earns money and builds a track record, even if you also plan to take a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who has been paid for tech work before. Usually nobody. That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your own path: your first work came through people who already trusted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skip this. Most students already know their first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Pick the offer closest to something you already built in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Writing what is not included protects you from scope creep, which is the most common first-client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Clients do not care about your stack. They care about their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Send it on WhatsApp or in person for local businesses, email for companies. Keep it under 60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Take notes. The proposal is mostly their own words handed back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single right number. A first project priced too low trains you and the client to undervalue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Send it as a PDF or a Google Doc. A reply of 'yes, go ahead' on WhatsApp or email is still a written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tax and registration rules for your situation: this deck does not give legal or tax advice. Platform escrow handles payment safety for you, which is a benefit of marketplaces.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Missing a deadline silently is the fastest way to lose a client. Tell them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permission before you name a client or show their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could not find one consistent Upwork fee figure, so I left it out. Check the page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Some clients have rules about AI tools and data. Ask early, especially for healthcare and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You can say: I cannot take this one, but here is what I would need to make it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this honestly: it is a goal, and many people earn less at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room. The most common mistake is writing about themselves instead of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five are done in this session. The rest by the end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workshop. Thank the room and ask for one commitment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Dark">
  <p:cSld name="TitleDark">
    <p:bg>
      <p:bgPr>
        <a:solidFill>
          <a:srgbClr val="0B122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Light">
  <p:cSld name="ContentLight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Breaking Into Tech, 2026 — Adamya Kumar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Dark">
  <p:cSld name="SectionDark">
    <p:bg>
      <p:bgPr>
        <a:solidFill>
          <a:srgbClr val="0B122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  <a:defRPr b="1" i="0" sz="3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Dark">
  <p:cSld name="ClosingDark">
    <p:bg>
      <p:bgPr>
        <a:solidFill>
          <a:srgbClr val="0B122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148840"/>
            <a:ext cx="10607040" cy="1554480"/>
          </a:xfrm>
        </p:spPr>
        <p:txBody>
          <a:bodyPr/>
          <a:lstStyle/>
          <a:p>
            <a:r>
              <a:rPr b="1" sz="4600">
                <a:solidFill>
                  <a:srgbClr val="FFFFFF"/>
                </a:solidFill>
                <a:latin typeface="Cambria"/>
              </a:rPr>
              <a:t>Land your first client</a:t>
            </a:r>
          </a:p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Eyebrow"/>
          <p:cNvSpPr txBox="1"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PART 4 OF 4 · CLIENT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38404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Find them, pitch them, price it, deliver it, and get paid.</a:t>
            </a:r>
          </a:p>
        </p:txBody>
      </p:sp>
      <p:sp>
        <p:nvSpPr>
          <p:cNvPr id="7" name="rocket_w circle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1622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icon:rocket_w" descr="df14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0" y="5227990"/>
            <a:ext cx="260786" cy="260786"/>
          </a:xfrm>
          <a:prstGeom prst="rect">
            <a:avLst/>
          </a:prstGeom>
        </p:spPr>
      </p:pic>
      <p:sp>
        <p:nvSpPr>
          <p:cNvPr id="9" name="Presenter"/>
          <p:cNvSpPr txBox="1"/>
          <p:nvPr/>
        </p:nvSpPr>
        <p:spPr>
          <a:xfrm>
            <a:off x="1554480" y="50749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Adamya Kumar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Breaking Into Tech in 2026 · Part 4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What you will leave with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A first offer, a first message, a first price.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target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target" descr="d8fc09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One clear offer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A fixed-scope service you can describe in a sentence.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mail_w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mail_w" descr="6e8c60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A first message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A short pitch you can send today.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dollar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dollar" descr="29c6a7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A price and process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Proposal, advance, delivery and testimonial.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Where first clients actually come from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Warm leads before platforms.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people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people" descr="65bca2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Your network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Family businesses, shops, college clubs, professors, seniors.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phone_w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phone_w" descr="0cfb68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Local businesses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Clinics, salons, tutors, small stores with no site or a bad one.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globe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globe" descr="60298c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Platforms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Upwork, Fiverr and similar. More competition, slower for beginners.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515600" cy="914400"/>
          </a:xfrm>
        </p:spPr>
        <p:txBody>
          <a:bodyPr/>
          <a:lstStyle/>
          <a:p>
            <a:r>
              <a:rPr b="1" sz="3800">
                <a:solidFill>
                  <a:srgbClr val="FFFFFF"/>
                </a:solidFill>
                <a:latin typeface="Cambria"/>
              </a:rPr>
              <a:t>Network map: who do you know?</a:t>
            </a:r>
          </a:p>
        </p:txBody>
      </p:sp>
      <p:sp>
        <p:nvSpPr>
          <p:cNvPr id="3" name="Activity tag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ACTIVITY · 8 MIN</a:t>
            </a:r>
          </a:p>
        </p:txBody>
      </p:sp>
      <p:sp>
        <p:nvSpPr>
          <p:cNvPr id="4" name="Step 1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Instruction 1"/>
          <p:cNvSpPr txBox="1"/>
          <p:nvPr/>
        </p:nvSpPr>
        <p:spPr>
          <a:xfrm>
            <a:off x="1508760" y="25603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Write 10 people who run something: a shop, club, clinic or class.</a:t>
            </a:r>
          </a:p>
        </p:txBody>
      </p:sp>
      <p:sp>
        <p:nvSpPr>
          <p:cNvPr id="6" name="Step 2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Instruction 2"/>
          <p:cNvSpPr txBox="1"/>
          <p:nvPr/>
        </p:nvSpPr>
        <p:spPr>
          <a:xfrm>
            <a:off x="1508760" y="3337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Next to each, note one thing they do manually or badly.</a:t>
            </a:r>
          </a:p>
        </p:txBody>
      </p:sp>
      <p:sp>
        <p:nvSpPr>
          <p:cNvPr id="8" name="Step 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Instruction 3"/>
          <p:cNvSpPr txBox="1"/>
          <p:nvPr/>
        </p:nvSpPr>
        <p:spPr>
          <a:xfrm>
            <a:off x="1508760" y="41148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Circle the three you could help in a weekend.</a:t>
            </a:r>
          </a:p>
        </p:txBody>
      </p:sp>
      <p:sp>
        <p:nvSpPr>
          <p:cNvPr id="10" name="Step 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Instruction 4"/>
          <p:cNvSpPr txBox="1"/>
          <p:nvPr/>
        </p:nvSpPr>
        <p:spPr>
          <a:xfrm>
            <a:off x="1508760" y="48920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Pick one to message this week.</a:t>
            </a:r>
          </a:p>
        </p:txBody>
      </p:sp>
      <p:sp>
        <p:nvSpPr>
          <p:cNvPr id="12" name="Output card"/>
          <p:cNvSpPr/>
          <p:nvPr/>
        </p:nvSpPr>
        <p:spPr>
          <a:xfrm>
            <a:off x="7589520" y="260604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utput label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YOU LEAVE WITH</a:t>
            </a:r>
          </a:p>
        </p:txBody>
      </p:sp>
      <p:sp>
        <p:nvSpPr>
          <p:cNvPr id="14" name="Output"/>
          <p:cNvSpPr txBox="1"/>
          <p:nvPr/>
        </p:nvSpPr>
        <p:spPr>
          <a:xfrm>
            <a:off x="7863840" y="3246120"/>
            <a:ext cx="3566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list of ten warm leads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Three real problems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One person to contact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What to sell: pick one offer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Offer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4709160" y="169164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Typical client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8549640" y="169164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Time to deliver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Simple business website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4709160" y="219456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Local shop or clinic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8549640" y="219456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1 to 2 weeks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Booking or order form with a sheet backend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4709160" y="297180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Salon, tutor, caterer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8549640" y="29718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1 week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WhatsApp or chatbot for FAQs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4709160" y="374904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Coaching class, small store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8549640" y="374904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1 to 2 weeks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452628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4526280"/>
            <a:ext cx="3749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Dashboard from spreadsheets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4709160" y="452628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Small team or shop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8549640" y="452628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1 to 2 weeks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Source: Time estimates are examples. Add buffer for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Make it a fixed-scope offer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Clients buy outcomes, not hours.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The outcome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Customers can book online without calling.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What is included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Five pages, a booking form, mobile layout, one round of changes.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What is not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Extra pages, logo design, ongoing content updates.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The timeline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Ready in 10 days after content arrives.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The price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One number for the whole package.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Pitch the outcome, not the tech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Weak panel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Strong panel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9" name="Weak chip"/>
          <p:cNvSpPr/>
          <p:nvPr/>
        </p:nvSpPr>
        <p:spPr>
          <a:xfrm>
            <a:off x="822960" y="1920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WEAK PITCH</a:t>
            </a:r>
          </a:p>
        </p:txBody>
      </p:sp>
      <p:sp>
        <p:nvSpPr>
          <p:cNvPr id="130" name="Strong chip"/>
          <p:cNvSpPr/>
          <p:nvPr/>
        </p:nvSpPr>
        <p:spPr>
          <a:xfrm>
            <a:off x="6583680" y="1920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STRONG PITCH</a:t>
            </a:r>
          </a:p>
        </p:txBody>
      </p:sp>
      <p:sp>
        <p:nvSpPr>
          <p:cNvPr id="131" name="Arrow"/>
          <p:cNvSpPr/>
          <p:nvPr/>
        </p:nvSpPr>
        <p:spPr>
          <a:xfrm rot="5400000">
            <a:off x="5943600" y="3794760"/>
            <a:ext cx="274320" cy="27432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Weak 1"/>
          <p:cNvSpPr txBox="1"/>
          <p:nvPr/>
        </p:nvSpPr>
        <p:spPr>
          <a:xfrm>
            <a:off x="822960" y="242316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I am a full stack developer who knows React</a:t>
            </a:r>
          </a:p>
        </p:txBody>
      </p:sp>
      <p:sp>
        <p:nvSpPr>
          <p:cNvPr id="133" name="Strong 1"/>
          <p:cNvSpPr txBox="1"/>
          <p:nvPr/>
        </p:nvSpPr>
        <p:spPr>
          <a:xfrm>
            <a:off x="6583680" y="242316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 can get your customers booking online in 10 days</a:t>
            </a:r>
          </a:p>
        </p:txBody>
      </p:sp>
      <p:sp>
        <p:nvSpPr>
          <p:cNvPr id="134" name="Weak 2"/>
          <p:cNvSpPr txBox="1"/>
          <p:nvPr/>
        </p:nvSpPr>
        <p:spPr>
          <a:xfrm>
            <a:off x="822960" y="332613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I will make you a website</a:t>
            </a:r>
          </a:p>
        </p:txBody>
      </p:sp>
      <p:sp>
        <p:nvSpPr>
          <p:cNvPr id="135" name="Strong 2"/>
          <p:cNvSpPr txBox="1"/>
          <p:nvPr/>
        </p:nvSpPr>
        <p:spPr>
          <a:xfrm>
            <a:off x="6583680" y="332613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 site that works on phones and answers common questions</a:t>
            </a:r>
          </a:p>
        </p:txBody>
      </p:sp>
      <p:sp>
        <p:nvSpPr>
          <p:cNvPr id="136" name="Weak 3"/>
          <p:cNvSpPr txBox="1"/>
          <p:nvPr/>
        </p:nvSpPr>
        <p:spPr>
          <a:xfrm>
            <a:off x="822960" y="422910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Please give me a chance</a:t>
            </a:r>
          </a:p>
        </p:txBody>
      </p:sp>
      <p:sp>
        <p:nvSpPr>
          <p:cNvPr id="137" name="Strong 3"/>
          <p:cNvSpPr txBox="1"/>
          <p:nvPr/>
        </p:nvSpPr>
        <p:spPr>
          <a:xfrm>
            <a:off x="6583680" y="422910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Here is a similar site I built, and a free homepage mock-up</a:t>
            </a:r>
          </a:p>
        </p:txBody>
      </p:sp>
      <p:sp>
        <p:nvSpPr>
          <p:cNvPr id="138" name="Weak 4"/>
          <p:cNvSpPr txBox="1"/>
          <p:nvPr/>
        </p:nvSpPr>
        <p:spPr>
          <a:xfrm>
            <a:off x="822960" y="513207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Cheap rates, very flexible</a:t>
            </a:r>
          </a:p>
        </p:txBody>
      </p:sp>
      <p:sp>
        <p:nvSpPr>
          <p:cNvPr id="139" name="Strong 4"/>
          <p:cNvSpPr txBox="1"/>
          <p:nvPr/>
        </p:nvSpPr>
        <p:spPr>
          <a:xfrm>
            <a:off x="6583680" y="5132070"/>
            <a:ext cx="484632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Fixed price with an advance, so we both know the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The first message, in four lines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people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people" descr="65bca2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Greet and name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Who you are and why you are writing to them.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search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search" descr="12be32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One observation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Something specific you noticed about their business.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bulb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bulb" descr="54383f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One idea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How it could be better, in plain words.</a:t>
            </a:r>
          </a:p>
        </p:txBody>
      </p:sp>
      <p:sp>
        <p:nvSpPr>
          <p:cNvPr id="146" name="chat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chat" descr="4036ec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Easy ask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10-minute call this week?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EXAMPLE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Hi Priya, I noticed your salon takes bookings only by phone. I can set up a simple online booking page. Could I show you a 5-minute demo this week?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The discovery call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Listen first. Twenty minutes is enough.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What do you do manually today?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Find the pain in their words.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What happens if nothing changes?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Find the cost of waiting.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What would a good result look like?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Find the success measure.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Who decides, and by when?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Find the budget owner and the deadline.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Repeat it back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Confirm you understood before you propose anything.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Pricing your first project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3611880" y="169164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8183880" y="16916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Good for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Fixed price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3611880" y="219456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One number for the defined scope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8183880" y="219456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First projects, clear deliverables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Hourly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3611880" y="29718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Pay per hour logged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8183880" y="29718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Open-ended maintenance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Retainer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3611880" y="374904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Monthly fee for a set amount of work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8183880" y="374904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Ongoing updates and support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4526280"/>
            <a:ext cx="111099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452628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Value-based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3611880" y="452628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Price tied to the result for them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8183880" y="452628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Later, when you have proof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Source: Start fixed price. Estimate your hours, add 30 to 50 percent buffer, and do not undersell yourself to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A one-page proposal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Short, specific, signed.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Problem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Their situation in their words.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Solution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What you will build, in plain language.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Scope and exclusions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Included and not included.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Timeline and price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Dates, milestones and total.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Terms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Advance, revisions, who owns what, how to say yes.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Getting paid safely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dollar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dollar" descr="29c6a7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Take an advance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Often 30 to 50 percent before work begins.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layers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layers" descr="d9e5fb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Milestones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Pay at agreed stages for larger jobs.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doc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doc" descr="94ed00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Invoice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Name, date, amount, what it covers, payment details.</a:t>
            </a:r>
          </a:p>
        </p:txBody>
      </p:sp>
      <p:sp>
        <p:nvSpPr>
          <p:cNvPr id="146" name="check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check" descr="4f1c2c6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Hand over after final payment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Keep source and domain access until paid.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RULE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Money, scope and dates in writing, always, even for a friend's shop.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Delivery that earns a second project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Small habits that clients remember.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Row 1"/>
          <p:cNvSpPr/>
          <p:nvPr/>
        </p:nvSpPr>
        <p:spPr>
          <a:xfrm>
            <a:off x="548640" y="169164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w 1 number"/>
          <p:cNvSpPr/>
          <p:nvPr/>
        </p:nvSpPr>
        <p:spPr>
          <a:xfrm>
            <a:off x="777240" y="18672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9" name="Row 1 head"/>
          <p:cNvSpPr txBox="1"/>
          <p:nvPr/>
        </p:nvSpPr>
        <p:spPr>
          <a:xfrm>
            <a:off x="1508760" y="169164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Kick-off message</a:t>
            </a:r>
          </a:p>
        </p:txBody>
      </p:sp>
      <p:sp>
        <p:nvSpPr>
          <p:cNvPr id="130" name="Row 1 body"/>
          <p:cNvSpPr txBox="1"/>
          <p:nvPr/>
        </p:nvSpPr>
        <p:spPr>
          <a:xfrm>
            <a:off x="4663440" y="169164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Confirm scope, dates and what you need from them.</a:t>
            </a:r>
          </a:p>
        </p:txBody>
      </p:sp>
      <p:sp>
        <p:nvSpPr>
          <p:cNvPr id="131" name="Row 2"/>
          <p:cNvSpPr/>
          <p:nvPr/>
        </p:nvSpPr>
        <p:spPr>
          <a:xfrm>
            <a:off x="548640" y="2609697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2" name="Row 2 number"/>
          <p:cNvSpPr/>
          <p:nvPr/>
        </p:nvSpPr>
        <p:spPr>
          <a:xfrm>
            <a:off x="777240" y="278526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3" name="Row 2 head"/>
          <p:cNvSpPr txBox="1"/>
          <p:nvPr/>
        </p:nvSpPr>
        <p:spPr>
          <a:xfrm>
            <a:off x="1508760" y="2609697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Weekly update</a:t>
            </a:r>
          </a:p>
        </p:txBody>
      </p:sp>
      <p:sp>
        <p:nvSpPr>
          <p:cNvPr id="134" name="Row 2 body"/>
          <p:cNvSpPr txBox="1"/>
          <p:nvPr/>
        </p:nvSpPr>
        <p:spPr>
          <a:xfrm>
            <a:off x="4663440" y="2609697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short note or screenshot of progress.</a:t>
            </a:r>
          </a:p>
        </p:txBody>
      </p:sp>
      <p:sp>
        <p:nvSpPr>
          <p:cNvPr id="135" name="Row 3"/>
          <p:cNvSpPr/>
          <p:nvPr/>
        </p:nvSpPr>
        <p:spPr>
          <a:xfrm>
            <a:off x="548640" y="3527755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Row 3 number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7" name="Row 3 head"/>
          <p:cNvSpPr txBox="1"/>
          <p:nvPr/>
        </p:nvSpPr>
        <p:spPr>
          <a:xfrm>
            <a:off x="1508760" y="3527755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One review round</a:t>
            </a:r>
          </a:p>
        </p:txBody>
      </p:sp>
      <p:sp>
        <p:nvSpPr>
          <p:cNvPr id="138" name="Row 3 body"/>
          <p:cNvSpPr txBox="1"/>
          <p:nvPr/>
        </p:nvSpPr>
        <p:spPr>
          <a:xfrm>
            <a:off x="4663440" y="3527755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Collect all feedback together, then fix it.</a:t>
            </a:r>
          </a:p>
        </p:txBody>
      </p:sp>
      <p:sp>
        <p:nvSpPr>
          <p:cNvPr id="139" name="Row 4"/>
          <p:cNvSpPr/>
          <p:nvPr/>
        </p:nvSpPr>
        <p:spPr>
          <a:xfrm>
            <a:off x="548640" y="4445812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0" name="Row 4 number"/>
          <p:cNvSpPr/>
          <p:nvPr/>
        </p:nvSpPr>
        <p:spPr>
          <a:xfrm>
            <a:off x="777240" y="4621377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1" name="Row 4 head"/>
          <p:cNvSpPr txBox="1"/>
          <p:nvPr/>
        </p:nvSpPr>
        <p:spPr>
          <a:xfrm>
            <a:off x="1508760" y="4445812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Hand-over</a:t>
            </a:r>
          </a:p>
        </p:txBody>
      </p:sp>
      <p:sp>
        <p:nvSpPr>
          <p:cNvPr id="142" name="Row 4 body"/>
          <p:cNvSpPr txBox="1"/>
          <p:nvPr/>
        </p:nvSpPr>
        <p:spPr>
          <a:xfrm>
            <a:off x="4663440" y="4445812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Credentials, a short guide or video, and how to reach you.</a:t>
            </a:r>
          </a:p>
        </p:txBody>
      </p:sp>
      <p:sp>
        <p:nvSpPr>
          <p:cNvPr id="143" name="Row 5"/>
          <p:cNvSpPr/>
          <p:nvPr/>
        </p:nvSpPr>
        <p:spPr>
          <a:xfrm>
            <a:off x="548640" y="5363870"/>
            <a:ext cx="11109960" cy="808329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4" name="Row 5 number"/>
          <p:cNvSpPr/>
          <p:nvPr/>
        </p:nvSpPr>
        <p:spPr>
          <a:xfrm>
            <a:off x="777240" y="553943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5" name="Row 5 head"/>
          <p:cNvSpPr txBox="1"/>
          <p:nvPr/>
        </p:nvSpPr>
        <p:spPr>
          <a:xfrm>
            <a:off x="1508760" y="5363870"/>
            <a:ext cx="301752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B1220"/>
                </a:solidFill>
                <a:latin typeface="Cambria"/>
              </a:rPr>
              <a:t>Follow up</a:t>
            </a:r>
          </a:p>
        </p:txBody>
      </p:sp>
      <p:sp>
        <p:nvSpPr>
          <p:cNvPr id="146" name="Row 5 body"/>
          <p:cNvSpPr txBox="1"/>
          <p:nvPr/>
        </p:nvSpPr>
        <p:spPr>
          <a:xfrm>
            <a:off x="4663440" y="5363870"/>
            <a:ext cx="6766560" cy="8083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Check in after two weeks.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Turn one job into proof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Path line"/>
          <p:cNvSpPr/>
          <p:nvPr/>
        </p:nvSpPr>
        <p:spPr>
          <a:xfrm>
            <a:off x="1028700" y="2372868"/>
            <a:ext cx="833247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Arrow 1"/>
          <p:cNvSpPr/>
          <p:nvPr/>
        </p:nvSpPr>
        <p:spPr>
          <a:xfrm rot="5400000">
            <a:off x="217741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chat circle"/>
          <p:cNvSpPr/>
          <p:nvPr/>
        </p:nvSpPr>
        <p:spPr>
          <a:xfrm>
            <a:off x="54864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0" name="icon:chat" descr="4036ec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2179472"/>
            <a:ext cx="441655" cy="441655"/>
          </a:xfrm>
          <a:prstGeom prst="rect">
            <a:avLst/>
          </a:prstGeom>
        </p:spPr>
      </p:pic>
      <p:sp>
        <p:nvSpPr>
          <p:cNvPr id="131" name="Step 1"/>
          <p:cNvSpPr/>
          <p:nvPr/>
        </p:nvSpPr>
        <p:spPr>
          <a:xfrm>
            <a:off x="125272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32" name="Step 1 head"/>
          <p:cNvSpPr txBox="1"/>
          <p:nvPr/>
        </p:nvSpPr>
        <p:spPr>
          <a:xfrm>
            <a:off x="54864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Ask for a testimonial</a:t>
            </a:r>
          </a:p>
        </p:txBody>
      </p:sp>
      <p:sp>
        <p:nvSpPr>
          <p:cNvPr id="133" name="Step 1 body"/>
          <p:cNvSpPr txBox="1"/>
          <p:nvPr/>
        </p:nvSpPr>
        <p:spPr>
          <a:xfrm>
            <a:off x="54864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Right after delivery, while they are happy.</a:t>
            </a:r>
          </a:p>
        </p:txBody>
      </p:sp>
      <p:sp>
        <p:nvSpPr>
          <p:cNvPr id="134" name="Arrow 2"/>
          <p:cNvSpPr/>
          <p:nvPr/>
        </p:nvSpPr>
        <p:spPr>
          <a:xfrm rot="5400000">
            <a:off x="4954905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doc circle"/>
          <p:cNvSpPr/>
          <p:nvPr/>
        </p:nvSpPr>
        <p:spPr>
          <a:xfrm>
            <a:off x="332613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6" name="icon:doc" descr="94ed00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362" y="2179472"/>
            <a:ext cx="441655" cy="441655"/>
          </a:xfrm>
          <a:prstGeom prst="rect">
            <a:avLst/>
          </a:prstGeom>
        </p:spPr>
      </p:pic>
      <p:sp>
        <p:nvSpPr>
          <p:cNvPr id="137" name="Step 2"/>
          <p:cNvSpPr/>
          <p:nvPr/>
        </p:nvSpPr>
        <p:spPr>
          <a:xfrm>
            <a:off x="403021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8" name="Step 2 head"/>
          <p:cNvSpPr txBox="1"/>
          <p:nvPr/>
        </p:nvSpPr>
        <p:spPr>
          <a:xfrm>
            <a:off x="332613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Write a case study</a:t>
            </a:r>
          </a:p>
        </p:txBody>
      </p:sp>
      <p:sp>
        <p:nvSpPr>
          <p:cNvPr id="139" name="Step 2 body"/>
          <p:cNvSpPr txBox="1"/>
          <p:nvPr/>
        </p:nvSpPr>
        <p:spPr>
          <a:xfrm>
            <a:off x="332613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Problem, what you built, result.</a:t>
            </a:r>
          </a:p>
        </p:txBody>
      </p:sp>
      <p:sp>
        <p:nvSpPr>
          <p:cNvPr id="140" name="Arrow 3"/>
          <p:cNvSpPr/>
          <p:nvPr/>
        </p:nvSpPr>
        <p:spPr>
          <a:xfrm rot="5400000">
            <a:off x="7732394" y="2281428"/>
            <a:ext cx="237744" cy="237744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globe circle"/>
          <p:cNvSpPr/>
          <p:nvPr/>
        </p:nvSpPr>
        <p:spPr>
          <a:xfrm>
            <a:off x="610362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2" name="icon:globe" descr="60298c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852" y="2179472"/>
            <a:ext cx="441655" cy="441655"/>
          </a:xfrm>
          <a:prstGeom prst="rect">
            <a:avLst/>
          </a:prstGeom>
        </p:spPr>
      </p:pic>
      <p:sp>
        <p:nvSpPr>
          <p:cNvPr id="143" name="Step 3"/>
          <p:cNvSpPr/>
          <p:nvPr/>
        </p:nvSpPr>
        <p:spPr>
          <a:xfrm>
            <a:off x="6807707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44" name="Step 3 head"/>
          <p:cNvSpPr txBox="1"/>
          <p:nvPr/>
        </p:nvSpPr>
        <p:spPr>
          <a:xfrm>
            <a:off x="610362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Update your links</a:t>
            </a:r>
          </a:p>
        </p:txBody>
      </p:sp>
      <p:sp>
        <p:nvSpPr>
          <p:cNvPr id="145" name="Step 3 body"/>
          <p:cNvSpPr txBox="1"/>
          <p:nvPr/>
        </p:nvSpPr>
        <p:spPr>
          <a:xfrm>
            <a:off x="610362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Portfolio, LinkedIn and resume.</a:t>
            </a:r>
          </a:p>
        </p:txBody>
      </p:sp>
      <p:sp>
        <p:nvSpPr>
          <p:cNvPr id="146" name="people circle"/>
          <p:cNvSpPr/>
          <p:nvPr/>
        </p:nvSpPr>
        <p:spPr>
          <a:xfrm>
            <a:off x="8881110" y="192024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icon:people" descr="65bca2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342" y="2179472"/>
            <a:ext cx="441655" cy="441655"/>
          </a:xfrm>
          <a:prstGeom prst="rect">
            <a:avLst/>
          </a:prstGeom>
        </p:spPr>
      </p:pic>
      <p:sp>
        <p:nvSpPr>
          <p:cNvPr id="148" name="Step 4"/>
          <p:cNvSpPr/>
          <p:nvPr/>
        </p:nvSpPr>
        <p:spPr>
          <a:xfrm>
            <a:off x="9585198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149" name="Step 4 head"/>
          <p:cNvSpPr txBox="1"/>
          <p:nvPr/>
        </p:nvSpPr>
        <p:spPr>
          <a:xfrm>
            <a:off x="8881110" y="3154680"/>
            <a:ext cx="25031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Ask for a referral</a:t>
            </a:r>
          </a:p>
        </p:txBody>
      </p:sp>
      <p:sp>
        <p:nvSpPr>
          <p:cNvPr id="150" name="Step 4 body"/>
          <p:cNvSpPr txBox="1"/>
          <p:nvPr/>
        </p:nvSpPr>
        <p:spPr>
          <a:xfrm>
            <a:off x="8881110" y="3840480"/>
            <a:ext cx="250317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Who else do they know who has this problem?</a:t>
            </a:r>
          </a:p>
        </p:txBody>
      </p:sp>
      <p:sp>
        <p:nvSpPr>
          <p:cNvPr id="151" name="Callout band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Callout tag"/>
          <p:cNvSpPr/>
          <p:nvPr/>
        </p:nvSpPr>
        <p:spPr>
          <a:xfrm>
            <a:off x="822960" y="5669280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220"/>
                </a:solidFill>
                <a:latin typeface="Calibri"/>
              </a:rPr>
              <a:t>TIP</a:t>
            </a:r>
          </a:p>
        </p:txBody>
      </p:sp>
      <p:sp>
        <p:nvSpPr>
          <p:cNvPr id="153" name="Callout"/>
          <p:cNvSpPr txBox="1"/>
          <p:nvPr/>
        </p:nvSpPr>
        <p:spPr>
          <a:xfrm>
            <a:off x="2286000" y="553212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220"/>
                </a:solidFill>
                <a:latin typeface="Calibri"/>
              </a:rPr>
              <a:t>Make it easy: send two sentences they can edit and approve.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Platforms compared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Header row"/>
          <p:cNvSpPr/>
          <p:nvPr/>
        </p:nvSpPr>
        <p:spPr>
          <a:xfrm>
            <a:off x="548640" y="1691640"/>
            <a:ext cx="11109959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Head 1"/>
          <p:cNvSpPr txBox="1"/>
          <p:nvPr/>
        </p:nvSpPr>
        <p:spPr>
          <a:xfrm>
            <a:off x="685800" y="16916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29" name="Head 2"/>
          <p:cNvSpPr txBox="1"/>
          <p:nvPr/>
        </p:nvSpPr>
        <p:spPr>
          <a:xfrm>
            <a:off x="3246120" y="16916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130" name="Head 3"/>
          <p:cNvSpPr txBox="1"/>
          <p:nvPr/>
        </p:nvSpPr>
        <p:spPr>
          <a:xfrm>
            <a:off x="7452360" y="1691640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131" name="Row 1"/>
          <p:cNvSpPr/>
          <p:nvPr/>
        </p:nvSpPr>
        <p:spPr>
          <a:xfrm>
            <a:off x="548640" y="2194560"/>
            <a:ext cx="11109959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Cell 1.1"/>
          <p:cNvSpPr txBox="1"/>
          <p:nvPr/>
        </p:nvSpPr>
        <p:spPr>
          <a:xfrm>
            <a:off x="685800" y="21945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Upwork</a:t>
            </a:r>
          </a:p>
        </p:txBody>
      </p:sp>
      <p:sp>
        <p:nvSpPr>
          <p:cNvPr id="133" name="Cell 1.2"/>
          <p:cNvSpPr txBox="1"/>
          <p:nvPr/>
        </p:nvSpPr>
        <p:spPr>
          <a:xfrm>
            <a:off x="3246120" y="21945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Large volume, hourly and fixed jobs</a:t>
            </a:r>
          </a:p>
        </p:txBody>
      </p:sp>
      <p:sp>
        <p:nvSpPr>
          <p:cNvPr id="134" name="Cell 1.3"/>
          <p:cNvSpPr txBox="1"/>
          <p:nvPr/>
        </p:nvSpPr>
        <p:spPr>
          <a:xfrm>
            <a:off x="7452360" y="2194560"/>
            <a:ext cx="4069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Competition and bidding costs</a:t>
            </a:r>
          </a:p>
        </p:txBody>
      </p:sp>
      <p:sp>
        <p:nvSpPr>
          <p:cNvPr id="135" name="Row 2"/>
          <p:cNvSpPr/>
          <p:nvPr/>
        </p:nvSpPr>
        <p:spPr>
          <a:xfrm>
            <a:off x="548640" y="2971800"/>
            <a:ext cx="1110995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Cell 2.1"/>
          <p:cNvSpPr txBox="1"/>
          <p:nvPr/>
        </p:nvSpPr>
        <p:spPr>
          <a:xfrm>
            <a:off x="685800" y="29718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Fiverr</a:t>
            </a:r>
          </a:p>
        </p:txBody>
      </p:sp>
      <p:sp>
        <p:nvSpPr>
          <p:cNvPr id="137" name="Cell 2.2"/>
          <p:cNvSpPr txBox="1"/>
          <p:nvPr/>
        </p:nvSpPr>
        <p:spPr>
          <a:xfrm>
            <a:off x="3246120" y="297180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Productised gigs, clients find you</a:t>
            </a:r>
          </a:p>
        </p:txBody>
      </p:sp>
      <p:sp>
        <p:nvSpPr>
          <p:cNvPr id="138" name="Cell 2.3"/>
          <p:cNvSpPr txBox="1"/>
          <p:nvPr/>
        </p:nvSpPr>
        <p:spPr>
          <a:xfrm>
            <a:off x="7452360" y="2971800"/>
            <a:ext cx="4069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Seller fee of about 20 percent</a:t>
            </a:r>
          </a:p>
        </p:txBody>
      </p:sp>
      <p:sp>
        <p:nvSpPr>
          <p:cNvPr id="139" name="Row 3"/>
          <p:cNvSpPr/>
          <p:nvPr/>
        </p:nvSpPr>
        <p:spPr>
          <a:xfrm>
            <a:off x="548640" y="3749040"/>
            <a:ext cx="11109959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Cell 3.1"/>
          <p:cNvSpPr txBox="1"/>
          <p:nvPr/>
        </p:nvSpPr>
        <p:spPr>
          <a:xfrm>
            <a:off x="685800" y="374904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Direct and local</a:t>
            </a:r>
          </a:p>
        </p:txBody>
      </p:sp>
      <p:sp>
        <p:nvSpPr>
          <p:cNvPr id="141" name="Cell 3.2"/>
          <p:cNvSpPr txBox="1"/>
          <p:nvPr/>
        </p:nvSpPr>
        <p:spPr>
          <a:xfrm>
            <a:off x="3246120" y="374904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No fee, builds loyalty</a:t>
            </a:r>
          </a:p>
        </p:txBody>
      </p:sp>
      <p:sp>
        <p:nvSpPr>
          <p:cNvPr id="142" name="Cell 3.3"/>
          <p:cNvSpPr txBox="1"/>
          <p:nvPr/>
        </p:nvSpPr>
        <p:spPr>
          <a:xfrm>
            <a:off x="7452360" y="3749040"/>
            <a:ext cx="4069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You handle sales and payment</a:t>
            </a:r>
          </a:p>
        </p:txBody>
      </p:sp>
      <p:sp>
        <p:nvSpPr>
          <p:cNvPr id="143" name="Row 4"/>
          <p:cNvSpPr/>
          <p:nvPr/>
        </p:nvSpPr>
        <p:spPr>
          <a:xfrm>
            <a:off x="548640" y="4526280"/>
            <a:ext cx="1110995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Cell 4.1"/>
          <p:cNvSpPr txBox="1"/>
          <p:nvPr/>
        </p:nvSpPr>
        <p:spPr>
          <a:xfrm>
            <a:off x="685800" y="45262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B1220"/>
                </a:solidFill>
                <a:latin typeface="Calibri"/>
              </a:rPr>
              <a:t>LinkedIn and referrals</a:t>
            </a:r>
          </a:p>
        </p:txBody>
      </p:sp>
      <p:sp>
        <p:nvSpPr>
          <p:cNvPr id="145" name="Cell 4.2"/>
          <p:cNvSpPr txBox="1"/>
          <p:nvPr/>
        </p:nvSpPr>
        <p:spPr>
          <a:xfrm>
            <a:off x="3246120" y="452628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Higher trust, better pay</a:t>
            </a:r>
          </a:p>
        </p:txBody>
      </p:sp>
      <p:sp>
        <p:nvSpPr>
          <p:cNvPr id="146" name="Cell 4.3"/>
          <p:cNvSpPr txBox="1"/>
          <p:nvPr/>
        </p:nvSpPr>
        <p:spPr>
          <a:xfrm>
            <a:off x="7452360" y="4526280"/>
            <a:ext cx="4069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Slower to start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Source: Fees and rules change. Confirm current terms on each platform before you rely on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Using AI agents in client work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olumn 1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check circle"/>
          <p:cNvSpPr/>
          <p:nvPr/>
        </p:nvSpPr>
        <p:spPr>
          <a:xfrm>
            <a:off x="822959" y="192024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2080717"/>
            <a:ext cx="273405" cy="273405"/>
          </a:xfrm>
          <a:prstGeom prst="rect">
            <a:avLst/>
          </a:prstGeom>
        </p:spPr>
      </p:pic>
      <p:sp>
        <p:nvSpPr>
          <p:cNvPr id="130" name="Column 1 head"/>
          <p:cNvSpPr txBox="1"/>
          <p:nvPr/>
        </p:nvSpPr>
        <p:spPr>
          <a:xfrm>
            <a:off x="1600200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220"/>
                </a:solidFill>
                <a:latin typeface="Cambria"/>
              </a:rPr>
              <a:t>Do</a:t>
            </a:r>
          </a:p>
        </p:txBody>
      </p:sp>
      <p:sp>
        <p:nvSpPr>
          <p:cNvPr id="131" name="Column 1 bullets"/>
          <p:cNvSpPr txBox="1"/>
          <p:nvPr/>
        </p:nvSpPr>
        <p:spPr>
          <a:xfrm>
            <a:off x="868680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Speed up scaffolding and tests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Review every change before you ship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Use separate keys and repos per client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Tell clients how you work if they ask</a:t>
            </a:r>
          </a:p>
          <a:p>
            <a:pPr algn="l" marL="228600" indent="-228600">
              <a:spcAft>
                <a:spcPts val="700"/>
              </a:spcAft>
              <a:buClr>
                <a:srgbClr val="0B1220"/>
              </a:buClr>
              <a:buChar char="•"/>
            </a:pPr>
            <a:r>
              <a:rPr sz="1500" b="0" i="0">
                <a:solidFill>
                  <a:srgbClr val="0B1220"/>
                </a:solidFill>
                <a:latin typeface="Calibri"/>
              </a:rPr>
              <a:t>Keep a human check on quality</a:t>
            </a:r>
          </a:p>
        </p:txBody>
      </p:sp>
      <p:sp>
        <p:nvSpPr>
          <p:cNvPr id="132" name="Column 2"/>
          <p:cNvSpPr/>
          <p:nvPr/>
        </p:nvSpPr>
        <p:spPr>
          <a:xfrm>
            <a:off x="6217920" y="1691640"/>
            <a:ext cx="5440680" cy="44348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x circle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x" descr="7ef058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080717"/>
            <a:ext cx="273405" cy="273405"/>
          </a:xfrm>
          <a:prstGeom prst="rect">
            <a:avLst/>
          </a:prstGeom>
        </p:spPr>
      </p:pic>
      <p:sp>
        <p:nvSpPr>
          <p:cNvPr id="135" name="Column 2 head"/>
          <p:cNvSpPr txBox="1"/>
          <p:nvPr/>
        </p:nvSpPr>
        <p:spPr>
          <a:xfrm>
            <a:off x="7269479" y="19202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Do not</a:t>
            </a:r>
          </a:p>
        </p:txBody>
      </p:sp>
      <p:sp>
        <p:nvSpPr>
          <p:cNvPr id="136" name="Column 2 bullets"/>
          <p:cNvSpPr txBox="1"/>
          <p:nvPr/>
        </p:nvSpPr>
        <p:spPr>
          <a:xfrm>
            <a:off x="6537959" y="27432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Paste client secrets or private data into tools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Deliver code you cannot explain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Promise a deadline based on AI speed alone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Ignore licences and data rules</a:t>
            </a:r>
          </a:p>
          <a:p>
            <a:pPr algn="l" marL="228600" indent="-228600">
              <a:spcAft>
                <a:spcPts val="700"/>
              </a:spcAft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Skip testing on real devices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Red flags to walk away from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A bad first client costs more than no client.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ard 1"/>
          <p:cNvSpPr/>
          <p:nvPr/>
        </p:nvSpPr>
        <p:spPr>
          <a:xfrm>
            <a:off x="548640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x circle"/>
          <p:cNvSpPr/>
          <p:nvPr/>
        </p:nvSpPr>
        <p:spPr>
          <a:xfrm>
            <a:off x="82295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icon:x" descr="7ef058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" y="2138781"/>
            <a:ext cx="294436" cy="294436"/>
          </a:xfrm>
          <a:prstGeom prst="rect">
            <a:avLst/>
          </a:prstGeom>
        </p:spPr>
      </p:pic>
      <p:sp>
        <p:nvSpPr>
          <p:cNvPr id="130" name="Card 1 head"/>
          <p:cNvSpPr txBox="1"/>
          <p:nvPr/>
        </p:nvSpPr>
        <p:spPr>
          <a:xfrm>
            <a:off x="82295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Vague scope</a:t>
            </a:r>
          </a:p>
        </p:txBody>
      </p:sp>
      <p:sp>
        <p:nvSpPr>
          <p:cNvPr id="131" name="Card 1 body"/>
          <p:cNvSpPr txBox="1"/>
          <p:nvPr/>
        </p:nvSpPr>
        <p:spPr>
          <a:xfrm>
            <a:off x="82295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'We will figure it out as we go' with a fixed price.</a:t>
            </a:r>
          </a:p>
        </p:txBody>
      </p:sp>
      <p:sp>
        <p:nvSpPr>
          <p:cNvPr id="132" name="Card 2"/>
          <p:cNvSpPr/>
          <p:nvPr/>
        </p:nvSpPr>
        <p:spPr>
          <a:xfrm>
            <a:off x="432815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3" name="dollar circle"/>
          <p:cNvSpPr/>
          <p:nvPr/>
        </p:nvSpPr>
        <p:spPr>
          <a:xfrm>
            <a:off x="4602479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icon:dollar" descr="29c6a7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01" y="2138781"/>
            <a:ext cx="294436" cy="294436"/>
          </a:xfrm>
          <a:prstGeom prst="rect">
            <a:avLst/>
          </a:prstGeom>
        </p:spPr>
      </p:pic>
      <p:sp>
        <p:nvSpPr>
          <p:cNvPr id="135" name="Card 2 head"/>
          <p:cNvSpPr txBox="1"/>
          <p:nvPr/>
        </p:nvSpPr>
        <p:spPr>
          <a:xfrm>
            <a:off x="460247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No advance</a:t>
            </a:r>
          </a:p>
        </p:txBody>
      </p:sp>
      <p:sp>
        <p:nvSpPr>
          <p:cNvPr id="136" name="Card 2 body"/>
          <p:cNvSpPr txBox="1"/>
          <p:nvPr/>
        </p:nvSpPr>
        <p:spPr>
          <a:xfrm>
            <a:off x="460247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Large work, no payment up front, no contract.</a:t>
            </a:r>
          </a:p>
        </p:txBody>
      </p:sp>
      <p:sp>
        <p:nvSpPr>
          <p:cNvPr id="137" name="Card 3"/>
          <p:cNvSpPr/>
          <p:nvPr/>
        </p:nvSpPr>
        <p:spPr>
          <a:xfrm>
            <a:off x="8107679" y="1691640"/>
            <a:ext cx="3550920" cy="3931920"/>
          </a:xfrm>
          <a:prstGeom prst="roundRect">
            <a:avLst>
              <a:gd name="adj" fmla="val 7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8" name="chat circle"/>
          <p:cNvSpPr/>
          <p:nvPr/>
        </p:nvSpPr>
        <p:spPr>
          <a:xfrm>
            <a:off x="8381999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9" name="icon:chat" descr="4036ec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821" y="2138781"/>
            <a:ext cx="294436" cy="294436"/>
          </a:xfrm>
          <a:prstGeom prst="rect">
            <a:avLst/>
          </a:prstGeom>
        </p:spPr>
      </p:pic>
      <p:sp>
        <p:nvSpPr>
          <p:cNvPr id="140" name="Card 3 head"/>
          <p:cNvSpPr txBox="1"/>
          <p:nvPr/>
        </p:nvSpPr>
        <p:spPr>
          <a:xfrm>
            <a:off x="8381999" y="2788920"/>
            <a:ext cx="3002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1220"/>
                </a:solidFill>
                <a:latin typeface="Cambria"/>
              </a:rPr>
              <a:t>Pressure and mood swings</a:t>
            </a:r>
          </a:p>
        </p:txBody>
      </p:sp>
      <p:sp>
        <p:nvSpPr>
          <p:cNvPr id="141" name="Card 3 body"/>
          <p:cNvSpPr txBox="1"/>
          <p:nvPr/>
        </p:nvSpPr>
        <p:spPr>
          <a:xfrm>
            <a:off x="8381999" y="3566160"/>
            <a:ext cx="30022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Constant late-night changes and no clear owner.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"/>
          <p:cNvSpPr txBox="1"/>
          <p:nvPr/>
        </p:nvSpPr>
        <p:spPr>
          <a:xfrm>
            <a:off x="822960" y="137160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0" b="1" i="0">
                <a:solidFill>
                  <a:srgbClr val="F59E0B"/>
                </a:solidFill>
                <a:latin typeface="Cambria"/>
              </a:rPr>
              <a:t>$500+</a:t>
            </a:r>
          </a:p>
        </p:txBody>
      </p:sp>
      <p:sp>
        <p:nvSpPr>
          <p:cNvPr id="6" name="Label"/>
          <p:cNvSpPr txBox="1"/>
          <p:nvPr/>
        </p:nvSpPr>
        <p:spPr>
          <a:xfrm>
            <a:off x="822960" y="3749039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per month: a first target, up to about $2,000 with a few recurring clients</a:t>
            </a:r>
          </a:p>
        </p:txBody>
      </p:sp>
      <p:sp>
        <p:nvSpPr>
          <p:cNvPr id="7" name="Points card"/>
          <p:cNvSpPr/>
          <p:nvPr/>
        </p:nvSpPr>
        <p:spPr>
          <a:xfrm>
            <a:off x="6675120" y="1371600"/>
            <a:ext cx="4937760" cy="4480560"/>
          </a:xfrm>
          <a:prstGeom prst="roundRect">
            <a:avLst>
              <a:gd name="adj" fmla="val 5000"/>
            </a:avLst>
          </a:prstGeom>
          <a:solidFill>
            <a:srgbClr val="11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ints"/>
          <p:cNvSpPr txBox="1"/>
          <p:nvPr/>
        </p:nvSpPr>
        <p:spPr>
          <a:xfrm>
            <a:off x="6995160" y="1691640"/>
            <a:ext cx="43891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200"/>
              </a:spcAft>
              <a:buClr>
                <a:srgbClr val="FFFFFF"/>
              </a:buClr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Often from two or three small recurring clients</a:t>
            </a:r>
          </a:p>
          <a:p>
            <a:pPr algn="l" marL="228600" indent="-228600">
              <a:spcAft>
                <a:spcPts val="1200"/>
              </a:spcAft>
              <a:buClr>
                <a:srgbClr val="FFFFFF"/>
              </a:buClr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Retainers for updates and support are the steadiest</a:t>
            </a:r>
          </a:p>
          <a:p>
            <a:pPr algn="l" marL="228600" indent="-228600">
              <a:spcAft>
                <a:spcPts val="1200"/>
              </a:spcAft>
              <a:buClr>
                <a:srgbClr val="FFFFFF"/>
              </a:buClr>
              <a:buChar char="•"/>
            </a:pPr>
            <a:r>
              <a:rPr sz="1700" b="0" i="0">
                <a:solidFill>
                  <a:srgbClr val="FFFFFF"/>
                </a:solidFill>
                <a:latin typeface="Calibri"/>
              </a:rPr>
              <a:t>Treat it as a goal, not a promise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Source: Target from the workshop deck, not a verified statistic. Actual earnings vary widely.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515600" cy="914400"/>
          </a:xfrm>
        </p:spPr>
        <p:txBody>
          <a:bodyPr/>
          <a:lstStyle/>
          <a:p>
            <a:r>
              <a:rPr b="1" sz="3800">
                <a:solidFill>
                  <a:srgbClr val="FFFFFF"/>
                </a:solidFill>
                <a:latin typeface="Cambria"/>
              </a:rPr>
              <a:t>Write your first pitch</a:t>
            </a:r>
          </a:p>
        </p:txBody>
      </p:sp>
      <p:sp>
        <p:nvSpPr>
          <p:cNvPr id="3" name="Activity tag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ACTIVITY · 10 MIN</a:t>
            </a:r>
          </a:p>
        </p:txBody>
      </p:sp>
      <p:sp>
        <p:nvSpPr>
          <p:cNvPr id="4" name="Step 1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Instruction 1"/>
          <p:cNvSpPr txBox="1"/>
          <p:nvPr/>
        </p:nvSpPr>
        <p:spPr>
          <a:xfrm>
            <a:off x="1508760" y="25603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Pick one person from your network map.</a:t>
            </a:r>
          </a:p>
        </p:txBody>
      </p:sp>
      <p:sp>
        <p:nvSpPr>
          <p:cNvPr id="6" name="Step 2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Instruction 2"/>
          <p:cNvSpPr txBox="1"/>
          <p:nvPr/>
        </p:nvSpPr>
        <p:spPr>
          <a:xfrm>
            <a:off x="1508760" y="3337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Write the four-line first message.</a:t>
            </a:r>
          </a:p>
        </p:txBody>
      </p:sp>
      <p:sp>
        <p:nvSpPr>
          <p:cNvPr id="8" name="Step 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Instruction 3"/>
          <p:cNvSpPr txBox="1"/>
          <p:nvPr/>
        </p:nvSpPr>
        <p:spPr>
          <a:xfrm>
            <a:off x="1508760" y="41148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Read it aloud to a neighbour.</a:t>
            </a:r>
          </a:p>
        </p:txBody>
      </p:sp>
      <p:sp>
        <p:nvSpPr>
          <p:cNvPr id="10" name="Step 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Instruction 4"/>
          <p:cNvSpPr txBox="1"/>
          <p:nvPr/>
        </p:nvSpPr>
        <p:spPr>
          <a:xfrm>
            <a:off x="1508760" y="489204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Send it today, or schedule it.</a:t>
            </a:r>
          </a:p>
        </p:txBody>
      </p:sp>
      <p:sp>
        <p:nvSpPr>
          <p:cNvPr id="12" name="Output card"/>
          <p:cNvSpPr/>
          <p:nvPr/>
        </p:nvSpPr>
        <p:spPr>
          <a:xfrm>
            <a:off x="7589520" y="260604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utput label"/>
          <p:cNvSpPr txBox="1"/>
          <p:nvPr/>
        </p:nvSpPr>
        <p:spPr>
          <a:xfrm>
            <a:off x="786384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YOU LEAVE WITH</a:t>
            </a:r>
          </a:p>
        </p:txBody>
      </p:sp>
      <p:sp>
        <p:nvSpPr>
          <p:cNvPr id="14" name="Output"/>
          <p:cNvSpPr txBox="1"/>
          <p:nvPr/>
        </p:nvSpPr>
        <p:spPr>
          <a:xfrm>
            <a:off x="7863840" y="3246120"/>
            <a:ext cx="35661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sent message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named offer</a:t>
            </a:r>
          </a:p>
          <a:p>
            <a:pPr algn="l" marL="228600" indent="-228600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date for a first call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mbria"/>
              </a:rPr>
              <a:t>Your launch checklist</a:t>
            </a: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Checklist card"/>
          <p:cNvSpPr/>
          <p:nvPr/>
        </p:nvSpPr>
        <p:spPr>
          <a:xfrm>
            <a:off x="548640" y="1691640"/>
            <a:ext cx="11109960" cy="44348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  <a:effectLst>
            <a:outerShdw blurRad="95250" dist="25400" dir="5400000" algn="t" rotWithShape="0">
              <a:srgbClr val="1E2761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8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93392"/>
            <a:ext cx="329184" cy="329184"/>
          </a:xfrm>
          <a:prstGeom prst="rect">
            <a:avLst/>
          </a:prstGeom>
        </p:spPr>
      </p:pic>
      <p:sp>
        <p:nvSpPr>
          <p:cNvPr id="129" name="Item 1"/>
          <p:cNvSpPr txBox="1"/>
          <p:nvPr/>
        </p:nvSpPr>
        <p:spPr>
          <a:xfrm>
            <a:off x="1371600" y="1920240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Offer written in one sentence</a:t>
            </a:r>
          </a:p>
        </p:txBody>
      </p:sp>
      <p:pic>
        <p:nvPicPr>
          <p:cNvPr id="130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06624"/>
            <a:ext cx="329184" cy="329184"/>
          </a:xfrm>
          <a:prstGeom prst="rect">
            <a:avLst/>
          </a:prstGeom>
        </p:spPr>
      </p:pic>
      <p:sp>
        <p:nvSpPr>
          <p:cNvPr id="131" name="Item 2"/>
          <p:cNvSpPr txBox="1"/>
          <p:nvPr/>
        </p:nvSpPr>
        <p:spPr>
          <a:xfrm>
            <a:off x="1371600" y="2633472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Three similar samples ready</a:t>
            </a:r>
          </a:p>
        </p:txBody>
      </p:sp>
      <p:pic>
        <p:nvPicPr>
          <p:cNvPr id="132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329184" cy="329184"/>
          </a:xfrm>
          <a:prstGeom prst="rect">
            <a:avLst/>
          </a:prstGeom>
        </p:spPr>
      </p:pic>
      <p:sp>
        <p:nvSpPr>
          <p:cNvPr id="133" name="Item 3"/>
          <p:cNvSpPr txBox="1"/>
          <p:nvPr/>
        </p:nvSpPr>
        <p:spPr>
          <a:xfrm>
            <a:off x="1371600" y="3346704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Pitch message drafted</a:t>
            </a:r>
          </a:p>
        </p:txBody>
      </p:sp>
      <p:pic>
        <p:nvPicPr>
          <p:cNvPr id="134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33087"/>
            <a:ext cx="329184" cy="329184"/>
          </a:xfrm>
          <a:prstGeom prst="rect">
            <a:avLst/>
          </a:prstGeom>
        </p:spPr>
      </p:pic>
      <p:sp>
        <p:nvSpPr>
          <p:cNvPr id="135" name="Item 4"/>
          <p:cNvSpPr txBox="1"/>
          <p:nvPr/>
        </p:nvSpPr>
        <p:spPr>
          <a:xfrm>
            <a:off x="1371600" y="4059935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Ten warm leads listed</a:t>
            </a:r>
          </a:p>
        </p:txBody>
      </p:sp>
      <p:pic>
        <p:nvPicPr>
          <p:cNvPr id="136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46320"/>
            <a:ext cx="329184" cy="329184"/>
          </a:xfrm>
          <a:prstGeom prst="rect">
            <a:avLst/>
          </a:prstGeom>
        </p:spPr>
      </p:pic>
      <p:sp>
        <p:nvSpPr>
          <p:cNvPr id="137" name="Item 5"/>
          <p:cNvSpPr txBox="1"/>
          <p:nvPr/>
        </p:nvSpPr>
        <p:spPr>
          <a:xfrm>
            <a:off x="1371600" y="4773168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Proposal template saved</a:t>
            </a:r>
          </a:p>
        </p:txBody>
      </p:sp>
      <p:pic>
        <p:nvPicPr>
          <p:cNvPr id="138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93392"/>
            <a:ext cx="329184" cy="329184"/>
          </a:xfrm>
          <a:prstGeom prst="rect">
            <a:avLst/>
          </a:prstGeom>
        </p:spPr>
      </p:pic>
      <p:sp>
        <p:nvSpPr>
          <p:cNvPr id="139" name="Item 6"/>
          <p:cNvSpPr txBox="1"/>
          <p:nvPr/>
        </p:nvSpPr>
        <p:spPr>
          <a:xfrm>
            <a:off x="6949440" y="1920240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Invoice template saved</a:t>
            </a:r>
          </a:p>
        </p:txBody>
      </p:sp>
      <p:pic>
        <p:nvPicPr>
          <p:cNvPr id="140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06624"/>
            <a:ext cx="329184" cy="329184"/>
          </a:xfrm>
          <a:prstGeom prst="rect">
            <a:avLst/>
          </a:prstGeom>
        </p:spPr>
      </p:pic>
      <p:sp>
        <p:nvSpPr>
          <p:cNvPr id="141" name="Item 7"/>
          <p:cNvSpPr txBox="1"/>
          <p:nvPr/>
        </p:nvSpPr>
        <p:spPr>
          <a:xfrm>
            <a:off x="6949440" y="2633472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Price and advance decided</a:t>
            </a:r>
          </a:p>
        </p:txBody>
      </p:sp>
      <p:pic>
        <p:nvPicPr>
          <p:cNvPr id="142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19856"/>
            <a:ext cx="329184" cy="329184"/>
          </a:xfrm>
          <a:prstGeom prst="rect">
            <a:avLst/>
          </a:prstGeom>
        </p:spPr>
      </p:pic>
      <p:sp>
        <p:nvSpPr>
          <p:cNvPr id="143" name="Item 8"/>
          <p:cNvSpPr txBox="1"/>
          <p:nvPr/>
        </p:nvSpPr>
        <p:spPr>
          <a:xfrm>
            <a:off x="6949440" y="3346704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Portfolio link live</a:t>
            </a:r>
          </a:p>
        </p:txBody>
      </p:sp>
      <p:pic>
        <p:nvPicPr>
          <p:cNvPr id="144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33087"/>
            <a:ext cx="329184" cy="329184"/>
          </a:xfrm>
          <a:prstGeom prst="rect">
            <a:avLst/>
          </a:prstGeom>
        </p:spPr>
      </p:pic>
      <p:sp>
        <p:nvSpPr>
          <p:cNvPr id="145" name="Item 9"/>
          <p:cNvSpPr txBox="1"/>
          <p:nvPr/>
        </p:nvSpPr>
        <p:spPr>
          <a:xfrm>
            <a:off x="6949440" y="4059935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First message sent</a:t>
            </a:r>
          </a:p>
        </p:txBody>
      </p:sp>
      <p:pic>
        <p:nvPicPr>
          <p:cNvPr id="146" name="icon:check" descr="4f1c2c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846320"/>
            <a:ext cx="329184" cy="329184"/>
          </a:xfrm>
          <a:prstGeom prst="rect">
            <a:avLst/>
          </a:prstGeom>
        </p:spPr>
      </p:pic>
      <p:sp>
        <p:nvSpPr>
          <p:cNvPr id="147" name="Item 10"/>
          <p:cNvSpPr txBox="1"/>
          <p:nvPr/>
        </p:nvSpPr>
        <p:spPr>
          <a:xfrm>
            <a:off x="6949440" y="4773168"/>
            <a:ext cx="47548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1220"/>
                </a:solidFill>
                <a:latin typeface="Calibri"/>
              </a:rPr>
              <a:t>Follow-up date set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Decor purple"/>
          <p:cNvSpPr/>
          <p:nvPr/>
        </p:nvSpPr>
        <p:spPr>
          <a:xfrm>
            <a:off x="9966960" y="-228600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or cyan"/>
          <p:cNvSpPr/>
          <p:nvPr/>
        </p:nvSpPr>
        <p:spPr>
          <a:xfrm>
            <a:off x="-2377440" y="5120640"/>
            <a:ext cx="4572000" cy="457200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ag"/>
          <p:cNvSpPr/>
          <p:nvPr/>
        </p:nvSpPr>
        <p:spPr>
          <a:xfrm>
            <a:off x="822960" y="1188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220"/>
                </a:solidFill>
                <a:latin typeface="Calibri"/>
              </a:rPr>
              <a:t>REMEMBER</a:t>
            </a:r>
          </a:p>
        </p:txBody>
      </p:sp>
      <p:sp>
        <p:nvSpPr>
          <p:cNvPr id="6" name="Statement"/>
          <p:cNvSpPr txBox="1"/>
          <p:nvPr/>
        </p:nvSpPr>
        <p:spPr>
          <a:xfrm>
            <a:off x="822960" y="2011680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Your first client is already in your phone.</a:t>
            </a:r>
          </a:p>
        </p:txBody>
      </p:sp>
      <p:sp>
        <p:nvSpPr>
          <p:cNvPr id="7" name="Sub"/>
          <p:cNvSpPr txBox="1"/>
          <p:nvPr/>
        </p:nvSpPr>
        <p:spPr>
          <a:xfrm>
            <a:off x="822960" y="475488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Message one person this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