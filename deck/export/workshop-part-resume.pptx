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Welcome. In this part we fix the single document that decides whether anyone ever sees your projects. 60 minutes: how resumes are read, how to write bullets, how to tailor, then two short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outcome: they will edit their own resume during the session. Ask them to open it now on a laptop or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every company uses an ATS the same way and some are more forgiving than others, so the safe move is a simple layout. The point: you are writing for a parser first and a human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7-second figure is widely quoted and I have not found a single authoritative study, so say 'commonly quoted' and use it as a mindset, not a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Advice here is consistent across ATS guides, but most are from resume vendors, so keep it simple rather than chasing rules. Test: paste your resume into a plain-text editor. If the order is scrambled, a parser may struggle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Freshers should keep to one page: nobody scrolls to page two. If a project or internship is stronger than your degree, it goes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each link on your phone before you send. A broken portfolio link is worse than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example left to right. Ask the room which part is missing from their own weakest bullet.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 column: vague duties. Right column: specific outcomes. Notice that none of the strong bullets use the word 'responsible'.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room. If someone has no number, point them to the next slide: numbers hide in users, speed and time saved.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 numbers only. 'Used by 12 classmates' is better than an invented 10,000 and survives the interview question 'how did you measure that?'.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 real example from the room if someone volunteers, otherwise use Profly AI as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long skills list is a risk, not a bonus: every item is a possible interview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a master resume with everything, then cut down per application. Never lie to match a keyword.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Recruiters often check LinkedIn first. Mismatched dates or titles between resume and LinkedIn raise doubt.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LaTeX is a means, not a requirement. Do not let template hunting replace writing good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Hand the checklist around. The last item is the one that matters in the interview.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it with a visible clock. The gap between what you meant and what they remembered is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each person to commit to the first item before they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part. Point to the next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Dark">
  <p:cSld name="TitleDark">
    <p:bg>
      <p:bgPr>
        <a:solidFill>
          <a:srgbClr val="0B122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  <a:defRPr b="1" i="0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Light">
  <p:cSld name="ContentLight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Breaking Into Tech, 2026 — Adamya Kumar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Dark">
  <p:cSld name="SectionDark">
    <p:bg>
      <p:bgPr>
        <a:solidFill>
          <a:srgbClr val="0B122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  <a:defRPr b="1" i="0" sz="3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Dark">
  <p:cSld name="ClosingDark">
    <p:bg>
      <p:bgPr>
        <a:solidFill>
          <a:srgbClr val="0B122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mbria"/>
              <a:buNone/>
              <a:defRPr b="1" i="0" sz="32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148840"/>
            <a:ext cx="10607040" cy="1554480"/>
          </a:xfrm>
        </p:spPr>
        <p:txBody>
          <a:bodyPr/>
          <a:lstStyle/>
          <a:p>
            <a:r>
              <a:rPr b="1" sz="4600">
                <a:solidFill>
                  <a:srgbClr val="FFFFFF"/>
                </a:solidFill>
                <a:latin typeface="Cambria"/>
              </a:rPr>
              <a:t>A resume that gets read</a:t>
            </a:r>
          </a:p>
        </p:txBody>
      </p:sp>
      <p:sp>
        <p:nvSpPr>
          <p:cNvPr id="3" name="Decor purple"/>
          <p:cNvSpPr/>
          <p:nvPr/>
        </p:nvSpPr>
        <p:spPr>
          <a:xfrm>
            <a:off x="9966960" y="-2286000"/>
            <a:ext cx="4754880" cy="4754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ecor cyan"/>
          <p:cNvSpPr/>
          <p:nvPr/>
        </p:nvSpPr>
        <p:spPr>
          <a:xfrm>
            <a:off x="-2377440" y="5120640"/>
            <a:ext cx="4572000" cy="457200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Eyebrow"/>
          <p:cNvSpPr txBox="1"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PART 1 OF 4 · RESUME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22960" y="38404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One page. Real numbers. A live link. Built for the software that parses it and the person who skims it.</a:t>
            </a:r>
          </a:p>
        </p:txBody>
      </p:sp>
      <p:sp>
        <p:nvSpPr>
          <p:cNvPr id="7" name="rocket_w circle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1622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icon:rocket_w" descr="df14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0" y="5227990"/>
            <a:ext cx="260786" cy="260786"/>
          </a:xfrm>
          <a:prstGeom prst="rect">
            <a:avLst/>
          </a:prstGeom>
        </p:spPr>
      </p:pic>
      <p:sp>
        <p:nvSpPr>
          <p:cNvPr id="9" name="Presenter"/>
          <p:cNvSpPr txBox="1"/>
          <p:nvPr/>
        </p:nvSpPr>
        <p:spPr>
          <a:xfrm>
            <a:off x="1554480" y="507492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Adamya Kumar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Breaking Into Tech in 2026 · Part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What you will leave with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Three things you can use the same day.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ard 1"/>
          <p:cNvSpPr/>
          <p:nvPr/>
        </p:nvSpPr>
        <p:spPr>
          <a:xfrm>
            <a:off x="548640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doc circle"/>
          <p:cNvSpPr/>
          <p:nvPr/>
        </p:nvSpPr>
        <p:spPr>
          <a:xfrm>
            <a:off x="82295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doc" descr="94ed00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" y="2138781"/>
            <a:ext cx="294436" cy="294436"/>
          </a:xfrm>
          <a:prstGeom prst="rect">
            <a:avLst/>
          </a:prstGeom>
        </p:spPr>
      </p:pic>
      <p:sp>
        <p:nvSpPr>
          <p:cNvPr id="130" name="Card 1 head"/>
          <p:cNvSpPr txBox="1"/>
          <p:nvPr/>
        </p:nvSpPr>
        <p:spPr>
          <a:xfrm>
            <a:off x="82295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A one-page resume</a:t>
            </a:r>
          </a:p>
        </p:txBody>
      </p:sp>
      <p:sp>
        <p:nvSpPr>
          <p:cNvPr id="131" name="Card 1 body"/>
          <p:cNvSpPr txBox="1"/>
          <p:nvPr/>
        </p:nvSpPr>
        <p:spPr>
          <a:xfrm>
            <a:off x="82295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A clean structure that survives parsing software and a quick skim.</a:t>
            </a:r>
          </a:p>
        </p:txBody>
      </p:sp>
      <p:sp>
        <p:nvSpPr>
          <p:cNvPr id="132" name="Card 2"/>
          <p:cNvSpPr/>
          <p:nvPr/>
        </p:nvSpPr>
        <p:spPr>
          <a:xfrm>
            <a:off x="432815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target circle"/>
          <p:cNvSpPr/>
          <p:nvPr/>
        </p:nvSpPr>
        <p:spPr>
          <a:xfrm>
            <a:off x="4602479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target" descr="d8fc09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301" y="2138781"/>
            <a:ext cx="294436" cy="294436"/>
          </a:xfrm>
          <a:prstGeom prst="rect">
            <a:avLst/>
          </a:prstGeom>
        </p:spPr>
      </p:pic>
      <p:sp>
        <p:nvSpPr>
          <p:cNvPr id="135" name="Card 2 head"/>
          <p:cNvSpPr txBox="1"/>
          <p:nvPr/>
        </p:nvSpPr>
        <p:spPr>
          <a:xfrm>
            <a:off x="460247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Bullets with proof</a:t>
            </a:r>
          </a:p>
        </p:txBody>
      </p:sp>
      <p:sp>
        <p:nvSpPr>
          <p:cNvPr id="136" name="Card 2 body"/>
          <p:cNvSpPr txBox="1"/>
          <p:nvPr/>
        </p:nvSpPr>
        <p:spPr>
          <a:xfrm>
            <a:off x="460247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Every line follows one formula: action, tool, measurable result.</a:t>
            </a:r>
          </a:p>
        </p:txBody>
      </p:sp>
      <p:sp>
        <p:nvSpPr>
          <p:cNvPr id="137" name="Card 3"/>
          <p:cNvSpPr/>
          <p:nvPr/>
        </p:nvSpPr>
        <p:spPr>
          <a:xfrm>
            <a:off x="810767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bolt circle"/>
          <p:cNvSpPr/>
          <p:nvPr/>
        </p:nvSpPr>
        <p:spPr>
          <a:xfrm>
            <a:off x="838199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bolt" descr="366e19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821" y="2138781"/>
            <a:ext cx="294436" cy="294436"/>
          </a:xfrm>
          <a:prstGeom prst="rect">
            <a:avLst/>
          </a:prstGeom>
        </p:spPr>
      </p:pic>
      <p:sp>
        <p:nvSpPr>
          <p:cNvPr id="140" name="Card 3 head"/>
          <p:cNvSpPr txBox="1"/>
          <p:nvPr/>
        </p:nvSpPr>
        <p:spPr>
          <a:xfrm>
            <a:off x="838199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A tailoring habit</a:t>
            </a:r>
          </a:p>
        </p:txBody>
      </p:sp>
      <p:sp>
        <p:nvSpPr>
          <p:cNvPr id="141" name="Card 3 body"/>
          <p:cNvSpPr txBox="1"/>
          <p:nvPr/>
        </p:nvSpPr>
        <p:spPr>
          <a:xfrm>
            <a:off x="838199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Re-target your resume to a job post in ten minutes, without rewriting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How your resume is actually read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Five stops, and your file has to survive every one.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8672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Apply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Your file lands in an applicant tracking system (ATS) that stores it.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609697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27852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609697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Parse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609697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The system pulls out name, dates, titles and skills. Messy layouts break this step.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527755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527755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Search and filter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527755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Recruiters search by keywords, titles and dates, and shortlist.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4445812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462137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4445812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Skim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4445812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 person scans the top third first. Deep reading comes later, if at all.</a:t>
            </a:r>
          </a:p>
        </p:txBody>
      </p:sp>
      <p:sp>
        <p:nvSpPr>
          <p:cNvPr id="143" name="Row 5"/>
          <p:cNvSpPr/>
          <p:nvPr/>
        </p:nvSpPr>
        <p:spPr>
          <a:xfrm>
            <a:off x="548640" y="536387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4" name="Row 5 number"/>
          <p:cNvSpPr/>
          <p:nvPr/>
        </p:nvSpPr>
        <p:spPr>
          <a:xfrm>
            <a:off x="777240" y="553943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5" name="Row 5 head"/>
          <p:cNvSpPr txBox="1"/>
          <p:nvPr/>
        </p:nvSpPr>
        <p:spPr>
          <a:xfrm>
            <a:off x="1508760" y="536387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Interview</a:t>
            </a:r>
          </a:p>
        </p:txBody>
      </p:sp>
      <p:sp>
        <p:nvSpPr>
          <p:cNvPr id="146" name="Row 5 body"/>
          <p:cNvSpPr txBox="1"/>
          <p:nvPr/>
        </p:nvSpPr>
        <p:spPr>
          <a:xfrm>
            <a:off x="4663440" y="536387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Whatever is on the page becomes the questions you get asked.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What a recruiter looks for first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Bullets card"/>
          <p:cNvSpPr/>
          <p:nvPr/>
        </p:nvSpPr>
        <p:spPr>
          <a:xfrm>
            <a:off x="548640" y="1691640"/>
            <a:ext cx="685800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Bullets"/>
          <p:cNvSpPr txBox="1"/>
          <p:nvPr/>
        </p:nvSpPr>
        <p:spPr>
          <a:xfrm>
            <a:off x="868680" y="1965960"/>
            <a:ext cx="62179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900"/>
              </a:spcAft>
              <a:buClr>
                <a:srgbClr val="0B1220"/>
              </a:buClr>
              <a:buChar char="•"/>
            </a:pPr>
            <a:r>
              <a:rPr sz="1700" b="0" i="0">
                <a:solidFill>
                  <a:srgbClr val="0B1220"/>
                </a:solidFill>
                <a:latin typeface="Calibri"/>
              </a:rPr>
              <a:t>Job title and company: does your latest role match what they are hiring for?</a:t>
            </a:r>
          </a:p>
          <a:p>
            <a:pPr algn="l" marL="228600" indent="-228600">
              <a:spcAft>
                <a:spcPts val="900"/>
              </a:spcAft>
              <a:buClr>
                <a:srgbClr val="0B1220"/>
              </a:buClr>
              <a:buChar char="•"/>
            </a:pPr>
            <a:r>
              <a:rPr sz="1700" b="0" i="0">
                <a:solidFill>
                  <a:srgbClr val="0B1220"/>
                </a:solidFill>
                <a:latin typeface="Calibri"/>
              </a:rPr>
              <a:t>Numbers, not adjectives: a result stands out at a glance.</a:t>
            </a:r>
          </a:p>
          <a:p>
            <a:pPr algn="l" marL="228600" indent="-228600">
              <a:spcAft>
                <a:spcPts val="900"/>
              </a:spcAft>
              <a:buClr>
                <a:srgbClr val="0B1220"/>
              </a:buClr>
              <a:buChar char="•"/>
            </a:pPr>
            <a:r>
              <a:rPr sz="1700" b="0" i="0">
                <a:solidFill>
                  <a:srgbClr val="0B1220"/>
                </a:solidFill>
                <a:latin typeface="Calibri"/>
              </a:rPr>
              <a:t>Keywords from the job post: the exact stack and role terms.</a:t>
            </a:r>
          </a:p>
          <a:p>
            <a:pPr algn="l" marL="228600" indent="-228600">
              <a:spcAft>
                <a:spcPts val="900"/>
              </a:spcAft>
              <a:buClr>
                <a:srgbClr val="0B1220"/>
              </a:buClr>
              <a:buChar char="•"/>
            </a:pPr>
            <a:r>
              <a:rPr sz="1700" b="0" i="0">
                <a:solidFill>
                  <a:srgbClr val="0B1220"/>
                </a:solidFill>
                <a:latin typeface="Calibri"/>
              </a:rPr>
              <a:t>A live link: portfolio, GitHub or a deployed project. Proof beats promises.</a:t>
            </a:r>
          </a:p>
        </p:txBody>
      </p:sp>
      <p:sp>
        <p:nvSpPr>
          <p:cNvPr id="129" name="Stat card"/>
          <p:cNvSpPr/>
          <p:nvPr/>
        </p:nvSpPr>
        <p:spPr>
          <a:xfrm>
            <a:off x="7635240" y="1691640"/>
            <a:ext cx="4023360" cy="44348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0" name="Stat"/>
          <p:cNvSpPr txBox="1"/>
          <p:nvPr/>
        </p:nvSpPr>
        <p:spPr>
          <a:xfrm>
            <a:off x="7863840" y="210312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59E0B"/>
                </a:solidFill>
                <a:latin typeface="Cambria"/>
              </a:rPr>
              <a:t>~7s</a:t>
            </a:r>
          </a:p>
        </p:txBody>
      </p:sp>
      <p:sp>
        <p:nvSpPr>
          <p:cNvPr id="131" name="Stat label"/>
          <p:cNvSpPr txBox="1"/>
          <p:nvPr/>
        </p:nvSpPr>
        <p:spPr>
          <a:xfrm>
            <a:off x="7863840" y="36576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 commonly quoted first look</a:t>
            </a:r>
          </a:p>
        </p:txBody>
      </p:sp>
      <p:sp>
        <p:nvSpPr>
          <p:cNvPr id="132" name="Stat note"/>
          <p:cNvSpPr txBox="1"/>
          <p:nvPr/>
        </p:nvSpPr>
        <p:spPr>
          <a:xfrm>
            <a:off x="7955279" y="4251960"/>
            <a:ext cx="33832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Calibri"/>
              </a:rPr>
              <a:t>Treat it as an order of magnitude: your top third decides whether they read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Parsers read text, not design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lumn 1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check circle"/>
          <p:cNvSpPr/>
          <p:nvPr/>
        </p:nvSpPr>
        <p:spPr>
          <a:xfrm>
            <a:off x="822959" y="192024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2080717"/>
            <a:ext cx="273405" cy="273405"/>
          </a:xfrm>
          <a:prstGeom prst="rect">
            <a:avLst/>
          </a:prstGeom>
        </p:spPr>
      </p:pic>
      <p:sp>
        <p:nvSpPr>
          <p:cNvPr id="130" name="Column 1 head"/>
          <p:cNvSpPr txBox="1"/>
          <p:nvPr/>
        </p:nvSpPr>
        <p:spPr>
          <a:xfrm>
            <a:off x="1600200" y="19202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Do</a:t>
            </a:r>
          </a:p>
        </p:txBody>
      </p:sp>
      <p:sp>
        <p:nvSpPr>
          <p:cNvPr id="131" name="Column 1 bullets"/>
          <p:cNvSpPr txBox="1"/>
          <p:nvPr/>
        </p:nvSpPr>
        <p:spPr>
          <a:xfrm>
            <a:off x="868680" y="27432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One column, left to right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Standard headings: Experience, Projects, Education, Skills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A text-based PDF (you can select the words)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One date format everywhere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Contact details in the body of the page</a:t>
            </a:r>
          </a:p>
        </p:txBody>
      </p:sp>
      <p:sp>
        <p:nvSpPr>
          <p:cNvPr id="132" name="Column 2"/>
          <p:cNvSpPr/>
          <p:nvPr/>
        </p:nvSpPr>
        <p:spPr>
          <a:xfrm>
            <a:off x="6217920" y="169164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x circle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x" descr="7ef058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717" y="2080717"/>
            <a:ext cx="273405" cy="273405"/>
          </a:xfrm>
          <a:prstGeom prst="rect">
            <a:avLst/>
          </a:prstGeom>
        </p:spPr>
      </p:pic>
      <p:sp>
        <p:nvSpPr>
          <p:cNvPr id="135" name="Column 2 head"/>
          <p:cNvSpPr txBox="1"/>
          <p:nvPr/>
        </p:nvSpPr>
        <p:spPr>
          <a:xfrm>
            <a:off x="7269479" y="19202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Avoid</a:t>
            </a:r>
          </a:p>
        </p:txBody>
      </p:sp>
      <p:sp>
        <p:nvSpPr>
          <p:cNvPr id="136" name="Column 2 bullets"/>
          <p:cNvSpPr txBox="1"/>
          <p:nvPr/>
        </p:nvSpPr>
        <p:spPr>
          <a:xfrm>
            <a:off x="6537959" y="27432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Tables and text boxes for layout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Icons, graphics, skill-bar charts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photo (not needed in most hiring)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Key details only in a header or footer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scanned image of a document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One page, four blocks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Reverse chronological: most recent and most relevant first.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ard 1"/>
          <p:cNvSpPr/>
          <p:nvPr/>
        </p:nvSpPr>
        <p:spPr>
          <a:xfrm>
            <a:off x="548640" y="1691640"/>
            <a:ext cx="260604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globe circle"/>
          <p:cNvSpPr/>
          <p:nvPr/>
        </p:nvSpPr>
        <p:spPr>
          <a:xfrm>
            <a:off x="82295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globe" descr="60298c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" y="2138781"/>
            <a:ext cx="294436" cy="294436"/>
          </a:xfrm>
          <a:prstGeom prst="rect">
            <a:avLst/>
          </a:prstGeom>
        </p:spPr>
      </p:pic>
      <p:sp>
        <p:nvSpPr>
          <p:cNvPr id="130" name="Card 1 head"/>
          <p:cNvSpPr txBox="1"/>
          <p:nvPr/>
        </p:nvSpPr>
        <p:spPr>
          <a:xfrm>
            <a:off x="822959" y="278892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Header</a:t>
            </a:r>
          </a:p>
        </p:txBody>
      </p:sp>
      <p:sp>
        <p:nvSpPr>
          <p:cNvPr id="131" name="Card 1 body"/>
          <p:cNvSpPr txBox="1"/>
          <p:nvPr/>
        </p:nvSpPr>
        <p:spPr>
          <a:xfrm>
            <a:off x="822959" y="3566160"/>
            <a:ext cx="205740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Name, email, phone, LinkedIn, GitHub, portfolio link.</a:t>
            </a:r>
          </a:p>
        </p:txBody>
      </p:sp>
      <p:sp>
        <p:nvSpPr>
          <p:cNvPr id="132" name="Card 2"/>
          <p:cNvSpPr/>
          <p:nvPr/>
        </p:nvSpPr>
        <p:spPr>
          <a:xfrm>
            <a:off x="3383280" y="1691640"/>
            <a:ext cx="2606040" cy="39319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codefile circle"/>
          <p:cNvSpPr/>
          <p:nvPr/>
        </p:nvSpPr>
        <p:spPr>
          <a:xfrm>
            <a:off x="3657600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codefile" descr="e32f45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421" y="2138781"/>
            <a:ext cx="294436" cy="294436"/>
          </a:xfrm>
          <a:prstGeom prst="rect">
            <a:avLst/>
          </a:prstGeom>
        </p:spPr>
      </p:pic>
      <p:sp>
        <p:nvSpPr>
          <p:cNvPr id="135" name="Card 2 head"/>
          <p:cNvSpPr txBox="1"/>
          <p:nvPr/>
        </p:nvSpPr>
        <p:spPr>
          <a:xfrm>
            <a:off x="3657600" y="278892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Projects and experience</a:t>
            </a:r>
          </a:p>
        </p:txBody>
      </p:sp>
      <p:sp>
        <p:nvSpPr>
          <p:cNvPr id="136" name="Card 2 body"/>
          <p:cNvSpPr txBox="1"/>
          <p:nvPr/>
        </p:nvSpPr>
        <p:spPr>
          <a:xfrm>
            <a:off x="3657600" y="3566160"/>
            <a:ext cx="205740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Two to four bullets each, every one with a result. Projects count as experience.</a:t>
            </a:r>
          </a:p>
        </p:txBody>
      </p:sp>
      <p:sp>
        <p:nvSpPr>
          <p:cNvPr id="137" name="Card 3"/>
          <p:cNvSpPr/>
          <p:nvPr/>
        </p:nvSpPr>
        <p:spPr>
          <a:xfrm>
            <a:off x="6217920" y="1691640"/>
            <a:ext cx="2606040" cy="39319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bolt circle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bolt" descr="366e19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061" y="2138781"/>
            <a:ext cx="294436" cy="294436"/>
          </a:xfrm>
          <a:prstGeom prst="rect">
            <a:avLst/>
          </a:prstGeom>
        </p:spPr>
      </p:pic>
      <p:sp>
        <p:nvSpPr>
          <p:cNvPr id="140" name="Card 3 head"/>
          <p:cNvSpPr txBox="1"/>
          <p:nvPr/>
        </p:nvSpPr>
        <p:spPr>
          <a:xfrm>
            <a:off x="6492240" y="278892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Skills</a:t>
            </a:r>
          </a:p>
        </p:txBody>
      </p:sp>
      <p:sp>
        <p:nvSpPr>
          <p:cNvPr id="141" name="Card 3 body"/>
          <p:cNvSpPr txBox="1"/>
          <p:nvPr/>
        </p:nvSpPr>
        <p:spPr>
          <a:xfrm>
            <a:off x="6492240" y="3566160"/>
            <a:ext cx="205740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Languages, frameworks, tools. Matched to the job you want, not a dump of everything.</a:t>
            </a:r>
          </a:p>
        </p:txBody>
      </p:sp>
      <p:sp>
        <p:nvSpPr>
          <p:cNvPr id="142" name="Card 4"/>
          <p:cNvSpPr/>
          <p:nvPr/>
        </p:nvSpPr>
        <p:spPr>
          <a:xfrm>
            <a:off x="9052560" y="1691640"/>
            <a:ext cx="260604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3" name="cap circle"/>
          <p:cNvSpPr/>
          <p:nvPr/>
        </p:nvSpPr>
        <p:spPr>
          <a:xfrm>
            <a:off x="9326880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4" name="icon:cap" descr="17e4a0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701" y="2138781"/>
            <a:ext cx="294436" cy="294436"/>
          </a:xfrm>
          <a:prstGeom prst="rect">
            <a:avLst/>
          </a:prstGeom>
        </p:spPr>
      </p:pic>
      <p:sp>
        <p:nvSpPr>
          <p:cNvPr id="145" name="Card 4 head"/>
          <p:cNvSpPr txBox="1"/>
          <p:nvPr/>
        </p:nvSpPr>
        <p:spPr>
          <a:xfrm>
            <a:off x="9326880" y="278892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Education</a:t>
            </a:r>
          </a:p>
        </p:txBody>
      </p:sp>
      <p:sp>
        <p:nvSpPr>
          <p:cNvPr id="146" name="Card 4 body"/>
          <p:cNvSpPr txBox="1"/>
          <p:nvPr/>
        </p:nvSpPr>
        <p:spPr>
          <a:xfrm>
            <a:off x="9326880" y="3566160"/>
            <a:ext cx="205740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Degree, college, year. Keep it short once you have projects.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The header: what goes in, what stays out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Header row"/>
          <p:cNvSpPr/>
          <p:nvPr/>
        </p:nvSpPr>
        <p:spPr>
          <a:xfrm>
            <a:off x="548640" y="1691640"/>
            <a:ext cx="111099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Head 1"/>
          <p:cNvSpPr txBox="1"/>
          <p:nvPr/>
        </p:nvSpPr>
        <p:spPr>
          <a:xfrm>
            <a:off x="685800" y="169164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Include</a:t>
            </a:r>
          </a:p>
        </p:txBody>
      </p:sp>
      <p:sp>
        <p:nvSpPr>
          <p:cNvPr id="129" name="Head 2"/>
          <p:cNvSpPr txBox="1"/>
          <p:nvPr/>
        </p:nvSpPr>
        <p:spPr>
          <a:xfrm>
            <a:off x="4343400" y="169164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30" name="Head 3"/>
          <p:cNvSpPr txBox="1"/>
          <p:nvPr/>
        </p:nvSpPr>
        <p:spPr>
          <a:xfrm>
            <a:off x="8001000" y="169164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Skip</a:t>
            </a:r>
          </a:p>
        </p:txBody>
      </p:sp>
      <p:sp>
        <p:nvSpPr>
          <p:cNvPr id="131" name="Row 1"/>
          <p:cNvSpPr/>
          <p:nvPr/>
        </p:nvSpPr>
        <p:spPr>
          <a:xfrm>
            <a:off x="548640" y="219456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Cell 1.1"/>
          <p:cNvSpPr txBox="1"/>
          <p:nvPr/>
        </p:nvSpPr>
        <p:spPr>
          <a:xfrm>
            <a:off x="685800" y="219456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Professional email</a:t>
            </a:r>
          </a:p>
        </p:txBody>
      </p:sp>
      <p:sp>
        <p:nvSpPr>
          <p:cNvPr id="133" name="Cell 1.2"/>
          <p:cNvSpPr txBox="1"/>
          <p:nvPr/>
        </p:nvSpPr>
        <p:spPr>
          <a:xfrm>
            <a:off x="4343400" y="219456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Clean and easy to search</a:t>
            </a:r>
          </a:p>
        </p:txBody>
      </p:sp>
      <p:sp>
        <p:nvSpPr>
          <p:cNvPr id="134" name="Cell 1.3"/>
          <p:cNvSpPr txBox="1"/>
          <p:nvPr/>
        </p:nvSpPr>
        <p:spPr>
          <a:xfrm>
            <a:off x="8001000" y="2194560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Nicknames or very old ids</a:t>
            </a:r>
          </a:p>
        </p:txBody>
      </p:sp>
      <p:sp>
        <p:nvSpPr>
          <p:cNvPr id="135" name="Row 2"/>
          <p:cNvSpPr/>
          <p:nvPr/>
        </p:nvSpPr>
        <p:spPr>
          <a:xfrm>
            <a:off x="548640" y="2971800"/>
            <a:ext cx="11109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Cell 2.1"/>
          <p:cNvSpPr txBox="1"/>
          <p:nvPr/>
        </p:nvSpPr>
        <p:spPr>
          <a:xfrm>
            <a:off x="685800" y="297180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LinkedIn and GitHub</a:t>
            </a:r>
          </a:p>
        </p:txBody>
      </p:sp>
      <p:sp>
        <p:nvSpPr>
          <p:cNvPr id="137" name="Cell 2.2"/>
          <p:cNvSpPr txBox="1"/>
          <p:nvPr/>
        </p:nvSpPr>
        <p:spPr>
          <a:xfrm>
            <a:off x="4343400" y="297180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Proof is one click away</a:t>
            </a:r>
          </a:p>
        </p:txBody>
      </p:sp>
      <p:sp>
        <p:nvSpPr>
          <p:cNvPr id="138" name="Cell 2.3"/>
          <p:cNvSpPr txBox="1"/>
          <p:nvPr/>
        </p:nvSpPr>
        <p:spPr>
          <a:xfrm>
            <a:off x="8001000" y="2971800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Links that need a login</a:t>
            </a:r>
          </a:p>
        </p:txBody>
      </p:sp>
      <p:sp>
        <p:nvSpPr>
          <p:cNvPr id="139" name="Row 3"/>
          <p:cNvSpPr/>
          <p:nvPr/>
        </p:nvSpPr>
        <p:spPr>
          <a:xfrm>
            <a:off x="548640" y="374904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Cell 3.1"/>
          <p:cNvSpPr txBox="1"/>
          <p:nvPr/>
        </p:nvSpPr>
        <p:spPr>
          <a:xfrm>
            <a:off x="685800" y="374904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Portfolio or live project</a:t>
            </a:r>
          </a:p>
        </p:txBody>
      </p:sp>
      <p:sp>
        <p:nvSpPr>
          <p:cNvPr id="141" name="Cell 3.2"/>
          <p:cNvSpPr txBox="1"/>
          <p:nvPr/>
        </p:nvSpPr>
        <p:spPr>
          <a:xfrm>
            <a:off x="4343400" y="374904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Shows work, not claims</a:t>
            </a:r>
          </a:p>
        </p:txBody>
      </p:sp>
      <p:sp>
        <p:nvSpPr>
          <p:cNvPr id="142" name="Cell 3.3"/>
          <p:cNvSpPr txBox="1"/>
          <p:nvPr/>
        </p:nvSpPr>
        <p:spPr>
          <a:xfrm>
            <a:off x="8001000" y="3749040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A tutorial clone as your headline</a:t>
            </a:r>
          </a:p>
        </p:txBody>
      </p:sp>
      <p:sp>
        <p:nvSpPr>
          <p:cNvPr id="143" name="Row 4"/>
          <p:cNvSpPr/>
          <p:nvPr/>
        </p:nvSpPr>
        <p:spPr>
          <a:xfrm>
            <a:off x="548640" y="4526280"/>
            <a:ext cx="11109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Cell 4.1"/>
          <p:cNvSpPr txBox="1"/>
          <p:nvPr/>
        </p:nvSpPr>
        <p:spPr>
          <a:xfrm>
            <a:off x="685800" y="452628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City and phone</a:t>
            </a:r>
          </a:p>
        </p:txBody>
      </p:sp>
      <p:sp>
        <p:nvSpPr>
          <p:cNvPr id="145" name="Cell 4.2"/>
          <p:cNvSpPr txBox="1"/>
          <p:nvPr/>
        </p:nvSpPr>
        <p:spPr>
          <a:xfrm>
            <a:off x="4343400" y="452628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Recruiters call and schedule</a:t>
            </a:r>
          </a:p>
        </p:txBody>
      </p:sp>
      <p:sp>
        <p:nvSpPr>
          <p:cNvPr id="146" name="Cell 4.3"/>
          <p:cNvSpPr txBox="1"/>
          <p:nvPr/>
        </p:nvSpPr>
        <p:spPr>
          <a:xfrm>
            <a:off x="8001000" y="4526280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Full postal address</a:t>
            </a:r>
          </a:p>
        </p:txBody>
      </p:sp>
      <p:sp>
        <p:nvSpPr>
          <p:cNvPr id="147" name="Row 5"/>
          <p:cNvSpPr/>
          <p:nvPr/>
        </p:nvSpPr>
        <p:spPr>
          <a:xfrm>
            <a:off x="548640" y="530352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Cell 5.1"/>
          <p:cNvSpPr txBox="1"/>
          <p:nvPr/>
        </p:nvSpPr>
        <p:spPr>
          <a:xfrm>
            <a:off x="685800" y="530352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One-line headline</a:t>
            </a:r>
          </a:p>
        </p:txBody>
      </p:sp>
      <p:sp>
        <p:nvSpPr>
          <p:cNvPr id="149" name="Cell 5.2"/>
          <p:cNvSpPr txBox="1"/>
          <p:nvPr/>
        </p:nvSpPr>
        <p:spPr>
          <a:xfrm>
            <a:off x="4343400" y="530352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Names the role you want next</a:t>
            </a:r>
          </a:p>
        </p:txBody>
      </p:sp>
      <p:sp>
        <p:nvSpPr>
          <p:cNvPr id="150" name="Cell 5.3"/>
          <p:cNvSpPr txBox="1"/>
          <p:nvPr/>
        </p:nvSpPr>
        <p:spPr>
          <a:xfrm>
            <a:off x="8001000" y="5303520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Photo, birth date, marital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The bullet formula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Every bullet answers four questions, in this order.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Path line"/>
          <p:cNvSpPr/>
          <p:nvPr/>
        </p:nvSpPr>
        <p:spPr>
          <a:xfrm>
            <a:off x="1028700" y="2372868"/>
            <a:ext cx="833247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Arrow 1"/>
          <p:cNvSpPr/>
          <p:nvPr/>
        </p:nvSpPr>
        <p:spPr>
          <a:xfrm rot="5400000">
            <a:off x="217741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bolt circle"/>
          <p:cNvSpPr/>
          <p:nvPr/>
        </p:nvSpPr>
        <p:spPr>
          <a:xfrm>
            <a:off x="54864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0" name="icon:bolt" descr="366e19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" y="2179472"/>
            <a:ext cx="441655" cy="441655"/>
          </a:xfrm>
          <a:prstGeom prst="rect">
            <a:avLst/>
          </a:prstGeom>
        </p:spPr>
      </p:pic>
      <p:sp>
        <p:nvSpPr>
          <p:cNvPr id="131" name="Step 1"/>
          <p:cNvSpPr/>
          <p:nvPr/>
        </p:nvSpPr>
        <p:spPr>
          <a:xfrm>
            <a:off x="125272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132" name="Step 1 head"/>
          <p:cNvSpPr txBox="1"/>
          <p:nvPr/>
        </p:nvSpPr>
        <p:spPr>
          <a:xfrm>
            <a:off x="54864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Action verb</a:t>
            </a:r>
          </a:p>
        </p:txBody>
      </p:sp>
      <p:sp>
        <p:nvSpPr>
          <p:cNvPr id="133" name="Step 1 body"/>
          <p:cNvSpPr txBox="1"/>
          <p:nvPr/>
        </p:nvSpPr>
        <p:spPr>
          <a:xfrm>
            <a:off x="54864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Built, cut, automated, shipped, led.</a:t>
            </a:r>
          </a:p>
        </p:txBody>
      </p:sp>
      <p:sp>
        <p:nvSpPr>
          <p:cNvPr id="134" name="Arrow 2"/>
          <p:cNvSpPr/>
          <p:nvPr/>
        </p:nvSpPr>
        <p:spPr>
          <a:xfrm rot="5400000">
            <a:off x="495490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code circle"/>
          <p:cNvSpPr/>
          <p:nvPr/>
        </p:nvSpPr>
        <p:spPr>
          <a:xfrm>
            <a:off x="332613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6" name="icon:code" descr="534b89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362" y="2179472"/>
            <a:ext cx="441655" cy="441655"/>
          </a:xfrm>
          <a:prstGeom prst="rect">
            <a:avLst/>
          </a:prstGeom>
        </p:spPr>
      </p:pic>
      <p:sp>
        <p:nvSpPr>
          <p:cNvPr id="137" name="Step 2"/>
          <p:cNvSpPr/>
          <p:nvPr/>
        </p:nvSpPr>
        <p:spPr>
          <a:xfrm>
            <a:off x="403021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38" name="Step 2 head"/>
          <p:cNvSpPr txBox="1"/>
          <p:nvPr/>
        </p:nvSpPr>
        <p:spPr>
          <a:xfrm>
            <a:off x="332613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What you made</a:t>
            </a:r>
          </a:p>
        </p:txBody>
      </p:sp>
      <p:sp>
        <p:nvSpPr>
          <p:cNvPr id="139" name="Step 2 body"/>
          <p:cNvSpPr txBox="1"/>
          <p:nvPr/>
        </p:nvSpPr>
        <p:spPr>
          <a:xfrm>
            <a:off x="332613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The thing, in plain words.</a:t>
            </a:r>
          </a:p>
        </p:txBody>
      </p:sp>
      <p:sp>
        <p:nvSpPr>
          <p:cNvPr id="140" name="Arrow 3"/>
          <p:cNvSpPr/>
          <p:nvPr/>
        </p:nvSpPr>
        <p:spPr>
          <a:xfrm rot="5400000">
            <a:off x="7732394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layers circle"/>
          <p:cNvSpPr/>
          <p:nvPr/>
        </p:nvSpPr>
        <p:spPr>
          <a:xfrm>
            <a:off x="610362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2" name="icon:layers" descr="d9e5fb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852" y="2179472"/>
            <a:ext cx="441655" cy="441655"/>
          </a:xfrm>
          <a:prstGeom prst="rect">
            <a:avLst/>
          </a:prstGeom>
        </p:spPr>
      </p:pic>
      <p:sp>
        <p:nvSpPr>
          <p:cNvPr id="143" name="Step 3"/>
          <p:cNvSpPr/>
          <p:nvPr/>
        </p:nvSpPr>
        <p:spPr>
          <a:xfrm>
            <a:off x="6807707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44" name="Step 3 head"/>
          <p:cNvSpPr txBox="1"/>
          <p:nvPr/>
        </p:nvSpPr>
        <p:spPr>
          <a:xfrm>
            <a:off x="610362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With what</a:t>
            </a:r>
          </a:p>
        </p:txBody>
      </p:sp>
      <p:sp>
        <p:nvSpPr>
          <p:cNvPr id="145" name="Step 3 body"/>
          <p:cNvSpPr txBox="1"/>
          <p:nvPr/>
        </p:nvSpPr>
        <p:spPr>
          <a:xfrm>
            <a:off x="610362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Language, framework or service.</a:t>
            </a:r>
          </a:p>
        </p:txBody>
      </p:sp>
      <p:sp>
        <p:nvSpPr>
          <p:cNvPr id="146" name="chart circle"/>
          <p:cNvSpPr/>
          <p:nvPr/>
        </p:nvSpPr>
        <p:spPr>
          <a:xfrm>
            <a:off x="888111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7" name="icon:chart" descr="cf5e67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342" y="2179472"/>
            <a:ext cx="441655" cy="441655"/>
          </a:xfrm>
          <a:prstGeom prst="rect">
            <a:avLst/>
          </a:prstGeom>
        </p:spPr>
      </p:pic>
      <p:sp>
        <p:nvSpPr>
          <p:cNvPr id="148" name="Step 4"/>
          <p:cNvSpPr/>
          <p:nvPr/>
        </p:nvSpPr>
        <p:spPr>
          <a:xfrm>
            <a:off x="958519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149" name="Step 4 head"/>
          <p:cNvSpPr txBox="1"/>
          <p:nvPr/>
        </p:nvSpPr>
        <p:spPr>
          <a:xfrm>
            <a:off x="888111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The result</a:t>
            </a:r>
          </a:p>
        </p:txBody>
      </p:sp>
      <p:sp>
        <p:nvSpPr>
          <p:cNvPr id="150" name="Step 4 body"/>
          <p:cNvSpPr txBox="1"/>
          <p:nvPr/>
        </p:nvSpPr>
        <p:spPr>
          <a:xfrm>
            <a:off x="888111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 number: percent, time, users, cost.</a:t>
            </a:r>
          </a:p>
        </p:txBody>
      </p:sp>
      <p:sp>
        <p:nvSpPr>
          <p:cNvPr id="151" name="Callout band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2" name="Callout tag"/>
          <p:cNvSpPr/>
          <p:nvPr/>
        </p:nvSpPr>
        <p:spPr>
          <a:xfrm>
            <a:off x="822960" y="5669280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Calibri"/>
              </a:rPr>
              <a:t>EXAMPLE</a:t>
            </a:r>
          </a:p>
        </p:txBody>
      </p:sp>
      <p:sp>
        <p:nvSpPr>
          <p:cNvPr id="153" name="Callout"/>
          <p:cNvSpPr txBox="1"/>
          <p:nvPr/>
        </p:nvSpPr>
        <p:spPr>
          <a:xfrm>
            <a:off x="2286000" y="553212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B1220"/>
                </a:solidFill>
                <a:latin typeface="Calibri"/>
              </a:rPr>
              <a:t>Built a Redis caching layer in Node.js that cut API latency by 20%.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Weak bullets vs strong bullets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Weak panel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Strong panel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9" name="Weak chip"/>
          <p:cNvSpPr/>
          <p:nvPr/>
        </p:nvSpPr>
        <p:spPr>
          <a:xfrm>
            <a:off x="822960" y="19202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WEAK</a:t>
            </a:r>
          </a:p>
        </p:txBody>
      </p:sp>
      <p:sp>
        <p:nvSpPr>
          <p:cNvPr id="130" name="Strong chip"/>
          <p:cNvSpPr/>
          <p:nvPr/>
        </p:nvSpPr>
        <p:spPr>
          <a:xfrm>
            <a:off x="6583680" y="19202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STRONG</a:t>
            </a:r>
          </a:p>
        </p:txBody>
      </p:sp>
      <p:sp>
        <p:nvSpPr>
          <p:cNvPr id="131" name="Arrow"/>
          <p:cNvSpPr/>
          <p:nvPr/>
        </p:nvSpPr>
        <p:spPr>
          <a:xfrm rot="5400000">
            <a:off x="5943600" y="3794760"/>
            <a:ext cx="274320" cy="274320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Weak 1"/>
          <p:cNvSpPr txBox="1"/>
          <p:nvPr/>
        </p:nvSpPr>
        <p:spPr>
          <a:xfrm>
            <a:off x="822960" y="242316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Responsible for backend development</a:t>
            </a:r>
          </a:p>
        </p:txBody>
      </p:sp>
      <p:sp>
        <p:nvSpPr>
          <p:cNvPr id="133" name="Strong 1"/>
          <p:cNvSpPr txBox="1"/>
          <p:nvPr/>
        </p:nvSpPr>
        <p:spPr>
          <a:xfrm>
            <a:off x="6583680" y="242316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Built a Redis caching layer that cut API latency by 20%</a:t>
            </a:r>
          </a:p>
        </p:txBody>
      </p:sp>
      <p:sp>
        <p:nvSpPr>
          <p:cNvPr id="134" name="Weak 2"/>
          <p:cNvSpPr txBox="1"/>
          <p:nvPr/>
        </p:nvSpPr>
        <p:spPr>
          <a:xfrm>
            <a:off x="822960" y="332613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Worked on improving performance</a:t>
            </a:r>
          </a:p>
        </p:txBody>
      </p:sp>
      <p:sp>
        <p:nvSpPr>
          <p:cNvPr id="135" name="Strong 2"/>
          <p:cNvSpPr txBox="1"/>
          <p:nvPr/>
        </p:nvSpPr>
        <p:spPr>
          <a:xfrm>
            <a:off x="6583680" y="332613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Automated billing retries, cutting manual effort by 40%</a:t>
            </a:r>
          </a:p>
        </p:txBody>
      </p:sp>
      <p:sp>
        <p:nvSpPr>
          <p:cNvPr id="136" name="Weak 3"/>
          <p:cNvSpPr txBox="1"/>
          <p:nvPr/>
        </p:nvSpPr>
        <p:spPr>
          <a:xfrm>
            <a:off x="822960" y="422910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Good knowledge of Python and SQL</a:t>
            </a:r>
          </a:p>
        </p:txBody>
      </p:sp>
      <p:sp>
        <p:nvSpPr>
          <p:cNvPr id="137" name="Strong 3"/>
          <p:cNvSpPr txBox="1"/>
          <p:nvPr/>
        </p:nvSpPr>
        <p:spPr>
          <a:xfrm>
            <a:off x="6583680" y="422910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Built a RAG pipeline (Python, MongoDB, Pinecone) used by 30+ students</a:t>
            </a:r>
          </a:p>
        </p:txBody>
      </p:sp>
      <p:sp>
        <p:nvSpPr>
          <p:cNvPr id="138" name="Weak 4"/>
          <p:cNvSpPr txBox="1"/>
          <p:nvPr/>
        </p:nvSpPr>
        <p:spPr>
          <a:xfrm>
            <a:off x="822960" y="513207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Helped the team with various tasks</a:t>
            </a:r>
          </a:p>
        </p:txBody>
      </p:sp>
      <p:sp>
        <p:nvSpPr>
          <p:cNvPr id="139" name="Strong 4"/>
          <p:cNvSpPr txBox="1"/>
          <p:nvPr/>
        </p:nvSpPr>
        <p:spPr>
          <a:xfrm>
            <a:off x="6583680" y="513207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Shipped a Flutter app with UPI payments, live on the Play Store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10515600" cy="914400"/>
          </a:xfrm>
        </p:spPr>
        <p:txBody>
          <a:bodyPr/>
          <a:lstStyle/>
          <a:p>
            <a:r>
              <a:rPr b="1" sz="3800">
                <a:solidFill>
                  <a:srgbClr val="FFFFFF"/>
                </a:solidFill>
                <a:latin typeface="Cambria"/>
              </a:rPr>
              <a:t>Rewrite lab: fix three bullets</a:t>
            </a:r>
          </a:p>
        </p:txBody>
      </p:sp>
      <p:sp>
        <p:nvSpPr>
          <p:cNvPr id="3" name="Activity tag"/>
          <p:cNvSpPr/>
          <p:nvPr/>
        </p:nvSpPr>
        <p:spPr>
          <a:xfrm>
            <a:off x="822960" y="8229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ACTIVITY · 10 MIN</a:t>
            </a:r>
          </a:p>
        </p:txBody>
      </p:sp>
      <p:sp>
        <p:nvSpPr>
          <p:cNvPr id="4" name="Step 1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Instruction 1"/>
          <p:cNvSpPr txBox="1"/>
          <p:nvPr/>
        </p:nvSpPr>
        <p:spPr>
          <a:xfrm>
            <a:off x="1508760" y="256032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Pick three bullets from your resume.</a:t>
            </a:r>
          </a:p>
        </p:txBody>
      </p:sp>
      <p:sp>
        <p:nvSpPr>
          <p:cNvPr id="6" name="Step 2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Instruction 2"/>
          <p:cNvSpPr txBox="1"/>
          <p:nvPr/>
        </p:nvSpPr>
        <p:spPr>
          <a:xfrm>
            <a:off x="1508760" y="3337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Underline the verb, the tool and the result in each.</a:t>
            </a:r>
          </a:p>
        </p:txBody>
      </p:sp>
      <p:sp>
        <p:nvSpPr>
          <p:cNvPr id="8" name="Step 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Instruction 3"/>
          <p:cNvSpPr txBox="1"/>
          <p:nvPr/>
        </p:nvSpPr>
        <p:spPr>
          <a:xfrm>
            <a:off x="1508760" y="411480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Rewrite any that miss one. Use a real number.</a:t>
            </a:r>
          </a:p>
        </p:txBody>
      </p:sp>
      <p:sp>
        <p:nvSpPr>
          <p:cNvPr id="10" name="Step 4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Instruction 4"/>
          <p:cNvSpPr txBox="1"/>
          <p:nvPr/>
        </p:nvSpPr>
        <p:spPr>
          <a:xfrm>
            <a:off x="1508760" y="489204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Swap with a neighbour for a second read.</a:t>
            </a:r>
          </a:p>
        </p:txBody>
      </p:sp>
      <p:sp>
        <p:nvSpPr>
          <p:cNvPr id="12" name="Output card"/>
          <p:cNvSpPr/>
          <p:nvPr/>
        </p:nvSpPr>
        <p:spPr>
          <a:xfrm>
            <a:off x="7589520" y="2606040"/>
            <a:ext cx="4069080" cy="338328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utput label"/>
          <p:cNvSpPr txBox="1"/>
          <p:nvPr/>
        </p:nvSpPr>
        <p:spPr>
          <a:xfrm>
            <a:off x="786384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YOU LEAVE WITH</a:t>
            </a:r>
          </a:p>
        </p:txBody>
      </p:sp>
      <p:sp>
        <p:nvSpPr>
          <p:cNvPr id="14" name="Output"/>
          <p:cNvSpPr txBox="1"/>
          <p:nvPr/>
        </p:nvSpPr>
        <p:spPr>
          <a:xfrm>
            <a:off x="7863840" y="3246120"/>
            <a:ext cx="35661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Three stronger bullets</a:t>
            </a:r>
          </a:p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repeatable habit</a:t>
            </a:r>
          </a:p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One fresh pair of eyes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No experience? Your numbers are hiding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If you do not know the number, measure it.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ard 1"/>
          <p:cNvSpPr/>
          <p:nvPr/>
        </p:nvSpPr>
        <p:spPr>
          <a:xfrm>
            <a:off x="548640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people circle"/>
          <p:cNvSpPr/>
          <p:nvPr/>
        </p:nvSpPr>
        <p:spPr>
          <a:xfrm>
            <a:off x="82295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people" descr="65bca2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" y="2138781"/>
            <a:ext cx="294436" cy="294436"/>
          </a:xfrm>
          <a:prstGeom prst="rect">
            <a:avLst/>
          </a:prstGeom>
        </p:spPr>
      </p:pic>
      <p:sp>
        <p:nvSpPr>
          <p:cNvPr id="130" name="Card 1 head"/>
          <p:cNvSpPr txBox="1"/>
          <p:nvPr/>
        </p:nvSpPr>
        <p:spPr>
          <a:xfrm>
            <a:off x="82295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People</a:t>
            </a:r>
          </a:p>
        </p:txBody>
      </p:sp>
      <p:sp>
        <p:nvSpPr>
          <p:cNvPr id="131" name="Card 1 body"/>
          <p:cNvSpPr txBox="1"/>
          <p:nvPr/>
        </p:nvSpPr>
        <p:spPr>
          <a:xfrm>
            <a:off x="82295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Users, classmates, teammates, downloads, GitHub stars.</a:t>
            </a:r>
          </a:p>
        </p:txBody>
      </p:sp>
      <p:sp>
        <p:nvSpPr>
          <p:cNvPr id="132" name="Card 2"/>
          <p:cNvSpPr/>
          <p:nvPr/>
        </p:nvSpPr>
        <p:spPr>
          <a:xfrm>
            <a:off x="432815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chart circle"/>
          <p:cNvSpPr/>
          <p:nvPr/>
        </p:nvSpPr>
        <p:spPr>
          <a:xfrm>
            <a:off x="4602479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chart" descr="cf5e67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301" y="2138781"/>
            <a:ext cx="294436" cy="294436"/>
          </a:xfrm>
          <a:prstGeom prst="rect">
            <a:avLst/>
          </a:prstGeom>
        </p:spPr>
      </p:pic>
      <p:sp>
        <p:nvSpPr>
          <p:cNvPr id="135" name="Card 2 head"/>
          <p:cNvSpPr txBox="1"/>
          <p:nvPr/>
        </p:nvSpPr>
        <p:spPr>
          <a:xfrm>
            <a:off x="460247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Speed and size</a:t>
            </a:r>
          </a:p>
        </p:txBody>
      </p:sp>
      <p:sp>
        <p:nvSpPr>
          <p:cNvPr id="136" name="Card 2 body"/>
          <p:cNvSpPr txBox="1"/>
          <p:nvPr/>
        </p:nvSpPr>
        <p:spPr>
          <a:xfrm>
            <a:off x="460247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Load time, response time, rows processed, lines of code removed.</a:t>
            </a:r>
          </a:p>
        </p:txBody>
      </p:sp>
      <p:sp>
        <p:nvSpPr>
          <p:cNvPr id="137" name="Card 3"/>
          <p:cNvSpPr/>
          <p:nvPr/>
        </p:nvSpPr>
        <p:spPr>
          <a:xfrm>
            <a:off x="810767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bolt circle"/>
          <p:cNvSpPr/>
          <p:nvPr/>
        </p:nvSpPr>
        <p:spPr>
          <a:xfrm>
            <a:off x="838199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bolt" descr="366e19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821" y="2138781"/>
            <a:ext cx="294436" cy="294436"/>
          </a:xfrm>
          <a:prstGeom prst="rect">
            <a:avLst/>
          </a:prstGeom>
        </p:spPr>
      </p:pic>
      <p:sp>
        <p:nvSpPr>
          <p:cNvPr id="140" name="Card 3 head"/>
          <p:cNvSpPr txBox="1"/>
          <p:nvPr/>
        </p:nvSpPr>
        <p:spPr>
          <a:xfrm>
            <a:off x="838199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Effort saved</a:t>
            </a:r>
          </a:p>
        </p:txBody>
      </p:sp>
      <p:sp>
        <p:nvSpPr>
          <p:cNvPr id="141" name="Card 3 body"/>
          <p:cNvSpPr txBox="1"/>
          <p:nvPr/>
        </p:nvSpPr>
        <p:spPr>
          <a:xfrm>
            <a:off x="838199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Hours saved, steps automated, manual work removed.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Projects count as experience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A four-line template for every project entry.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1037844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9819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Name and outcome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Profly AI: exam-practice platform used by 30+ students.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839212"/>
            <a:ext cx="11109960" cy="1037844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312953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839212"/>
            <a:ext cx="301752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Stack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839212"/>
            <a:ext cx="676656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Node.js, FastAPI, MongoDB, Pinecone.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986783"/>
            <a:ext cx="11109960" cy="1037844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427710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986783"/>
            <a:ext cx="301752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Two bullets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986783"/>
            <a:ext cx="676656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What you built and what it achieved, with a number.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5134356"/>
            <a:ext cx="11109960" cy="1037844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542467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5134356"/>
            <a:ext cx="301752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Links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5134356"/>
            <a:ext cx="6766560" cy="1037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Live demo and repository, both tested.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Skills: match the job post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Path line"/>
          <p:cNvSpPr/>
          <p:nvPr/>
        </p:nvSpPr>
        <p:spPr>
          <a:xfrm>
            <a:off x="1028700" y="2372868"/>
            <a:ext cx="740664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Arrow 1"/>
          <p:cNvSpPr/>
          <p:nvPr/>
        </p:nvSpPr>
        <p:spPr>
          <a:xfrm rot="5400000">
            <a:off x="2640330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search circle"/>
          <p:cNvSpPr/>
          <p:nvPr/>
        </p:nvSpPr>
        <p:spPr>
          <a:xfrm>
            <a:off x="54864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0" name="icon:search" descr="12be32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" y="2179472"/>
            <a:ext cx="441655" cy="441655"/>
          </a:xfrm>
          <a:prstGeom prst="rect">
            <a:avLst/>
          </a:prstGeom>
        </p:spPr>
      </p:pic>
      <p:sp>
        <p:nvSpPr>
          <p:cNvPr id="131" name="Step 1"/>
          <p:cNvSpPr/>
          <p:nvPr/>
        </p:nvSpPr>
        <p:spPr>
          <a:xfrm>
            <a:off x="125272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132" name="Step 1 head"/>
          <p:cNvSpPr txBox="1"/>
          <p:nvPr/>
        </p:nvSpPr>
        <p:spPr>
          <a:xfrm>
            <a:off x="548640" y="315468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Collect</a:t>
            </a:r>
          </a:p>
        </p:txBody>
      </p:sp>
      <p:sp>
        <p:nvSpPr>
          <p:cNvPr id="133" name="Step 1 body"/>
          <p:cNvSpPr txBox="1"/>
          <p:nvPr/>
        </p:nvSpPr>
        <p:spPr>
          <a:xfrm>
            <a:off x="548640" y="3840480"/>
            <a:ext cx="3429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Copy the repeated keywords from three job posts you want.</a:t>
            </a:r>
          </a:p>
        </p:txBody>
      </p:sp>
      <p:sp>
        <p:nvSpPr>
          <p:cNvPr id="134" name="Arrow 2"/>
          <p:cNvSpPr/>
          <p:nvPr/>
        </p:nvSpPr>
        <p:spPr>
          <a:xfrm rot="5400000">
            <a:off x="6343649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arget circle"/>
          <p:cNvSpPr/>
          <p:nvPr/>
        </p:nvSpPr>
        <p:spPr>
          <a:xfrm>
            <a:off x="4251959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6" name="icon:target" descr="d8fc09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192" y="2179472"/>
            <a:ext cx="441655" cy="441655"/>
          </a:xfrm>
          <a:prstGeom prst="rect">
            <a:avLst/>
          </a:prstGeom>
        </p:spPr>
      </p:pic>
      <p:sp>
        <p:nvSpPr>
          <p:cNvPr id="137" name="Step 2"/>
          <p:cNvSpPr/>
          <p:nvPr/>
        </p:nvSpPr>
        <p:spPr>
          <a:xfrm>
            <a:off x="4956047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38" name="Step 2 head"/>
          <p:cNvSpPr txBox="1"/>
          <p:nvPr/>
        </p:nvSpPr>
        <p:spPr>
          <a:xfrm>
            <a:off x="4251959" y="315468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Filter</a:t>
            </a:r>
          </a:p>
        </p:txBody>
      </p:sp>
      <p:sp>
        <p:nvSpPr>
          <p:cNvPr id="139" name="Step 2 body"/>
          <p:cNvSpPr txBox="1"/>
          <p:nvPr/>
        </p:nvSpPr>
        <p:spPr>
          <a:xfrm>
            <a:off x="4251959" y="3840480"/>
            <a:ext cx="3429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Keep only what you could talk about for two minutes.</a:t>
            </a:r>
          </a:p>
        </p:txBody>
      </p:sp>
      <p:sp>
        <p:nvSpPr>
          <p:cNvPr id="140" name="layers circle"/>
          <p:cNvSpPr/>
          <p:nvPr/>
        </p:nvSpPr>
        <p:spPr>
          <a:xfrm>
            <a:off x="7955279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1" name="icon:layers" descr="d9e5fb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512" y="2179472"/>
            <a:ext cx="441655" cy="441655"/>
          </a:xfrm>
          <a:prstGeom prst="rect">
            <a:avLst/>
          </a:prstGeom>
        </p:spPr>
      </p:pic>
      <p:sp>
        <p:nvSpPr>
          <p:cNvPr id="142" name="Step 3"/>
          <p:cNvSpPr/>
          <p:nvPr/>
        </p:nvSpPr>
        <p:spPr>
          <a:xfrm>
            <a:off x="865936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43" name="Step 3 head"/>
          <p:cNvSpPr txBox="1"/>
          <p:nvPr/>
        </p:nvSpPr>
        <p:spPr>
          <a:xfrm>
            <a:off x="7955279" y="315468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Order</a:t>
            </a:r>
          </a:p>
        </p:txBody>
      </p:sp>
      <p:sp>
        <p:nvSpPr>
          <p:cNvPr id="144" name="Step 3 body"/>
          <p:cNvSpPr txBox="1"/>
          <p:nvPr/>
        </p:nvSpPr>
        <p:spPr>
          <a:xfrm>
            <a:off x="7955279" y="3840480"/>
            <a:ext cx="3429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Put the skills most relevant to this role first.</a:t>
            </a:r>
          </a:p>
        </p:txBody>
      </p:sp>
      <p:sp>
        <p:nvSpPr>
          <p:cNvPr id="145" name="Callout band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6" name="Callout tag"/>
          <p:cNvSpPr/>
          <p:nvPr/>
        </p:nvSpPr>
        <p:spPr>
          <a:xfrm>
            <a:off x="822960" y="5669280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Calibri"/>
              </a:rPr>
              <a:t>RULE</a:t>
            </a:r>
          </a:p>
        </p:txBody>
      </p:sp>
      <p:sp>
        <p:nvSpPr>
          <p:cNvPr id="147" name="Callout"/>
          <p:cNvSpPr txBox="1"/>
          <p:nvPr/>
        </p:nvSpPr>
        <p:spPr>
          <a:xfrm>
            <a:off x="2286000" y="553212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B1220"/>
                </a:solidFill>
                <a:latin typeface="Calibri"/>
              </a:rPr>
              <a:t>If you cannot explain it for two minutes in an interview, take it 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Tailor in ten minutes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Same resume, re-aimed. Do this for every serious application.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8672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Read the post twice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Underline the role, the stack and the outcomes they want.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609697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27852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609697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Mirror the language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609697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Use their exact terms where they are true for you.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527755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527755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Reorder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527755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Move the most relevant project or job to the top.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4445812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462137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4445812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Trim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4445812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Cut what does not help for this role.</a:t>
            </a:r>
          </a:p>
        </p:txBody>
      </p:sp>
      <p:sp>
        <p:nvSpPr>
          <p:cNvPr id="143" name="Row 5"/>
          <p:cNvSpPr/>
          <p:nvPr/>
        </p:nvSpPr>
        <p:spPr>
          <a:xfrm>
            <a:off x="548640" y="536387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4" name="Row 5 number"/>
          <p:cNvSpPr/>
          <p:nvPr/>
        </p:nvSpPr>
        <p:spPr>
          <a:xfrm>
            <a:off x="777240" y="553943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5" name="Row 5 head"/>
          <p:cNvSpPr txBox="1"/>
          <p:nvPr/>
        </p:nvSpPr>
        <p:spPr>
          <a:xfrm>
            <a:off x="1508760" y="536387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Save and name it</a:t>
            </a:r>
          </a:p>
        </p:txBody>
      </p:sp>
      <p:sp>
        <p:nvSpPr>
          <p:cNvPr id="146" name="Row 5 body"/>
          <p:cNvSpPr txBox="1"/>
          <p:nvPr/>
        </p:nvSpPr>
        <p:spPr>
          <a:xfrm>
            <a:off x="4663440" y="536387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FirstName_LastName_Role.pdf, then open the file to check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LinkedIn and GitHub should tell the same story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lumn 1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in circle"/>
          <p:cNvSpPr/>
          <p:nvPr/>
        </p:nvSpPr>
        <p:spPr>
          <a:xfrm>
            <a:off x="822959" y="192024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in" descr="c136a8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2080717"/>
            <a:ext cx="273405" cy="273405"/>
          </a:xfrm>
          <a:prstGeom prst="rect">
            <a:avLst/>
          </a:prstGeom>
        </p:spPr>
      </p:pic>
      <p:sp>
        <p:nvSpPr>
          <p:cNvPr id="130" name="Column 1 head"/>
          <p:cNvSpPr txBox="1"/>
          <p:nvPr/>
        </p:nvSpPr>
        <p:spPr>
          <a:xfrm>
            <a:off x="1600200" y="19202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LinkedIn</a:t>
            </a:r>
          </a:p>
        </p:txBody>
      </p:sp>
      <p:sp>
        <p:nvSpPr>
          <p:cNvPr id="131" name="Column 1 bullets"/>
          <p:cNvSpPr txBox="1"/>
          <p:nvPr/>
        </p:nvSpPr>
        <p:spPr>
          <a:xfrm>
            <a:off x="868680" y="27432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Headline names the role you want next, not 'Student'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About: three lines on who you are, what you build, what is next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Skills use words from your target job posts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Class projects count: describe scope and team size</a:t>
            </a:r>
          </a:p>
        </p:txBody>
      </p:sp>
      <p:sp>
        <p:nvSpPr>
          <p:cNvPr id="132" name="Column 2"/>
          <p:cNvSpPr/>
          <p:nvPr/>
        </p:nvSpPr>
        <p:spPr>
          <a:xfrm>
            <a:off x="6217920" y="169164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codefile circle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codefile" descr="e32f45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717" y="2080717"/>
            <a:ext cx="273405" cy="273405"/>
          </a:xfrm>
          <a:prstGeom prst="rect">
            <a:avLst/>
          </a:prstGeom>
        </p:spPr>
      </p:pic>
      <p:sp>
        <p:nvSpPr>
          <p:cNvPr id="135" name="Column 2 head"/>
          <p:cNvSpPr txBox="1"/>
          <p:nvPr/>
        </p:nvSpPr>
        <p:spPr>
          <a:xfrm>
            <a:off x="7269479" y="19202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GitHub</a:t>
            </a:r>
          </a:p>
        </p:txBody>
      </p:sp>
      <p:sp>
        <p:nvSpPr>
          <p:cNvPr id="136" name="Column 2 bullets"/>
          <p:cNvSpPr txBox="1"/>
          <p:nvPr/>
        </p:nvSpPr>
        <p:spPr>
          <a:xfrm>
            <a:off x="6537959" y="27432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Pin your best three or four repositories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Each pinned repo has a README with a screenshot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Live demo links that work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real commit history shows you ship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Build it in LaTeX with Overleaf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Optional, but it makes consistent formatting easy.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Path line"/>
          <p:cNvSpPr/>
          <p:nvPr/>
        </p:nvSpPr>
        <p:spPr>
          <a:xfrm>
            <a:off x="1028700" y="2372868"/>
            <a:ext cx="833247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Arrow 1"/>
          <p:cNvSpPr/>
          <p:nvPr/>
        </p:nvSpPr>
        <p:spPr>
          <a:xfrm rot="5400000">
            <a:off x="217741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globe circle"/>
          <p:cNvSpPr/>
          <p:nvPr/>
        </p:nvSpPr>
        <p:spPr>
          <a:xfrm>
            <a:off x="54864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0" name="icon:globe" descr="60298c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" y="2179472"/>
            <a:ext cx="441655" cy="441655"/>
          </a:xfrm>
          <a:prstGeom prst="rect">
            <a:avLst/>
          </a:prstGeom>
        </p:spPr>
      </p:pic>
      <p:sp>
        <p:nvSpPr>
          <p:cNvPr id="131" name="Step 1"/>
          <p:cNvSpPr/>
          <p:nvPr/>
        </p:nvSpPr>
        <p:spPr>
          <a:xfrm>
            <a:off x="125272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132" name="Step 1 head"/>
          <p:cNvSpPr txBox="1"/>
          <p:nvPr/>
        </p:nvSpPr>
        <p:spPr>
          <a:xfrm>
            <a:off x="54864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Sign up</a:t>
            </a:r>
          </a:p>
        </p:txBody>
      </p:sp>
      <p:sp>
        <p:nvSpPr>
          <p:cNvPr id="133" name="Step 1 body"/>
          <p:cNvSpPr txBox="1"/>
          <p:nvPr/>
        </p:nvSpPr>
        <p:spPr>
          <a:xfrm>
            <a:off x="54864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Free account at overleaf.com. It runs in the browser, nothing to install.</a:t>
            </a:r>
          </a:p>
        </p:txBody>
      </p:sp>
      <p:sp>
        <p:nvSpPr>
          <p:cNvPr id="134" name="Arrow 2"/>
          <p:cNvSpPr/>
          <p:nvPr/>
        </p:nvSpPr>
        <p:spPr>
          <a:xfrm rot="5400000">
            <a:off x="495490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doc circle"/>
          <p:cNvSpPr/>
          <p:nvPr/>
        </p:nvSpPr>
        <p:spPr>
          <a:xfrm>
            <a:off x="332613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6" name="icon:doc" descr="94ed00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362" y="2179472"/>
            <a:ext cx="441655" cy="441655"/>
          </a:xfrm>
          <a:prstGeom prst="rect">
            <a:avLst/>
          </a:prstGeom>
        </p:spPr>
      </p:pic>
      <p:sp>
        <p:nvSpPr>
          <p:cNvPr id="137" name="Step 2"/>
          <p:cNvSpPr/>
          <p:nvPr/>
        </p:nvSpPr>
        <p:spPr>
          <a:xfrm>
            <a:off x="403021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38" name="Step 2 head"/>
          <p:cNvSpPr txBox="1"/>
          <p:nvPr/>
        </p:nvSpPr>
        <p:spPr>
          <a:xfrm>
            <a:off x="332613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Pick a template</a:t>
            </a:r>
          </a:p>
        </p:txBody>
      </p:sp>
      <p:sp>
        <p:nvSpPr>
          <p:cNvPr id="139" name="Step 2 body"/>
          <p:cNvSpPr txBox="1"/>
          <p:nvPr/>
        </p:nvSpPr>
        <p:spPr>
          <a:xfrm>
            <a:off x="332613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Search the gallery for 'resume'. Jake's Resume is a popular start.</a:t>
            </a:r>
          </a:p>
        </p:txBody>
      </p:sp>
      <p:sp>
        <p:nvSpPr>
          <p:cNvPr id="140" name="Arrow 3"/>
          <p:cNvSpPr/>
          <p:nvPr/>
        </p:nvSpPr>
        <p:spPr>
          <a:xfrm rot="5400000">
            <a:off x="7732394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code circle"/>
          <p:cNvSpPr/>
          <p:nvPr/>
        </p:nvSpPr>
        <p:spPr>
          <a:xfrm>
            <a:off x="610362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2" name="icon:code" descr="534b89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852" y="2179472"/>
            <a:ext cx="441655" cy="441655"/>
          </a:xfrm>
          <a:prstGeom prst="rect">
            <a:avLst/>
          </a:prstGeom>
        </p:spPr>
      </p:pic>
      <p:sp>
        <p:nvSpPr>
          <p:cNvPr id="143" name="Step 3"/>
          <p:cNvSpPr/>
          <p:nvPr/>
        </p:nvSpPr>
        <p:spPr>
          <a:xfrm>
            <a:off x="6807707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44" name="Step 3 head"/>
          <p:cNvSpPr txBox="1"/>
          <p:nvPr/>
        </p:nvSpPr>
        <p:spPr>
          <a:xfrm>
            <a:off x="610362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Edit text, not layout</a:t>
            </a:r>
          </a:p>
        </p:txBody>
      </p:sp>
      <p:sp>
        <p:nvSpPr>
          <p:cNvPr id="145" name="Step 3 body"/>
          <p:cNvSpPr txBox="1"/>
          <p:nvPr/>
        </p:nvSpPr>
        <p:spPr>
          <a:xfrm>
            <a:off x="610362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Replace sections and bullets. Spacing stays tidy.</a:t>
            </a:r>
          </a:p>
        </p:txBody>
      </p:sp>
      <p:sp>
        <p:nvSpPr>
          <p:cNvPr id="146" name="rocket circle"/>
          <p:cNvSpPr/>
          <p:nvPr/>
        </p:nvSpPr>
        <p:spPr>
          <a:xfrm>
            <a:off x="888111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7" name="icon:rocket" descr="3bdf0d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342" y="2179472"/>
            <a:ext cx="441655" cy="441655"/>
          </a:xfrm>
          <a:prstGeom prst="rect">
            <a:avLst/>
          </a:prstGeom>
        </p:spPr>
      </p:pic>
      <p:sp>
        <p:nvSpPr>
          <p:cNvPr id="148" name="Step 4"/>
          <p:cNvSpPr/>
          <p:nvPr/>
        </p:nvSpPr>
        <p:spPr>
          <a:xfrm>
            <a:off x="958519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149" name="Step 4 head"/>
          <p:cNvSpPr txBox="1"/>
          <p:nvPr/>
        </p:nvSpPr>
        <p:spPr>
          <a:xfrm>
            <a:off x="888111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Compile and export</a:t>
            </a:r>
          </a:p>
        </p:txBody>
      </p:sp>
      <p:sp>
        <p:nvSpPr>
          <p:cNvPr id="150" name="Step 4 body"/>
          <p:cNvSpPr txBox="1"/>
          <p:nvPr/>
        </p:nvSpPr>
        <p:spPr>
          <a:xfrm>
            <a:off x="888111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Download the PDF and check it reads in order.</a:t>
            </a:r>
          </a:p>
        </p:txBody>
      </p:sp>
      <p:sp>
        <p:nvSpPr>
          <p:cNvPr id="151" name="Callout band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2" name="Callout tag"/>
          <p:cNvSpPr/>
          <p:nvPr/>
        </p:nvSpPr>
        <p:spPr>
          <a:xfrm>
            <a:off x="822960" y="5669280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Calibri"/>
              </a:rPr>
              <a:t>OK TOO</a:t>
            </a:r>
          </a:p>
        </p:txBody>
      </p:sp>
      <p:sp>
        <p:nvSpPr>
          <p:cNvPr id="153" name="Callout"/>
          <p:cNvSpPr txBox="1"/>
          <p:nvPr/>
        </p:nvSpPr>
        <p:spPr>
          <a:xfrm>
            <a:off x="2286000" y="553212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B1220"/>
                </a:solidFill>
                <a:latin typeface="Calibri"/>
              </a:rPr>
              <a:t>Word or Google Docs also work if they export a clean single-column PDF.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Before you hit send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hecklist card"/>
          <p:cNvSpPr/>
          <p:nvPr/>
        </p:nvSpPr>
        <p:spPr>
          <a:xfrm>
            <a:off x="548640" y="1691640"/>
            <a:ext cx="11109960" cy="443484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8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93392"/>
            <a:ext cx="329184" cy="329184"/>
          </a:xfrm>
          <a:prstGeom prst="rect">
            <a:avLst/>
          </a:prstGeom>
        </p:spPr>
      </p:pic>
      <p:sp>
        <p:nvSpPr>
          <p:cNvPr id="129" name="Item 1"/>
          <p:cNvSpPr txBox="1"/>
          <p:nvPr/>
        </p:nvSpPr>
        <p:spPr>
          <a:xfrm>
            <a:off x="1371600" y="1920240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One page, exported as PDF</a:t>
            </a:r>
          </a:p>
        </p:txBody>
      </p:sp>
      <p:pic>
        <p:nvPicPr>
          <p:cNvPr id="130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06624"/>
            <a:ext cx="329184" cy="329184"/>
          </a:xfrm>
          <a:prstGeom prst="rect">
            <a:avLst/>
          </a:prstGeom>
        </p:spPr>
      </p:pic>
      <p:sp>
        <p:nvSpPr>
          <p:cNvPr id="131" name="Item 2"/>
          <p:cNvSpPr txBox="1"/>
          <p:nvPr/>
        </p:nvSpPr>
        <p:spPr>
          <a:xfrm>
            <a:off x="1371600" y="2633472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Contact line with working links</a:t>
            </a:r>
          </a:p>
        </p:txBody>
      </p:sp>
      <p:pic>
        <p:nvPicPr>
          <p:cNvPr id="132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9856"/>
            <a:ext cx="329184" cy="329184"/>
          </a:xfrm>
          <a:prstGeom prst="rect">
            <a:avLst/>
          </a:prstGeom>
        </p:spPr>
      </p:pic>
      <p:sp>
        <p:nvSpPr>
          <p:cNvPr id="133" name="Item 3"/>
          <p:cNvSpPr txBox="1"/>
          <p:nvPr/>
        </p:nvSpPr>
        <p:spPr>
          <a:xfrm>
            <a:off x="1371600" y="3346704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Every bullet has a verb, a tool and a number</a:t>
            </a:r>
          </a:p>
        </p:txBody>
      </p:sp>
      <p:pic>
        <p:nvPicPr>
          <p:cNvPr id="134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33087"/>
            <a:ext cx="329184" cy="329184"/>
          </a:xfrm>
          <a:prstGeom prst="rect">
            <a:avLst/>
          </a:prstGeom>
        </p:spPr>
      </p:pic>
      <p:sp>
        <p:nvSpPr>
          <p:cNvPr id="135" name="Item 4"/>
          <p:cNvSpPr txBox="1"/>
          <p:nvPr/>
        </p:nvSpPr>
        <p:spPr>
          <a:xfrm>
            <a:off x="1371600" y="4059935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Skills match the job post</a:t>
            </a:r>
          </a:p>
        </p:txBody>
      </p:sp>
      <p:pic>
        <p:nvPicPr>
          <p:cNvPr id="136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846320"/>
            <a:ext cx="329184" cy="329184"/>
          </a:xfrm>
          <a:prstGeom prst="rect">
            <a:avLst/>
          </a:prstGeom>
        </p:spPr>
      </p:pic>
      <p:sp>
        <p:nvSpPr>
          <p:cNvPr id="137" name="Item 5"/>
          <p:cNvSpPr txBox="1"/>
          <p:nvPr/>
        </p:nvSpPr>
        <p:spPr>
          <a:xfrm>
            <a:off x="1371600" y="4773168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No photo, no tables, no icons</a:t>
            </a:r>
          </a:p>
        </p:txBody>
      </p:sp>
      <p:pic>
        <p:nvPicPr>
          <p:cNvPr id="138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93392"/>
            <a:ext cx="329184" cy="329184"/>
          </a:xfrm>
          <a:prstGeom prst="rect">
            <a:avLst/>
          </a:prstGeom>
        </p:spPr>
      </p:pic>
      <p:sp>
        <p:nvSpPr>
          <p:cNvPr id="139" name="Item 6"/>
          <p:cNvSpPr txBox="1"/>
          <p:nvPr/>
        </p:nvSpPr>
        <p:spPr>
          <a:xfrm>
            <a:off x="6949440" y="1920240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Same dates and titles as LinkedIn</a:t>
            </a:r>
          </a:p>
        </p:txBody>
      </p:sp>
      <p:pic>
        <p:nvPicPr>
          <p:cNvPr id="140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706624"/>
            <a:ext cx="329184" cy="329184"/>
          </a:xfrm>
          <a:prstGeom prst="rect">
            <a:avLst/>
          </a:prstGeom>
        </p:spPr>
      </p:pic>
      <p:sp>
        <p:nvSpPr>
          <p:cNvPr id="141" name="Item 7"/>
          <p:cNvSpPr txBox="1"/>
          <p:nvPr/>
        </p:nvSpPr>
        <p:spPr>
          <a:xfrm>
            <a:off x="6949440" y="2633472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Spelling checked by someone else</a:t>
            </a:r>
          </a:p>
        </p:txBody>
      </p:sp>
      <p:pic>
        <p:nvPicPr>
          <p:cNvPr id="142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419856"/>
            <a:ext cx="329184" cy="329184"/>
          </a:xfrm>
          <a:prstGeom prst="rect">
            <a:avLst/>
          </a:prstGeom>
        </p:spPr>
      </p:pic>
      <p:sp>
        <p:nvSpPr>
          <p:cNvPr id="143" name="Item 8"/>
          <p:cNvSpPr txBox="1"/>
          <p:nvPr/>
        </p:nvSpPr>
        <p:spPr>
          <a:xfrm>
            <a:off x="6949440" y="3346704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File named FirstName_LastName_Role.pdf</a:t>
            </a:r>
          </a:p>
        </p:txBody>
      </p:sp>
      <p:pic>
        <p:nvPicPr>
          <p:cNvPr id="144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133087"/>
            <a:ext cx="329184" cy="329184"/>
          </a:xfrm>
          <a:prstGeom prst="rect">
            <a:avLst/>
          </a:prstGeom>
        </p:spPr>
      </p:pic>
      <p:sp>
        <p:nvSpPr>
          <p:cNvPr id="145" name="Item 9"/>
          <p:cNvSpPr txBox="1"/>
          <p:nvPr/>
        </p:nvSpPr>
        <p:spPr>
          <a:xfrm>
            <a:off x="6949440" y="4059935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Opens correctly on your phone</a:t>
            </a:r>
          </a:p>
        </p:txBody>
      </p:sp>
      <p:pic>
        <p:nvPicPr>
          <p:cNvPr id="146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846320"/>
            <a:ext cx="329184" cy="329184"/>
          </a:xfrm>
          <a:prstGeom prst="rect">
            <a:avLst/>
          </a:prstGeom>
        </p:spPr>
      </p:pic>
      <p:sp>
        <p:nvSpPr>
          <p:cNvPr id="147" name="Item 10"/>
          <p:cNvSpPr txBox="1"/>
          <p:nvPr/>
        </p:nvSpPr>
        <p:spPr>
          <a:xfrm>
            <a:off x="6949440" y="4773168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You can explain every line out loud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10515600" cy="914400"/>
          </a:xfrm>
        </p:spPr>
        <p:txBody>
          <a:bodyPr/>
          <a:lstStyle/>
          <a:p>
            <a:r>
              <a:rPr b="1" sz="3800">
                <a:solidFill>
                  <a:srgbClr val="FFFFFF"/>
                </a:solidFill>
                <a:latin typeface="Cambria"/>
              </a:rPr>
              <a:t>The seven-second swap</a:t>
            </a:r>
          </a:p>
        </p:txBody>
      </p:sp>
      <p:sp>
        <p:nvSpPr>
          <p:cNvPr id="3" name="Activity tag"/>
          <p:cNvSpPr/>
          <p:nvPr/>
        </p:nvSpPr>
        <p:spPr>
          <a:xfrm>
            <a:off x="822960" y="8229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ACTIVITY · 8 MIN</a:t>
            </a:r>
          </a:p>
        </p:txBody>
      </p:sp>
      <p:sp>
        <p:nvSpPr>
          <p:cNvPr id="4" name="Step 1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Instruction 1"/>
          <p:cNvSpPr txBox="1"/>
          <p:nvPr/>
        </p:nvSpPr>
        <p:spPr>
          <a:xfrm>
            <a:off x="1508760" y="256032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Pair up and swap resumes.</a:t>
            </a:r>
          </a:p>
        </p:txBody>
      </p:sp>
      <p:sp>
        <p:nvSpPr>
          <p:cNvPr id="6" name="Step 2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Instruction 2"/>
          <p:cNvSpPr txBox="1"/>
          <p:nvPr/>
        </p:nvSpPr>
        <p:spPr>
          <a:xfrm>
            <a:off x="1508760" y="3337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Your partner looks for just seven seconds.</a:t>
            </a:r>
          </a:p>
        </p:txBody>
      </p:sp>
      <p:sp>
        <p:nvSpPr>
          <p:cNvPr id="8" name="Step 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Instruction 3"/>
          <p:cNvSpPr txBox="1"/>
          <p:nvPr/>
        </p:nvSpPr>
        <p:spPr>
          <a:xfrm>
            <a:off x="1508760" y="411480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They say out loud what they remember.</a:t>
            </a:r>
          </a:p>
        </p:txBody>
      </p:sp>
      <p:sp>
        <p:nvSpPr>
          <p:cNvPr id="10" name="Step 4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Instruction 4"/>
          <p:cNvSpPr txBox="1"/>
          <p:nvPr/>
        </p:nvSpPr>
        <p:spPr>
          <a:xfrm>
            <a:off x="1508760" y="489204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Fix the biggest gap you hear.</a:t>
            </a:r>
          </a:p>
        </p:txBody>
      </p:sp>
      <p:sp>
        <p:nvSpPr>
          <p:cNvPr id="12" name="Output card"/>
          <p:cNvSpPr/>
          <p:nvPr/>
        </p:nvSpPr>
        <p:spPr>
          <a:xfrm>
            <a:off x="7589520" y="2606040"/>
            <a:ext cx="4069080" cy="338328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utput label"/>
          <p:cNvSpPr txBox="1"/>
          <p:nvPr/>
        </p:nvSpPr>
        <p:spPr>
          <a:xfrm>
            <a:off x="786384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YOU LEAVE WITH</a:t>
            </a:r>
          </a:p>
        </p:txBody>
      </p:sp>
      <p:sp>
        <p:nvSpPr>
          <p:cNvPr id="14" name="Output"/>
          <p:cNvSpPr txBox="1"/>
          <p:nvPr/>
        </p:nvSpPr>
        <p:spPr>
          <a:xfrm>
            <a:off x="7863840" y="3246120"/>
            <a:ext cx="35661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stranger's first impression</a:t>
            </a:r>
          </a:p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Your one biggest fix</a:t>
            </a:r>
          </a:p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Proof the top third works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This week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roup 1"/>
          <p:cNvSpPr/>
          <p:nvPr/>
        </p:nvSpPr>
        <p:spPr>
          <a:xfrm>
            <a:off x="548640" y="1691640"/>
            <a:ext cx="3550920" cy="4434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target circle"/>
          <p:cNvSpPr/>
          <p:nvPr/>
        </p:nvSpPr>
        <p:spPr>
          <a:xfrm>
            <a:off x="822959" y="192024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target" descr="d8fc09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2080717"/>
            <a:ext cx="273405" cy="273405"/>
          </a:xfrm>
          <a:prstGeom prst="rect">
            <a:avLst/>
          </a:prstGeom>
        </p:spPr>
      </p:pic>
      <p:sp>
        <p:nvSpPr>
          <p:cNvPr id="130" name="Group 1 head"/>
          <p:cNvSpPr txBox="1"/>
          <p:nvPr/>
        </p:nvSpPr>
        <p:spPr>
          <a:xfrm>
            <a:off x="822959" y="2697480"/>
            <a:ext cx="3002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Do first</a:t>
            </a:r>
          </a:p>
        </p:txBody>
      </p:sp>
      <p:sp>
        <p:nvSpPr>
          <p:cNvPr id="131" name="Group 1 lines"/>
          <p:cNvSpPr txBox="1"/>
          <p:nvPr/>
        </p:nvSpPr>
        <p:spPr>
          <a:xfrm>
            <a:off x="822959" y="3246120"/>
            <a:ext cx="3002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Rewrite three bullets with real numbers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Tailor to one real job post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Export a clean one-page PDF</a:t>
            </a:r>
          </a:p>
        </p:txBody>
      </p:sp>
      <p:sp>
        <p:nvSpPr>
          <p:cNvPr id="132" name="Group 2"/>
          <p:cNvSpPr/>
          <p:nvPr/>
        </p:nvSpPr>
        <p:spPr>
          <a:xfrm>
            <a:off x="4328159" y="1691640"/>
            <a:ext cx="3550920" cy="44348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globe circle"/>
          <p:cNvSpPr/>
          <p:nvPr/>
        </p:nvSpPr>
        <p:spPr>
          <a:xfrm>
            <a:off x="4602479" y="1920240"/>
            <a:ext cx="594360" cy="59436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globe" descr="60298c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957" y="2080717"/>
            <a:ext cx="273405" cy="273405"/>
          </a:xfrm>
          <a:prstGeom prst="rect">
            <a:avLst/>
          </a:prstGeom>
        </p:spPr>
      </p:pic>
      <p:sp>
        <p:nvSpPr>
          <p:cNvPr id="135" name="Group 2 head"/>
          <p:cNvSpPr txBox="1"/>
          <p:nvPr/>
        </p:nvSpPr>
        <p:spPr>
          <a:xfrm>
            <a:off x="4602479" y="2697480"/>
            <a:ext cx="3002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Tools</a:t>
            </a:r>
          </a:p>
        </p:txBody>
      </p:sp>
      <p:sp>
        <p:nvSpPr>
          <p:cNvPr id="136" name="Group 2 lines"/>
          <p:cNvSpPr txBox="1"/>
          <p:nvPr/>
        </p:nvSpPr>
        <p:spPr>
          <a:xfrm>
            <a:off x="4602479" y="3246120"/>
            <a:ext cx="3002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Overleaf (LaTeX templates)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Google Docs or Word, single column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A plain-text editor to test parsing</a:t>
            </a:r>
          </a:p>
        </p:txBody>
      </p:sp>
      <p:sp>
        <p:nvSpPr>
          <p:cNvPr id="137" name="Group 3"/>
          <p:cNvSpPr/>
          <p:nvPr/>
        </p:nvSpPr>
        <p:spPr>
          <a:xfrm>
            <a:off x="8107679" y="1691640"/>
            <a:ext cx="3550920" cy="4434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people circle"/>
          <p:cNvSpPr/>
          <p:nvPr/>
        </p:nvSpPr>
        <p:spPr>
          <a:xfrm>
            <a:off x="8381999" y="192024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people" descr="65bca2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2477" y="2080717"/>
            <a:ext cx="273405" cy="273405"/>
          </a:xfrm>
          <a:prstGeom prst="rect">
            <a:avLst/>
          </a:prstGeom>
        </p:spPr>
      </p:pic>
      <p:sp>
        <p:nvSpPr>
          <p:cNvPr id="140" name="Group 3 head"/>
          <p:cNvSpPr txBox="1"/>
          <p:nvPr/>
        </p:nvSpPr>
        <p:spPr>
          <a:xfrm>
            <a:off x="8381999" y="2697480"/>
            <a:ext cx="3002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Then</a:t>
            </a:r>
          </a:p>
        </p:txBody>
      </p:sp>
      <p:sp>
        <p:nvSpPr>
          <p:cNvPr id="141" name="Group 3 lines"/>
          <p:cNvSpPr txBox="1"/>
          <p:nvPr/>
        </p:nvSpPr>
        <p:spPr>
          <a:xfrm>
            <a:off x="8381999" y="3246120"/>
            <a:ext cx="3002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Ask two people for a seven-second read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Update your LinkedIn headline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Apply to five roles that fit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Decor purple"/>
          <p:cNvSpPr/>
          <p:nvPr/>
        </p:nvSpPr>
        <p:spPr>
          <a:xfrm>
            <a:off x="9966960" y="-2286000"/>
            <a:ext cx="4754880" cy="4754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ecor cyan"/>
          <p:cNvSpPr/>
          <p:nvPr/>
        </p:nvSpPr>
        <p:spPr>
          <a:xfrm>
            <a:off x="-2377440" y="5120640"/>
            <a:ext cx="4572000" cy="457200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ag"/>
          <p:cNvSpPr/>
          <p:nvPr/>
        </p:nvSpPr>
        <p:spPr>
          <a:xfrm>
            <a:off x="822960" y="11887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REMEMBER</a:t>
            </a:r>
          </a:p>
        </p:txBody>
      </p:sp>
      <p:sp>
        <p:nvSpPr>
          <p:cNvPr id="6" name="Statement"/>
          <p:cNvSpPr txBox="1"/>
          <p:nvPr/>
        </p:nvSpPr>
        <p:spPr>
          <a:xfrm>
            <a:off x="822960" y="2011680"/>
            <a:ext cx="10058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A resume is proof, not a biography.</a:t>
            </a:r>
          </a:p>
        </p:txBody>
      </p:sp>
      <p:sp>
        <p:nvSpPr>
          <p:cNvPr id="7" name="Sub"/>
          <p:cNvSpPr txBox="1"/>
          <p:nvPr/>
        </p:nvSpPr>
        <p:spPr>
          <a:xfrm>
            <a:off x="822960" y="475488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Next: DSA patterns, the other half of getting through the door.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damyaWorkshop">
  <a:themeElements>
    <a:clrScheme name="AdamyaWorkshop">
      <a:dk1>
        <a:srgbClr val="0B1220"/>
      </a:dk1>
      <a:lt1>
        <a:srgbClr val="FFFFFF"/>
      </a:lt1>
      <a:dk2>
        <a:srgbClr val="1E2761"/>
      </a:dk2>
      <a:lt2>
        <a:srgbClr val="EEF2FF"/>
      </a:lt2>
      <a:accent1>
        <a:srgbClr val="7C3AED"/>
      </a:accent1>
      <a:accent2>
        <a:srgbClr val="22D3EE"/>
      </a:accent2>
      <a:accent3>
        <a:srgbClr val="F59E0B"/>
      </a:accent3>
      <a:accent4>
        <a:srgbClr val="10B981"/>
      </a:accent4>
      <a:accent5>
        <a:srgbClr val="EF4444"/>
      </a:accent5>
      <a:accent6>
        <a:srgbClr val="64748B"/>
      </a:accent6>
      <a:hlink>
        <a:srgbClr val="22D3EE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damyaWorkshop">
  <a:themeElements>
    <a:clrScheme name="AdamyaWorkshop">
      <a:dk1>
        <a:srgbClr val="0B1220"/>
      </a:dk1>
      <a:lt1>
        <a:srgbClr val="FFFFFF"/>
      </a:lt1>
      <a:dk2>
        <a:srgbClr val="1E2761"/>
      </a:dk2>
      <a:lt2>
        <a:srgbClr val="EEF2FF"/>
      </a:lt2>
      <a:accent1>
        <a:srgbClr val="7C3AED"/>
      </a:accent1>
      <a:accent2>
        <a:srgbClr val="22D3EE"/>
      </a:accent2>
      <a:accent3>
        <a:srgbClr val="F59E0B"/>
      </a:accent3>
      <a:accent4>
        <a:srgbClr val="10B981"/>
      </a:accent4>
      <a:accent5>
        <a:srgbClr val="EF4444"/>
      </a:accent5>
      <a:accent6>
        <a:srgbClr val="64748B"/>
      </a:accent6>
      <a:hlink>
        <a:srgbClr val="22D3EE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