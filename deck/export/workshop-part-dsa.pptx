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 students fear DSA because they try to memorise problems. We will learn patterns and a talk-through habit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honest: this does not replace practice. It tells you what to practise and in what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Memorising 500 solutions fails the first time the question is reworded. Recognising the pattern survives rewording.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Exact format varies a lot by company. Treat this as a safe default, not a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Eight weeks at about one hour a day is realistic for a student. Shorten or stretch to your placement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teach proofs. Teach the reflex: nested loop over the same input means quadratic, so look for a way to trade space for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Name the trick: instead of looking forward for a partner, remember what you have seen. Also covers frequency counts and grouping anagrams.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Variants: one pointer fast and one slow (cycle detection), or a read pointer and a write pointer (remove duplicates in place).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variable-size version grows the right edge and shrinks the left edge while a condition breaks.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Trigger words: parentheses, nested, most recent, next greater.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 bugs are off-by-one. Say your loop invariant out loud: the target, if present, is always inside lo to 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Save the next node before you overwrite the pointer. Draw it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 the recursion habit: what does the function return for one node, assuming it already works for the children.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grid is a graph where each cell has up to four neighbours. Always mark visited when you enqueue, not when you pop.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start with DP in a first interview-prep month. Start with the recursion, then memoise.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Print this. It is a starting guess, not a rule: always confirm with a small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Spaced revisiting is the one habit with the strongest evidence in learning research. Keep a simple sheet of problem, pattern,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five problem titles: Two Sum, Longest Substring Without Repeating Characters, Valid Parentheses, Number of Islands, Climbing Stairs. Ask for patterns by show of hands.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AI is a tutor for practice. Using it during a proctored test usually breaks the rules and gets you rejected.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Pick one list and finish it. Switching lists is a trap.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the part. Point to the next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Dark">
  <p:cSld name="TitleDark">
    <p:bg>
      <p:bgPr>
        <a:solidFill>
          <a:srgbClr val="0B1220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822960" y="2331720"/>
            <a:ext cx="10515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mbria"/>
              <a:buNone/>
              <a:defRPr b="1" i="0" sz="4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Light">
  <p:cSld name="ContentLight">
    <p:bg>
      <p:bgPr>
        <a:solidFill>
          <a:srgbClr val="FFFFFF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  <a:defRPr b="1" i="0" sz="3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Breaking Into Tech, 2026 — Adamya Kumar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Dark">
  <p:cSld name="SectionDark">
    <p:bg>
      <p:bgPr>
        <a:solidFill>
          <a:srgbClr val="0B122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822960" y="283464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mbria"/>
              <a:buNone/>
              <a:defRPr b="1" i="0" sz="36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Dark">
  <p:cSld name="ClosingDark">
    <p:bg>
      <p:bgPr>
        <a:solidFill>
          <a:srgbClr val="0B1220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mbria"/>
              <a:buNone/>
              <a:defRPr b="1" i="0" sz="32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148840"/>
            <a:ext cx="10607040" cy="1554480"/>
          </a:xfrm>
        </p:spPr>
        <p:txBody>
          <a:bodyPr/>
          <a:lstStyle/>
          <a:p>
            <a:r>
              <a:rPr b="1" sz="4600">
                <a:solidFill>
                  <a:srgbClr val="FFFFFF"/>
                </a:solidFill>
                <a:latin typeface="Cambria"/>
              </a:rPr>
              <a:t>DSA without the panic</a:t>
            </a:r>
          </a:p>
        </p:txBody>
      </p:sp>
      <p:sp>
        <p:nvSpPr>
          <p:cNvPr id="3" name="Decor purple"/>
          <p:cNvSpPr/>
          <p:nvPr/>
        </p:nvSpPr>
        <p:spPr>
          <a:xfrm>
            <a:off x="9966960" y="-2286000"/>
            <a:ext cx="4754880" cy="47548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Decor cyan"/>
          <p:cNvSpPr/>
          <p:nvPr/>
        </p:nvSpPr>
        <p:spPr>
          <a:xfrm>
            <a:off x="-2377440" y="5120640"/>
            <a:ext cx="4572000" cy="4572000"/>
          </a:xfrm>
          <a:prstGeom prst="ellipse">
            <a:avLst/>
          </a:prstGeom>
          <a:solidFill>
            <a:srgbClr val="22D3EE">
              <a:alpha val="2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Eyebrow"/>
          <p:cNvSpPr txBox="1"/>
          <p:nvPr/>
        </p:nvSpPr>
        <p:spPr>
          <a:xfrm>
            <a:off x="822960" y="16002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PART 2 OF 4 · DSA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822960" y="384048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CBD5E1"/>
                </a:solidFill>
                <a:latin typeface="Calibri"/>
              </a:rPr>
              <a:t>Learn about fifteen patterns instead of grinding a thousand problems.</a:t>
            </a:r>
          </a:p>
        </p:txBody>
      </p:sp>
      <p:sp>
        <p:nvSpPr>
          <p:cNvPr id="7" name="rocket_w circle"/>
          <p:cNvSpPr/>
          <p:nvPr/>
        </p:nvSpPr>
        <p:spPr>
          <a:xfrm>
            <a:off x="822960" y="5074920"/>
            <a:ext cx="566928" cy="566928"/>
          </a:xfrm>
          <a:prstGeom prst="ellipse">
            <a:avLst/>
          </a:prstGeom>
          <a:solidFill>
            <a:srgbClr val="1622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icon:rocket_w" descr="df142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030" y="5227990"/>
            <a:ext cx="260786" cy="260786"/>
          </a:xfrm>
          <a:prstGeom prst="rect">
            <a:avLst/>
          </a:prstGeom>
        </p:spPr>
      </p:pic>
      <p:sp>
        <p:nvSpPr>
          <p:cNvPr id="9" name="Presenter"/>
          <p:cNvSpPr txBox="1"/>
          <p:nvPr/>
        </p:nvSpPr>
        <p:spPr>
          <a:xfrm>
            <a:off x="1554480" y="507492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Adamya Kumar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Breaking Into Tech in 2026 · Part 2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What you will leave with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A plan, not a pile of problems.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Card 1"/>
          <p:cNvSpPr/>
          <p:nvPr/>
        </p:nvSpPr>
        <p:spPr>
          <a:xfrm>
            <a:off x="548640" y="1691640"/>
            <a:ext cx="3550920" cy="3931920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layers circle"/>
          <p:cNvSpPr/>
          <p:nvPr/>
        </p:nvSpPr>
        <p:spPr>
          <a:xfrm>
            <a:off x="822959" y="19659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9" name="icon:layers" descr="d9e5fb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1" y="2138781"/>
            <a:ext cx="294436" cy="294436"/>
          </a:xfrm>
          <a:prstGeom prst="rect">
            <a:avLst/>
          </a:prstGeom>
        </p:spPr>
      </p:pic>
      <p:sp>
        <p:nvSpPr>
          <p:cNvPr id="130" name="Card 1 head"/>
          <p:cNvSpPr txBox="1"/>
          <p:nvPr/>
        </p:nvSpPr>
        <p:spPr>
          <a:xfrm>
            <a:off x="822959" y="2788920"/>
            <a:ext cx="3002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B1220"/>
                </a:solidFill>
                <a:latin typeface="Cambria"/>
              </a:rPr>
              <a:t>A pattern map</a:t>
            </a:r>
          </a:p>
        </p:txBody>
      </p:sp>
      <p:sp>
        <p:nvSpPr>
          <p:cNvPr id="131" name="Card 1 body"/>
          <p:cNvSpPr txBox="1"/>
          <p:nvPr/>
        </p:nvSpPr>
        <p:spPr>
          <a:xfrm>
            <a:off x="822959" y="3566160"/>
            <a:ext cx="300228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Hashing, two pointers, sliding window, stack, binary search, trees, graphs, DP.</a:t>
            </a:r>
          </a:p>
        </p:txBody>
      </p:sp>
      <p:sp>
        <p:nvSpPr>
          <p:cNvPr id="132" name="Card 2"/>
          <p:cNvSpPr/>
          <p:nvPr/>
        </p:nvSpPr>
        <p:spPr>
          <a:xfrm>
            <a:off x="4328159" y="1691640"/>
            <a:ext cx="3550920" cy="393192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3" name="note circle"/>
          <p:cNvSpPr/>
          <p:nvPr/>
        </p:nvSpPr>
        <p:spPr>
          <a:xfrm>
            <a:off x="4602479" y="1965960"/>
            <a:ext cx="640080" cy="640080"/>
          </a:xfrm>
          <a:prstGeom prst="ellipse">
            <a:avLst/>
          </a:prstGeom>
          <a:solidFill>
            <a:srgbClr val="2A37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4" name="icon:note" descr="be33ba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301" y="2138781"/>
            <a:ext cx="294436" cy="294436"/>
          </a:xfrm>
          <a:prstGeom prst="rect">
            <a:avLst/>
          </a:prstGeom>
        </p:spPr>
      </p:pic>
      <p:sp>
        <p:nvSpPr>
          <p:cNvPr id="135" name="Card 2 head"/>
          <p:cNvSpPr txBox="1"/>
          <p:nvPr/>
        </p:nvSpPr>
        <p:spPr>
          <a:xfrm>
            <a:off x="4602479" y="2788920"/>
            <a:ext cx="3002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A practice loop</a:t>
            </a:r>
          </a:p>
        </p:txBody>
      </p:sp>
      <p:sp>
        <p:nvSpPr>
          <p:cNvPr id="136" name="Card 2 body"/>
          <p:cNvSpPr txBox="1"/>
          <p:nvPr/>
        </p:nvSpPr>
        <p:spPr>
          <a:xfrm>
            <a:off x="4602479" y="3566160"/>
            <a:ext cx="300228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Solve, write what you learned, revisit after a few days.</a:t>
            </a:r>
          </a:p>
        </p:txBody>
      </p:sp>
      <p:sp>
        <p:nvSpPr>
          <p:cNvPr id="137" name="Card 3"/>
          <p:cNvSpPr/>
          <p:nvPr/>
        </p:nvSpPr>
        <p:spPr>
          <a:xfrm>
            <a:off x="8107679" y="1691640"/>
            <a:ext cx="3550920" cy="3931920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8" name="chat circle"/>
          <p:cNvSpPr/>
          <p:nvPr/>
        </p:nvSpPr>
        <p:spPr>
          <a:xfrm>
            <a:off x="8381999" y="19659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9" name="icon:chat" descr="4036ec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4821" y="2138781"/>
            <a:ext cx="294436" cy="294436"/>
          </a:xfrm>
          <a:prstGeom prst="rect">
            <a:avLst/>
          </a:prstGeom>
        </p:spPr>
      </p:pic>
      <p:sp>
        <p:nvSpPr>
          <p:cNvPr id="140" name="Card 3 head"/>
          <p:cNvSpPr txBox="1"/>
          <p:nvPr/>
        </p:nvSpPr>
        <p:spPr>
          <a:xfrm>
            <a:off x="8381999" y="2788920"/>
            <a:ext cx="3002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B1220"/>
                </a:solidFill>
                <a:latin typeface="Cambria"/>
              </a:rPr>
              <a:t>A talk-through habit</a:t>
            </a:r>
          </a:p>
        </p:txBody>
      </p:sp>
      <p:sp>
        <p:nvSpPr>
          <p:cNvPr id="141" name="Card 3 body"/>
          <p:cNvSpPr txBox="1"/>
          <p:nvPr/>
        </p:nvSpPr>
        <p:spPr>
          <a:xfrm>
            <a:off x="8381999" y="3566160"/>
            <a:ext cx="300228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Say your thinking out loud, the way interviewers want.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Why patterns beat problem count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Most interview questions are a few ideas wearing different clothes.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Row 1"/>
          <p:cNvSpPr/>
          <p:nvPr/>
        </p:nvSpPr>
        <p:spPr>
          <a:xfrm>
            <a:off x="548640" y="1691640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Row 1 number"/>
          <p:cNvSpPr/>
          <p:nvPr/>
        </p:nvSpPr>
        <p:spPr>
          <a:xfrm>
            <a:off x="777240" y="1867204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29" name="Row 1 head"/>
          <p:cNvSpPr txBox="1"/>
          <p:nvPr/>
        </p:nvSpPr>
        <p:spPr>
          <a:xfrm>
            <a:off x="1508760" y="1691640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Spot</a:t>
            </a:r>
          </a:p>
        </p:txBody>
      </p:sp>
      <p:sp>
        <p:nvSpPr>
          <p:cNvPr id="130" name="Row 1 body"/>
          <p:cNvSpPr txBox="1"/>
          <p:nvPr/>
        </p:nvSpPr>
        <p:spPr>
          <a:xfrm>
            <a:off x="4663440" y="1691640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Read the problem and name the shape: pairs, ranges, nesting, search, grid.</a:t>
            </a:r>
          </a:p>
        </p:txBody>
      </p:sp>
      <p:sp>
        <p:nvSpPr>
          <p:cNvPr id="131" name="Row 2"/>
          <p:cNvSpPr/>
          <p:nvPr/>
        </p:nvSpPr>
        <p:spPr>
          <a:xfrm>
            <a:off x="548640" y="2609697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2" name="Row 2 number"/>
          <p:cNvSpPr/>
          <p:nvPr/>
        </p:nvSpPr>
        <p:spPr>
          <a:xfrm>
            <a:off x="777240" y="278526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3" name="Row 2 head"/>
          <p:cNvSpPr txBox="1"/>
          <p:nvPr/>
        </p:nvSpPr>
        <p:spPr>
          <a:xfrm>
            <a:off x="1508760" y="2609697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Map</a:t>
            </a:r>
          </a:p>
        </p:txBody>
      </p:sp>
      <p:sp>
        <p:nvSpPr>
          <p:cNvPr id="134" name="Row 2 body"/>
          <p:cNvSpPr txBox="1"/>
          <p:nvPr/>
        </p:nvSpPr>
        <p:spPr>
          <a:xfrm>
            <a:off x="4663440" y="2609697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Match the shape to a pattern you have practised.</a:t>
            </a:r>
          </a:p>
        </p:txBody>
      </p:sp>
      <p:sp>
        <p:nvSpPr>
          <p:cNvPr id="135" name="Row 3"/>
          <p:cNvSpPr/>
          <p:nvPr/>
        </p:nvSpPr>
        <p:spPr>
          <a:xfrm>
            <a:off x="548640" y="3527755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6" name="Row 3 number"/>
          <p:cNvSpPr/>
          <p:nvPr/>
        </p:nvSpPr>
        <p:spPr>
          <a:xfrm>
            <a:off x="777240" y="370332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7" name="Row 3 head"/>
          <p:cNvSpPr txBox="1"/>
          <p:nvPr/>
        </p:nvSpPr>
        <p:spPr>
          <a:xfrm>
            <a:off x="1508760" y="3527755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Apply</a:t>
            </a:r>
          </a:p>
        </p:txBody>
      </p:sp>
      <p:sp>
        <p:nvSpPr>
          <p:cNvPr id="138" name="Row 3 body"/>
          <p:cNvSpPr txBox="1"/>
          <p:nvPr/>
        </p:nvSpPr>
        <p:spPr>
          <a:xfrm>
            <a:off x="4663440" y="3527755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Write the standard skeleton, then adapt it to this problem.</a:t>
            </a:r>
          </a:p>
        </p:txBody>
      </p:sp>
      <p:sp>
        <p:nvSpPr>
          <p:cNvPr id="139" name="Row 4"/>
          <p:cNvSpPr/>
          <p:nvPr/>
        </p:nvSpPr>
        <p:spPr>
          <a:xfrm>
            <a:off x="548640" y="4445812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0" name="Row 4 number"/>
          <p:cNvSpPr/>
          <p:nvPr/>
        </p:nvSpPr>
        <p:spPr>
          <a:xfrm>
            <a:off x="777240" y="4621377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41" name="Row 4 head"/>
          <p:cNvSpPr txBox="1"/>
          <p:nvPr/>
        </p:nvSpPr>
        <p:spPr>
          <a:xfrm>
            <a:off x="1508760" y="4445812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Check</a:t>
            </a:r>
          </a:p>
        </p:txBody>
      </p:sp>
      <p:sp>
        <p:nvSpPr>
          <p:cNvPr id="142" name="Row 4 body"/>
          <p:cNvSpPr txBox="1"/>
          <p:nvPr/>
        </p:nvSpPr>
        <p:spPr>
          <a:xfrm>
            <a:off x="4663440" y="4445812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Test on a tiny example and an edge case.</a:t>
            </a:r>
          </a:p>
        </p:txBody>
      </p:sp>
      <p:sp>
        <p:nvSpPr>
          <p:cNvPr id="143" name="Row 5"/>
          <p:cNvSpPr/>
          <p:nvPr/>
        </p:nvSpPr>
        <p:spPr>
          <a:xfrm>
            <a:off x="548640" y="5363870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4" name="Row 5 number"/>
          <p:cNvSpPr/>
          <p:nvPr/>
        </p:nvSpPr>
        <p:spPr>
          <a:xfrm>
            <a:off x="777240" y="5539435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45" name="Row 5 head"/>
          <p:cNvSpPr txBox="1"/>
          <p:nvPr/>
        </p:nvSpPr>
        <p:spPr>
          <a:xfrm>
            <a:off x="1508760" y="5363870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Explain</a:t>
            </a:r>
          </a:p>
        </p:txBody>
      </p:sp>
      <p:sp>
        <p:nvSpPr>
          <p:cNvPr id="146" name="Row 5 body"/>
          <p:cNvSpPr txBox="1"/>
          <p:nvPr/>
        </p:nvSpPr>
        <p:spPr>
          <a:xfrm>
            <a:off x="4663440" y="5363870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Say the time and space cost.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How a coding interview flows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Around 45 minutes. The code is only one part of it.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Row 1"/>
          <p:cNvSpPr/>
          <p:nvPr/>
        </p:nvSpPr>
        <p:spPr>
          <a:xfrm>
            <a:off x="548640" y="1691640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Row 1 number"/>
          <p:cNvSpPr/>
          <p:nvPr/>
        </p:nvSpPr>
        <p:spPr>
          <a:xfrm>
            <a:off x="777240" y="1867204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29" name="Row 1 head"/>
          <p:cNvSpPr txBox="1"/>
          <p:nvPr/>
        </p:nvSpPr>
        <p:spPr>
          <a:xfrm>
            <a:off x="1508760" y="1691640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Clarify</a:t>
            </a:r>
          </a:p>
        </p:txBody>
      </p:sp>
      <p:sp>
        <p:nvSpPr>
          <p:cNvPr id="130" name="Row 1 body"/>
          <p:cNvSpPr txBox="1"/>
          <p:nvPr/>
        </p:nvSpPr>
        <p:spPr>
          <a:xfrm>
            <a:off x="4663440" y="1691640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Repeat the problem, ask about input size, duplicates, empty input.</a:t>
            </a:r>
          </a:p>
        </p:txBody>
      </p:sp>
      <p:sp>
        <p:nvSpPr>
          <p:cNvPr id="131" name="Row 2"/>
          <p:cNvSpPr/>
          <p:nvPr/>
        </p:nvSpPr>
        <p:spPr>
          <a:xfrm>
            <a:off x="548640" y="2609697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2" name="Row 2 number"/>
          <p:cNvSpPr/>
          <p:nvPr/>
        </p:nvSpPr>
        <p:spPr>
          <a:xfrm>
            <a:off x="777240" y="278526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3" name="Row 2 head"/>
          <p:cNvSpPr txBox="1"/>
          <p:nvPr/>
        </p:nvSpPr>
        <p:spPr>
          <a:xfrm>
            <a:off x="1508760" y="2609697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Brute force</a:t>
            </a:r>
          </a:p>
        </p:txBody>
      </p:sp>
      <p:sp>
        <p:nvSpPr>
          <p:cNvPr id="134" name="Row 2 body"/>
          <p:cNvSpPr txBox="1"/>
          <p:nvPr/>
        </p:nvSpPr>
        <p:spPr>
          <a:xfrm>
            <a:off x="4663440" y="2609697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State the simple answer first and its cost.</a:t>
            </a:r>
          </a:p>
        </p:txBody>
      </p:sp>
      <p:sp>
        <p:nvSpPr>
          <p:cNvPr id="135" name="Row 3"/>
          <p:cNvSpPr/>
          <p:nvPr/>
        </p:nvSpPr>
        <p:spPr>
          <a:xfrm>
            <a:off x="548640" y="3527755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6" name="Row 3 number"/>
          <p:cNvSpPr/>
          <p:nvPr/>
        </p:nvSpPr>
        <p:spPr>
          <a:xfrm>
            <a:off x="777240" y="370332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7" name="Row 3 head"/>
          <p:cNvSpPr txBox="1"/>
          <p:nvPr/>
        </p:nvSpPr>
        <p:spPr>
          <a:xfrm>
            <a:off x="1508760" y="3527755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Improve</a:t>
            </a:r>
          </a:p>
        </p:txBody>
      </p:sp>
      <p:sp>
        <p:nvSpPr>
          <p:cNvPr id="138" name="Row 3 body"/>
          <p:cNvSpPr txBox="1"/>
          <p:nvPr/>
        </p:nvSpPr>
        <p:spPr>
          <a:xfrm>
            <a:off x="4663440" y="3527755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Name the pattern that removes the waste.</a:t>
            </a:r>
          </a:p>
        </p:txBody>
      </p:sp>
      <p:sp>
        <p:nvSpPr>
          <p:cNvPr id="139" name="Row 4"/>
          <p:cNvSpPr/>
          <p:nvPr/>
        </p:nvSpPr>
        <p:spPr>
          <a:xfrm>
            <a:off x="548640" y="4445812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0" name="Row 4 number"/>
          <p:cNvSpPr/>
          <p:nvPr/>
        </p:nvSpPr>
        <p:spPr>
          <a:xfrm>
            <a:off x="777240" y="4621377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41" name="Row 4 head"/>
          <p:cNvSpPr txBox="1"/>
          <p:nvPr/>
        </p:nvSpPr>
        <p:spPr>
          <a:xfrm>
            <a:off x="1508760" y="4445812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Code</a:t>
            </a:r>
          </a:p>
        </p:txBody>
      </p:sp>
      <p:sp>
        <p:nvSpPr>
          <p:cNvPr id="142" name="Row 4 body"/>
          <p:cNvSpPr txBox="1"/>
          <p:nvPr/>
        </p:nvSpPr>
        <p:spPr>
          <a:xfrm>
            <a:off x="4663440" y="4445812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Write clean, named, small steps while talking.</a:t>
            </a:r>
          </a:p>
        </p:txBody>
      </p:sp>
      <p:sp>
        <p:nvSpPr>
          <p:cNvPr id="143" name="Row 5"/>
          <p:cNvSpPr/>
          <p:nvPr/>
        </p:nvSpPr>
        <p:spPr>
          <a:xfrm>
            <a:off x="548640" y="5363870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4" name="Row 5 number"/>
          <p:cNvSpPr/>
          <p:nvPr/>
        </p:nvSpPr>
        <p:spPr>
          <a:xfrm>
            <a:off x="777240" y="5539435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45" name="Row 5 head"/>
          <p:cNvSpPr txBox="1"/>
          <p:nvPr/>
        </p:nvSpPr>
        <p:spPr>
          <a:xfrm>
            <a:off x="1508760" y="5363870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Test</a:t>
            </a:r>
          </a:p>
        </p:txBody>
      </p:sp>
      <p:sp>
        <p:nvSpPr>
          <p:cNvPr id="146" name="Row 5 body"/>
          <p:cNvSpPr txBox="1"/>
          <p:nvPr/>
        </p:nvSpPr>
        <p:spPr>
          <a:xfrm>
            <a:off x="4663440" y="5363870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Walk one example by hand, then an edge case.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A learning order that builds on itself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Header row"/>
          <p:cNvSpPr/>
          <p:nvPr/>
        </p:nvSpPr>
        <p:spPr>
          <a:xfrm>
            <a:off x="548640" y="1691640"/>
            <a:ext cx="1110996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Head 1"/>
          <p:cNvSpPr txBox="1"/>
          <p:nvPr/>
        </p:nvSpPr>
        <p:spPr>
          <a:xfrm>
            <a:off x="685800" y="1691640"/>
            <a:ext cx="10058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Week</a:t>
            </a:r>
          </a:p>
        </p:txBody>
      </p:sp>
      <p:sp>
        <p:nvSpPr>
          <p:cNvPr id="129" name="Head 2"/>
          <p:cNvSpPr txBox="1"/>
          <p:nvPr/>
        </p:nvSpPr>
        <p:spPr>
          <a:xfrm>
            <a:off x="1965960" y="1691640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Topic</a:t>
            </a:r>
          </a:p>
        </p:txBody>
      </p:sp>
      <p:sp>
        <p:nvSpPr>
          <p:cNvPr id="130" name="Head 3"/>
          <p:cNvSpPr txBox="1"/>
          <p:nvPr/>
        </p:nvSpPr>
        <p:spPr>
          <a:xfrm>
            <a:off x="6537960" y="1691640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Why this order</a:t>
            </a:r>
          </a:p>
        </p:txBody>
      </p:sp>
      <p:sp>
        <p:nvSpPr>
          <p:cNvPr id="131" name="Row 1"/>
          <p:cNvSpPr/>
          <p:nvPr/>
        </p:nvSpPr>
        <p:spPr>
          <a:xfrm>
            <a:off x="548640" y="2194560"/>
            <a:ext cx="11109960" cy="56823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Cell 1.1"/>
          <p:cNvSpPr txBox="1"/>
          <p:nvPr/>
        </p:nvSpPr>
        <p:spPr>
          <a:xfrm>
            <a:off x="685800" y="2194560"/>
            <a:ext cx="1005839" cy="568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1</a:t>
            </a:r>
          </a:p>
        </p:txBody>
      </p:sp>
      <p:sp>
        <p:nvSpPr>
          <p:cNvPr id="133" name="Cell 1.2"/>
          <p:cNvSpPr txBox="1"/>
          <p:nvPr/>
        </p:nvSpPr>
        <p:spPr>
          <a:xfrm>
            <a:off x="1965960" y="2194560"/>
            <a:ext cx="4297680" cy="568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Arrays, strings, hashing</a:t>
            </a:r>
          </a:p>
        </p:txBody>
      </p:sp>
      <p:sp>
        <p:nvSpPr>
          <p:cNvPr id="134" name="Cell 1.3"/>
          <p:cNvSpPr txBox="1"/>
          <p:nvPr/>
        </p:nvSpPr>
        <p:spPr>
          <a:xfrm>
            <a:off x="6537960" y="2194560"/>
            <a:ext cx="4983480" cy="568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Most questions start here</a:t>
            </a:r>
          </a:p>
        </p:txBody>
      </p:sp>
      <p:sp>
        <p:nvSpPr>
          <p:cNvPr id="135" name="Row 2"/>
          <p:cNvSpPr/>
          <p:nvPr/>
        </p:nvSpPr>
        <p:spPr>
          <a:xfrm>
            <a:off x="548640" y="2762794"/>
            <a:ext cx="11109960" cy="56823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Cell 2.1"/>
          <p:cNvSpPr txBox="1"/>
          <p:nvPr/>
        </p:nvSpPr>
        <p:spPr>
          <a:xfrm>
            <a:off x="685800" y="2762794"/>
            <a:ext cx="1005839" cy="568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2</a:t>
            </a:r>
          </a:p>
        </p:txBody>
      </p:sp>
      <p:sp>
        <p:nvSpPr>
          <p:cNvPr id="137" name="Cell 2.2"/>
          <p:cNvSpPr txBox="1"/>
          <p:nvPr/>
        </p:nvSpPr>
        <p:spPr>
          <a:xfrm>
            <a:off x="1965960" y="2762794"/>
            <a:ext cx="4297680" cy="568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Two pointers, sliding window</a:t>
            </a:r>
          </a:p>
        </p:txBody>
      </p:sp>
      <p:sp>
        <p:nvSpPr>
          <p:cNvPr id="138" name="Cell 2.3"/>
          <p:cNvSpPr txBox="1"/>
          <p:nvPr/>
        </p:nvSpPr>
        <p:spPr>
          <a:xfrm>
            <a:off x="6537960" y="2762794"/>
            <a:ext cx="4983480" cy="568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Cuts nested loops to one pass</a:t>
            </a:r>
          </a:p>
        </p:txBody>
      </p:sp>
      <p:sp>
        <p:nvSpPr>
          <p:cNvPr id="139" name="Row 3"/>
          <p:cNvSpPr/>
          <p:nvPr/>
        </p:nvSpPr>
        <p:spPr>
          <a:xfrm>
            <a:off x="548640" y="3331028"/>
            <a:ext cx="11109960" cy="56823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Cell 3.1"/>
          <p:cNvSpPr txBox="1"/>
          <p:nvPr/>
        </p:nvSpPr>
        <p:spPr>
          <a:xfrm>
            <a:off x="685800" y="3331028"/>
            <a:ext cx="1005839" cy="568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3</a:t>
            </a:r>
          </a:p>
        </p:txBody>
      </p:sp>
      <p:sp>
        <p:nvSpPr>
          <p:cNvPr id="141" name="Cell 3.2"/>
          <p:cNvSpPr txBox="1"/>
          <p:nvPr/>
        </p:nvSpPr>
        <p:spPr>
          <a:xfrm>
            <a:off x="1965960" y="3331028"/>
            <a:ext cx="4297680" cy="568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Stack, queue, linked list</a:t>
            </a:r>
          </a:p>
        </p:txBody>
      </p:sp>
      <p:sp>
        <p:nvSpPr>
          <p:cNvPr id="142" name="Cell 3.3"/>
          <p:cNvSpPr txBox="1"/>
          <p:nvPr/>
        </p:nvSpPr>
        <p:spPr>
          <a:xfrm>
            <a:off x="6537960" y="3331028"/>
            <a:ext cx="4983480" cy="568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Foundations for trees and graphs</a:t>
            </a:r>
          </a:p>
        </p:txBody>
      </p:sp>
      <p:sp>
        <p:nvSpPr>
          <p:cNvPr id="143" name="Row 4"/>
          <p:cNvSpPr/>
          <p:nvPr/>
        </p:nvSpPr>
        <p:spPr>
          <a:xfrm>
            <a:off x="548640" y="3899262"/>
            <a:ext cx="11109960" cy="56823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Cell 4.1"/>
          <p:cNvSpPr txBox="1"/>
          <p:nvPr/>
        </p:nvSpPr>
        <p:spPr>
          <a:xfrm>
            <a:off x="685800" y="3899262"/>
            <a:ext cx="1005839" cy="568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4</a:t>
            </a:r>
          </a:p>
        </p:txBody>
      </p:sp>
      <p:sp>
        <p:nvSpPr>
          <p:cNvPr id="145" name="Cell 4.2"/>
          <p:cNvSpPr txBox="1"/>
          <p:nvPr/>
        </p:nvSpPr>
        <p:spPr>
          <a:xfrm>
            <a:off x="1965960" y="3899262"/>
            <a:ext cx="4297680" cy="568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Binary search, sorting</a:t>
            </a:r>
          </a:p>
        </p:txBody>
      </p:sp>
      <p:sp>
        <p:nvSpPr>
          <p:cNvPr id="146" name="Cell 4.3"/>
          <p:cNvSpPr txBox="1"/>
          <p:nvPr/>
        </p:nvSpPr>
        <p:spPr>
          <a:xfrm>
            <a:off x="6537960" y="3899262"/>
            <a:ext cx="4983480" cy="568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Search on answers, not only arrays</a:t>
            </a:r>
          </a:p>
        </p:txBody>
      </p:sp>
      <p:sp>
        <p:nvSpPr>
          <p:cNvPr id="147" name="Row 5"/>
          <p:cNvSpPr/>
          <p:nvPr/>
        </p:nvSpPr>
        <p:spPr>
          <a:xfrm>
            <a:off x="548640" y="4467497"/>
            <a:ext cx="11109960" cy="56823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Cell 5.1"/>
          <p:cNvSpPr txBox="1"/>
          <p:nvPr/>
        </p:nvSpPr>
        <p:spPr>
          <a:xfrm>
            <a:off x="685800" y="4467497"/>
            <a:ext cx="1005839" cy="568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5</a:t>
            </a:r>
          </a:p>
        </p:txBody>
      </p:sp>
      <p:sp>
        <p:nvSpPr>
          <p:cNvPr id="149" name="Cell 5.2"/>
          <p:cNvSpPr txBox="1"/>
          <p:nvPr/>
        </p:nvSpPr>
        <p:spPr>
          <a:xfrm>
            <a:off x="1965960" y="4467497"/>
            <a:ext cx="4297680" cy="568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Trees and recursion</a:t>
            </a:r>
          </a:p>
        </p:txBody>
      </p:sp>
      <p:sp>
        <p:nvSpPr>
          <p:cNvPr id="150" name="Cell 5.3"/>
          <p:cNvSpPr txBox="1"/>
          <p:nvPr/>
        </p:nvSpPr>
        <p:spPr>
          <a:xfrm>
            <a:off x="6537960" y="4467497"/>
            <a:ext cx="4983480" cy="568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Recursion is the key skill</a:t>
            </a:r>
          </a:p>
        </p:txBody>
      </p:sp>
      <p:sp>
        <p:nvSpPr>
          <p:cNvPr id="151" name="Row 6"/>
          <p:cNvSpPr/>
          <p:nvPr/>
        </p:nvSpPr>
        <p:spPr>
          <a:xfrm>
            <a:off x="548640" y="5035731"/>
            <a:ext cx="11109960" cy="56823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Cell 6.1"/>
          <p:cNvSpPr txBox="1"/>
          <p:nvPr/>
        </p:nvSpPr>
        <p:spPr>
          <a:xfrm>
            <a:off x="685800" y="5035731"/>
            <a:ext cx="1005839" cy="568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6</a:t>
            </a:r>
          </a:p>
        </p:txBody>
      </p:sp>
      <p:sp>
        <p:nvSpPr>
          <p:cNvPr id="153" name="Cell 6.2"/>
          <p:cNvSpPr txBox="1"/>
          <p:nvPr/>
        </p:nvSpPr>
        <p:spPr>
          <a:xfrm>
            <a:off x="1965960" y="5035731"/>
            <a:ext cx="4297680" cy="568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Graphs: BFS and DFS</a:t>
            </a:r>
          </a:p>
        </p:txBody>
      </p:sp>
      <p:sp>
        <p:nvSpPr>
          <p:cNvPr id="154" name="Cell 6.3"/>
          <p:cNvSpPr txBox="1"/>
          <p:nvPr/>
        </p:nvSpPr>
        <p:spPr>
          <a:xfrm>
            <a:off x="6537960" y="5035731"/>
            <a:ext cx="4983480" cy="568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Grids and networks are graphs</a:t>
            </a:r>
          </a:p>
        </p:txBody>
      </p:sp>
      <p:sp>
        <p:nvSpPr>
          <p:cNvPr id="155" name="Row 7"/>
          <p:cNvSpPr/>
          <p:nvPr/>
        </p:nvSpPr>
        <p:spPr>
          <a:xfrm>
            <a:off x="548640" y="5603965"/>
            <a:ext cx="11109960" cy="56823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Cell 7.1"/>
          <p:cNvSpPr txBox="1"/>
          <p:nvPr/>
        </p:nvSpPr>
        <p:spPr>
          <a:xfrm>
            <a:off x="685800" y="5603965"/>
            <a:ext cx="1005839" cy="568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7-8</a:t>
            </a:r>
          </a:p>
        </p:txBody>
      </p:sp>
      <p:sp>
        <p:nvSpPr>
          <p:cNvPr id="157" name="Cell 7.2"/>
          <p:cNvSpPr txBox="1"/>
          <p:nvPr/>
        </p:nvSpPr>
        <p:spPr>
          <a:xfrm>
            <a:off x="1965960" y="5603965"/>
            <a:ext cx="4297680" cy="568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Dynamic programming basics</a:t>
            </a:r>
          </a:p>
        </p:txBody>
      </p:sp>
      <p:sp>
        <p:nvSpPr>
          <p:cNvPr id="158" name="Cell 7.3"/>
          <p:cNvSpPr txBox="1"/>
          <p:nvPr/>
        </p:nvSpPr>
        <p:spPr>
          <a:xfrm>
            <a:off x="6537960" y="5603965"/>
            <a:ext cx="4983480" cy="568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Last, because it needs recursion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Big-O in one slide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Header row"/>
          <p:cNvSpPr/>
          <p:nvPr/>
        </p:nvSpPr>
        <p:spPr>
          <a:xfrm>
            <a:off x="548640" y="1691640"/>
            <a:ext cx="1110996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Head 1"/>
          <p:cNvSpPr txBox="1"/>
          <p:nvPr/>
        </p:nvSpPr>
        <p:spPr>
          <a:xfrm>
            <a:off x="685800" y="169164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29" name="Head 2"/>
          <p:cNvSpPr txBox="1"/>
          <p:nvPr/>
        </p:nvSpPr>
        <p:spPr>
          <a:xfrm>
            <a:off x="2971800" y="169164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Name</a:t>
            </a:r>
          </a:p>
        </p:txBody>
      </p:sp>
      <p:sp>
        <p:nvSpPr>
          <p:cNvPr id="130" name="Head 3"/>
          <p:cNvSpPr txBox="1"/>
          <p:nvPr/>
        </p:nvSpPr>
        <p:spPr>
          <a:xfrm>
            <a:off x="6629400" y="1691640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131" name="Row 1"/>
          <p:cNvSpPr/>
          <p:nvPr/>
        </p:nvSpPr>
        <p:spPr>
          <a:xfrm>
            <a:off x="548640" y="2194560"/>
            <a:ext cx="11109960" cy="77724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Cell 1.1"/>
          <p:cNvSpPr txBox="1"/>
          <p:nvPr/>
        </p:nvSpPr>
        <p:spPr>
          <a:xfrm>
            <a:off x="685800" y="2194560"/>
            <a:ext cx="2011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O(1)</a:t>
            </a:r>
          </a:p>
        </p:txBody>
      </p:sp>
      <p:sp>
        <p:nvSpPr>
          <p:cNvPr id="133" name="Cell 1.2"/>
          <p:cNvSpPr txBox="1"/>
          <p:nvPr/>
        </p:nvSpPr>
        <p:spPr>
          <a:xfrm>
            <a:off x="2971800" y="2194560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Constant</a:t>
            </a:r>
          </a:p>
        </p:txBody>
      </p:sp>
      <p:sp>
        <p:nvSpPr>
          <p:cNvPr id="134" name="Cell 1.3"/>
          <p:cNvSpPr txBox="1"/>
          <p:nvPr/>
        </p:nvSpPr>
        <p:spPr>
          <a:xfrm>
            <a:off x="6629400" y="2194560"/>
            <a:ext cx="48920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Read a value from a dictionary</a:t>
            </a:r>
          </a:p>
        </p:txBody>
      </p:sp>
      <p:sp>
        <p:nvSpPr>
          <p:cNvPr id="135" name="Row 2"/>
          <p:cNvSpPr/>
          <p:nvPr/>
        </p:nvSpPr>
        <p:spPr>
          <a:xfrm>
            <a:off x="548640" y="2971800"/>
            <a:ext cx="111099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Cell 2.1"/>
          <p:cNvSpPr txBox="1"/>
          <p:nvPr/>
        </p:nvSpPr>
        <p:spPr>
          <a:xfrm>
            <a:off x="685800" y="2971800"/>
            <a:ext cx="2011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O(log n)</a:t>
            </a:r>
          </a:p>
        </p:txBody>
      </p:sp>
      <p:sp>
        <p:nvSpPr>
          <p:cNvPr id="137" name="Cell 2.2"/>
          <p:cNvSpPr txBox="1"/>
          <p:nvPr/>
        </p:nvSpPr>
        <p:spPr>
          <a:xfrm>
            <a:off x="2971800" y="2971800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Logarithmic</a:t>
            </a:r>
          </a:p>
        </p:txBody>
      </p:sp>
      <p:sp>
        <p:nvSpPr>
          <p:cNvPr id="138" name="Cell 2.3"/>
          <p:cNvSpPr txBox="1"/>
          <p:nvPr/>
        </p:nvSpPr>
        <p:spPr>
          <a:xfrm>
            <a:off x="6629400" y="2971800"/>
            <a:ext cx="48920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Binary search</a:t>
            </a:r>
          </a:p>
        </p:txBody>
      </p:sp>
      <p:sp>
        <p:nvSpPr>
          <p:cNvPr id="139" name="Row 3"/>
          <p:cNvSpPr/>
          <p:nvPr/>
        </p:nvSpPr>
        <p:spPr>
          <a:xfrm>
            <a:off x="548640" y="3749040"/>
            <a:ext cx="11109960" cy="77724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Cell 3.1"/>
          <p:cNvSpPr txBox="1"/>
          <p:nvPr/>
        </p:nvSpPr>
        <p:spPr>
          <a:xfrm>
            <a:off x="685800" y="3749040"/>
            <a:ext cx="2011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O(n)</a:t>
            </a:r>
          </a:p>
        </p:txBody>
      </p:sp>
      <p:sp>
        <p:nvSpPr>
          <p:cNvPr id="141" name="Cell 3.2"/>
          <p:cNvSpPr txBox="1"/>
          <p:nvPr/>
        </p:nvSpPr>
        <p:spPr>
          <a:xfrm>
            <a:off x="2971800" y="3749040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Linear</a:t>
            </a:r>
          </a:p>
        </p:txBody>
      </p:sp>
      <p:sp>
        <p:nvSpPr>
          <p:cNvPr id="142" name="Cell 3.3"/>
          <p:cNvSpPr txBox="1"/>
          <p:nvPr/>
        </p:nvSpPr>
        <p:spPr>
          <a:xfrm>
            <a:off x="6629400" y="3749040"/>
            <a:ext cx="48920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One pass through a list</a:t>
            </a:r>
          </a:p>
        </p:txBody>
      </p:sp>
      <p:sp>
        <p:nvSpPr>
          <p:cNvPr id="143" name="Row 4"/>
          <p:cNvSpPr/>
          <p:nvPr/>
        </p:nvSpPr>
        <p:spPr>
          <a:xfrm>
            <a:off x="548640" y="4526280"/>
            <a:ext cx="111099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Cell 4.1"/>
          <p:cNvSpPr txBox="1"/>
          <p:nvPr/>
        </p:nvSpPr>
        <p:spPr>
          <a:xfrm>
            <a:off x="685800" y="4526280"/>
            <a:ext cx="2011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O(n log n)</a:t>
            </a:r>
          </a:p>
        </p:txBody>
      </p:sp>
      <p:sp>
        <p:nvSpPr>
          <p:cNvPr id="145" name="Cell 4.2"/>
          <p:cNvSpPr txBox="1"/>
          <p:nvPr/>
        </p:nvSpPr>
        <p:spPr>
          <a:xfrm>
            <a:off x="2971800" y="4526280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Linearithmic</a:t>
            </a:r>
          </a:p>
        </p:txBody>
      </p:sp>
      <p:sp>
        <p:nvSpPr>
          <p:cNvPr id="146" name="Cell 4.3"/>
          <p:cNvSpPr txBox="1"/>
          <p:nvPr/>
        </p:nvSpPr>
        <p:spPr>
          <a:xfrm>
            <a:off x="6629400" y="4526280"/>
            <a:ext cx="48920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Sorting</a:t>
            </a:r>
          </a:p>
        </p:txBody>
      </p:sp>
      <p:sp>
        <p:nvSpPr>
          <p:cNvPr id="147" name="Row 5"/>
          <p:cNvSpPr/>
          <p:nvPr/>
        </p:nvSpPr>
        <p:spPr>
          <a:xfrm>
            <a:off x="548640" y="5303520"/>
            <a:ext cx="11109960" cy="77724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Cell 5.1"/>
          <p:cNvSpPr txBox="1"/>
          <p:nvPr/>
        </p:nvSpPr>
        <p:spPr>
          <a:xfrm>
            <a:off x="685800" y="5303520"/>
            <a:ext cx="2011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O(n squared)</a:t>
            </a:r>
          </a:p>
        </p:txBody>
      </p:sp>
      <p:sp>
        <p:nvSpPr>
          <p:cNvPr id="149" name="Cell 5.2"/>
          <p:cNvSpPr txBox="1"/>
          <p:nvPr/>
        </p:nvSpPr>
        <p:spPr>
          <a:xfrm>
            <a:off x="2971800" y="5303520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Quadratic</a:t>
            </a:r>
          </a:p>
        </p:txBody>
      </p:sp>
      <p:sp>
        <p:nvSpPr>
          <p:cNvPr id="150" name="Cell 5.3"/>
          <p:cNvSpPr txBox="1"/>
          <p:nvPr/>
        </p:nvSpPr>
        <p:spPr>
          <a:xfrm>
            <a:off x="6629400" y="5303520"/>
            <a:ext cx="48920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Two nested loops over the same list</a:t>
            </a:r>
          </a:p>
        </p:txBody>
      </p:sp>
      <p:sp>
        <p:nvSpPr>
          <p:cNvPr id="151" name="Source"/>
          <p:cNvSpPr txBox="1"/>
          <p:nvPr/>
        </p:nvSpPr>
        <p:spPr>
          <a:xfrm>
            <a:off x="640080" y="6291072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Source: Rule of thumb: about 10^8 simple operations per second is a common planning figure for interview limits.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Pattern 1: Hashing (Two Sum)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Code panel"/>
          <p:cNvSpPr/>
          <p:nvPr/>
        </p:nvSpPr>
        <p:spPr>
          <a:xfrm>
            <a:off x="548640" y="1691640"/>
            <a:ext cx="6675120" cy="443484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Lang"/>
          <p:cNvSpPr/>
          <p:nvPr/>
        </p:nvSpPr>
        <p:spPr>
          <a:xfrm>
            <a:off x="822960" y="1874519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129" name="Code"/>
          <p:cNvSpPr txBox="1"/>
          <p:nvPr/>
        </p:nvSpPr>
        <p:spPr>
          <a:xfrm>
            <a:off x="868680" y="2331720"/>
            <a:ext cx="621792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def two_sum(nums, target):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seen = {}              # value -&gt; index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for i, x in enumerate(nums):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    need = target - x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    if need in seen: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        return [seen[need], i]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    seen[x] = i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return []</a:t>
            </a:r>
          </a:p>
        </p:txBody>
      </p:sp>
      <p:sp>
        <p:nvSpPr>
          <p:cNvPr id="130" name="Notes card"/>
          <p:cNvSpPr/>
          <p:nvPr/>
        </p:nvSpPr>
        <p:spPr>
          <a:xfrm>
            <a:off x="7452360" y="1691640"/>
            <a:ext cx="4206240" cy="443484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1" name="Side head"/>
          <p:cNvSpPr txBox="1"/>
          <p:nvPr/>
        </p:nvSpPr>
        <p:spPr>
          <a:xfrm>
            <a:off x="7726679" y="1874519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B1220"/>
                </a:solidFill>
                <a:latin typeface="Cambria"/>
              </a:rPr>
              <a:t>When to use it</a:t>
            </a:r>
          </a:p>
        </p:txBody>
      </p:sp>
      <p:sp>
        <p:nvSpPr>
          <p:cNvPr id="132" name="Side bullets"/>
          <p:cNvSpPr txBox="1"/>
          <p:nvPr/>
        </p:nvSpPr>
        <p:spPr>
          <a:xfrm>
            <a:off x="7726679" y="2468880"/>
            <a:ext cx="370332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8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You need to find a pair or a duplicate</a:t>
            </a:r>
          </a:p>
          <a:p>
            <a:pPr algn="l" marL="228600" indent="-228600">
              <a:spcAft>
                <a:spcPts val="8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Brute force is two nested loops</a:t>
            </a:r>
          </a:p>
          <a:p>
            <a:pPr algn="l" marL="228600" indent="-228600">
              <a:spcAft>
                <a:spcPts val="8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Trade memory for speed: O(n) time, O(n) space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Pattern 2: Two pointers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Code panel"/>
          <p:cNvSpPr/>
          <p:nvPr/>
        </p:nvSpPr>
        <p:spPr>
          <a:xfrm>
            <a:off x="548640" y="1691640"/>
            <a:ext cx="6675120" cy="443484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Lang"/>
          <p:cNvSpPr/>
          <p:nvPr/>
        </p:nvSpPr>
        <p:spPr>
          <a:xfrm>
            <a:off x="822960" y="1874519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129" name="Code"/>
          <p:cNvSpPr txBox="1"/>
          <p:nvPr/>
        </p:nvSpPr>
        <p:spPr>
          <a:xfrm>
            <a:off x="868680" y="2331720"/>
            <a:ext cx="621792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def is_palindrome(s):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l, r = 0, len(s) - 1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while l &lt; r: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    if s[l] != s[r]: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        return False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    l += 1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    r -= 1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return True</a:t>
            </a:r>
          </a:p>
        </p:txBody>
      </p:sp>
      <p:sp>
        <p:nvSpPr>
          <p:cNvPr id="130" name="Notes card"/>
          <p:cNvSpPr/>
          <p:nvPr/>
        </p:nvSpPr>
        <p:spPr>
          <a:xfrm>
            <a:off x="7452360" y="1691640"/>
            <a:ext cx="4206240" cy="443484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1" name="Side head"/>
          <p:cNvSpPr txBox="1"/>
          <p:nvPr/>
        </p:nvSpPr>
        <p:spPr>
          <a:xfrm>
            <a:off x="7726679" y="1874519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B1220"/>
                </a:solidFill>
                <a:latin typeface="Cambria"/>
              </a:rPr>
              <a:t>When to use it</a:t>
            </a:r>
          </a:p>
        </p:txBody>
      </p:sp>
      <p:sp>
        <p:nvSpPr>
          <p:cNvPr id="132" name="Side bullets"/>
          <p:cNvSpPr txBox="1"/>
          <p:nvPr/>
        </p:nvSpPr>
        <p:spPr>
          <a:xfrm>
            <a:off x="7726679" y="2468880"/>
            <a:ext cx="370332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8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Sorted array, or a string read from both ends</a:t>
            </a:r>
          </a:p>
          <a:p>
            <a:pPr algn="l" marL="228600" indent="-228600">
              <a:spcAft>
                <a:spcPts val="8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Pairs that sum to a target in a sorted list</a:t>
            </a:r>
          </a:p>
          <a:p>
            <a:pPr algn="l" marL="228600" indent="-228600">
              <a:spcAft>
                <a:spcPts val="8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O(n) time, O(1) space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Pattern 3: Sliding window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Code panel"/>
          <p:cNvSpPr/>
          <p:nvPr/>
        </p:nvSpPr>
        <p:spPr>
          <a:xfrm>
            <a:off x="548640" y="1691640"/>
            <a:ext cx="6675120" cy="443484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Lang"/>
          <p:cNvSpPr/>
          <p:nvPr/>
        </p:nvSpPr>
        <p:spPr>
          <a:xfrm>
            <a:off x="822960" y="1874519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129" name="Code"/>
          <p:cNvSpPr txBox="1"/>
          <p:nvPr/>
        </p:nvSpPr>
        <p:spPr>
          <a:xfrm>
            <a:off x="868680" y="2331720"/>
            <a:ext cx="621792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def max_sum(nums, k):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window = sum(nums[:k])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best = window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for i in range(k, len(nums)):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    window += nums[i] - nums[i - k]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    best = max(best, window)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return best</a:t>
            </a:r>
          </a:p>
        </p:txBody>
      </p:sp>
      <p:sp>
        <p:nvSpPr>
          <p:cNvPr id="130" name="Notes card"/>
          <p:cNvSpPr/>
          <p:nvPr/>
        </p:nvSpPr>
        <p:spPr>
          <a:xfrm>
            <a:off x="7452360" y="1691640"/>
            <a:ext cx="4206240" cy="443484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1" name="Side head"/>
          <p:cNvSpPr txBox="1"/>
          <p:nvPr/>
        </p:nvSpPr>
        <p:spPr>
          <a:xfrm>
            <a:off x="7726679" y="1874519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B1220"/>
                </a:solidFill>
                <a:latin typeface="Cambria"/>
              </a:rPr>
              <a:t>When to use it</a:t>
            </a:r>
          </a:p>
        </p:txBody>
      </p:sp>
      <p:sp>
        <p:nvSpPr>
          <p:cNvPr id="132" name="Side bullets"/>
          <p:cNvSpPr txBox="1"/>
          <p:nvPr/>
        </p:nvSpPr>
        <p:spPr>
          <a:xfrm>
            <a:off x="7726679" y="2468880"/>
            <a:ext cx="370332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8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A contiguous range: subarray or substring</a:t>
            </a:r>
          </a:p>
          <a:p>
            <a:pPr algn="l" marL="228600" indent="-228600">
              <a:spcAft>
                <a:spcPts val="8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Longest, shortest or best window</a:t>
            </a:r>
          </a:p>
          <a:p>
            <a:pPr algn="l" marL="228600" indent="-228600">
              <a:spcAft>
                <a:spcPts val="8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Slide: add the new item, drop the old 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Pattern 4: Stack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Code panel"/>
          <p:cNvSpPr/>
          <p:nvPr/>
        </p:nvSpPr>
        <p:spPr>
          <a:xfrm>
            <a:off x="548640" y="1691640"/>
            <a:ext cx="6675120" cy="443484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Lang"/>
          <p:cNvSpPr/>
          <p:nvPr/>
        </p:nvSpPr>
        <p:spPr>
          <a:xfrm>
            <a:off x="822960" y="1874519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129" name="Code"/>
          <p:cNvSpPr txBox="1"/>
          <p:nvPr/>
        </p:nvSpPr>
        <p:spPr>
          <a:xfrm>
            <a:off x="868680" y="2331720"/>
            <a:ext cx="621792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def is_valid(s):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pairs = {')': '(', ']': '[', '}': '{'}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stack = []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for ch in s: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    if ch in pairs: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        if not stack or stack.pop() != pairs[ch]: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            return False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    else: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        stack.append(ch)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return not stack</a:t>
            </a:r>
          </a:p>
        </p:txBody>
      </p:sp>
      <p:sp>
        <p:nvSpPr>
          <p:cNvPr id="130" name="Notes card"/>
          <p:cNvSpPr/>
          <p:nvPr/>
        </p:nvSpPr>
        <p:spPr>
          <a:xfrm>
            <a:off x="7452360" y="1691640"/>
            <a:ext cx="4206240" cy="443484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1" name="Side head"/>
          <p:cNvSpPr txBox="1"/>
          <p:nvPr/>
        </p:nvSpPr>
        <p:spPr>
          <a:xfrm>
            <a:off x="7726679" y="1874519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B1220"/>
                </a:solidFill>
                <a:latin typeface="Cambria"/>
              </a:rPr>
              <a:t>When to use it</a:t>
            </a:r>
          </a:p>
        </p:txBody>
      </p:sp>
      <p:sp>
        <p:nvSpPr>
          <p:cNvPr id="132" name="Side bullets"/>
          <p:cNvSpPr txBox="1"/>
          <p:nvPr/>
        </p:nvSpPr>
        <p:spPr>
          <a:xfrm>
            <a:off x="7726679" y="2468880"/>
            <a:ext cx="370332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8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Matching or nested structure</a:t>
            </a:r>
          </a:p>
          <a:p>
            <a:pPr algn="l" marL="228600" indent="-228600">
              <a:spcAft>
                <a:spcPts val="8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Undo, backtrack, or next greater element</a:t>
            </a:r>
          </a:p>
          <a:p>
            <a:pPr algn="l" marL="228600" indent="-228600">
              <a:spcAft>
                <a:spcPts val="8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Last in, first out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Pattern 5: Binary search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Code panel"/>
          <p:cNvSpPr/>
          <p:nvPr/>
        </p:nvSpPr>
        <p:spPr>
          <a:xfrm>
            <a:off x="548640" y="1691640"/>
            <a:ext cx="6675120" cy="443484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Lang"/>
          <p:cNvSpPr/>
          <p:nvPr/>
        </p:nvSpPr>
        <p:spPr>
          <a:xfrm>
            <a:off x="822960" y="1874519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129" name="Code"/>
          <p:cNvSpPr txBox="1"/>
          <p:nvPr/>
        </p:nvSpPr>
        <p:spPr>
          <a:xfrm>
            <a:off x="868680" y="2331720"/>
            <a:ext cx="621792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def search(nums, target):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lo, hi = 0, len(nums) - 1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while lo &lt;= hi: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    mid = (lo + hi) // 2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    if nums[mid] == target: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        return mid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    if nums[mid] &lt; target: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        lo = mid + 1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    else: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        hi = mid - 1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return -1</a:t>
            </a:r>
          </a:p>
        </p:txBody>
      </p:sp>
      <p:sp>
        <p:nvSpPr>
          <p:cNvPr id="130" name="Notes card"/>
          <p:cNvSpPr/>
          <p:nvPr/>
        </p:nvSpPr>
        <p:spPr>
          <a:xfrm>
            <a:off x="7452360" y="1691640"/>
            <a:ext cx="4206240" cy="443484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1" name="Side head"/>
          <p:cNvSpPr txBox="1"/>
          <p:nvPr/>
        </p:nvSpPr>
        <p:spPr>
          <a:xfrm>
            <a:off x="7726679" y="1874519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B1220"/>
                </a:solidFill>
                <a:latin typeface="Cambria"/>
              </a:rPr>
              <a:t>When to use it</a:t>
            </a:r>
          </a:p>
        </p:txBody>
      </p:sp>
      <p:sp>
        <p:nvSpPr>
          <p:cNvPr id="132" name="Side bullets"/>
          <p:cNvSpPr txBox="1"/>
          <p:nvPr/>
        </p:nvSpPr>
        <p:spPr>
          <a:xfrm>
            <a:off x="7726679" y="2468880"/>
            <a:ext cx="370332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8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Sorted input, or a yes/no check that flips once</a:t>
            </a:r>
          </a:p>
          <a:p>
            <a:pPr algn="l" marL="228600" indent="-228600">
              <a:spcAft>
                <a:spcPts val="8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Search on the answer: smallest speed that works</a:t>
            </a:r>
          </a:p>
          <a:p>
            <a:pPr algn="l" marL="228600" indent="-228600">
              <a:spcAft>
                <a:spcPts val="8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O(log n) 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Pattern 6: Linked list reversal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Code panel"/>
          <p:cNvSpPr/>
          <p:nvPr/>
        </p:nvSpPr>
        <p:spPr>
          <a:xfrm>
            <a:off x="548640" y="1691640"/>
            <a:ext cx="6675120" cy="443484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Lang"/>
          <p:cNvSpPr/>
          <p:nvPr/>
        </p:nvSpPr>
        <p:spPr>
          <a:xfrm>
            <a:off x="822960" y="1874519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129" name="Code"/>
          <p:cNvSpPr txBox="1"/>
          <p:nvPr/>
        </p:nvSpPr>
        <p:spPr>
          <a:xfrm>
            <a:off x="868680" y="2331720"/>
            <a:ext cx="621792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def reverse(head):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prev = None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cur = head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while cur: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    nxt = cur.next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    cur.next = prev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    prev = cur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    cur = nxt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return prev</a:t>
            </a:r>
          </a:p>
        </p:txBody>
      </p:sp>
      <p:sp>
        <p:nvSpPr>
          <p:cNvPr id="130" name="Notes card"/>
          <p:cNvSpPr/>
          <p:nvPr/>
        </p:nvSpPr>
        <p:spPr>
          <a:xfrm>
            <a:off x="7452360" y="1691640"/>
            <a:ext cx="4206240" cy="443484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1" name="Side head"/>
          <p:cNvSpPr txBox="1"/>
          <p:nvPr/>
        </p:nvSpPr>
        <p:spPr>
          <a:xfrm>
            <a:off x="7726679" y="1874519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B1220"/>
                </a:solidFill>
                <a:latin typeface="Cambria"/>
              </a:rPr>
              <a:t>When to use it</a:t>
            </a:r>
          </a:p>
        </p:txBody>
      </p:sp>
      <p:sp>
        <p:nvSpPr>
          <p:cNvPr id="132" name="Side bullets"/>
          <p:cNvSpPr txBox="1"/>
          <p:nvPr/>
        </p:nvSpPr>
        <p:spPr>
          <a:xfrm>
            <a:off x="7726679" y="2468880"/>
            <a:ext cx="370332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8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Reverse, merge, or find the middle</a:t>
            </a:r>
          </a:p>
          <a:p>
            <a:pPr algn="l" marL="228600" indent="-228600">
              <a:spcAft>
                <a:spcPts val="8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Draw boxes and arrows first</a:t>
            </a:r>
          </a:p>
          <a:p>
            <a:pPr algn="l" marL="228600" indent="-228600">
              <a:spcAft>
                <a:spcPts val="8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O(n) time, O(1) space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Pattern 7: Trees with DFS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Code panel"/>
          <p:cNvSpPr/>
          <p:nvPr/>
        </p:nvSpPr>
        <p:spPr>
          <a:xfrm>
            <a:off x="548640" y="1691640"/>
            <a:ext cx="6675120" cy="443484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Lang"/>
          <p:cNvSpPr/>
          <p:nvPr/>
        </p:nvSpPr>
        <p:spPr>
          <a:xfrm>
            <a:off x="822960" y="1874519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129" name="Code"/>
          <p:cNvSpPr txBox="1"/>
          <p:nvPr/>
        </p:nvSpPr>
        <p:spPr>
          <a:xfrm>
            <a:off x="868680" y="2331720"/>
            <a:ext cx="621792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def max_depth(node):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if node is None: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    return 0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left = max_depth(node.left)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right = max_depth(node.right)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return 1 + max(left, right)</a:t>
            </a:r>
          </a:p>
        </p:txBody>
      </p:sp>
      <p:sp>
        <p:nvSpPr>
          <p:cNvPr id="130" name="Notes card"/>
          <p:cNvSpPr/>
          <p:nvPr/>
        </p:nvSpPr>
        <p:spPr>
          <a:xfrm>
            <a:off x="7452360" y="1691640"/>
            <a:ext cx="4206240" cy="443484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1" name="Side head"/>
          <p:cNvSpPr txBox="1"/>
          <p:nvPr/>
        </p:nvSpPr>
        <p:spPr>
          <a:xfrm>
            <a:off x="7726679" y="1874519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B1220"/>
                </a:solidFill>
                <a:latin typeface="Cambria"/>
              </a:rPr>
              <a:t>When to use it</a:t>
            </a:r>
          </a:p>
        </p:txBody>
      </p:sp>
      <p:sp>
        <p:nvSpPr>
          <p:cNvPr id="132" name="Side bullets"/>
          <p:cNvSpPr txBox="1"/>
          <p:nvPr/>
        </p:nvSpPr>
        <p:spPr>
          <a:xfrm>
            <a:off x="7726679" y="2468880"/>
            <a:ext cx="370332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8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Anything that asks about a tree</a:t>
            </a:r>
          </a:p>
          <a:p>
            <a:pPr algn="l" marL="228600" indent="-228600">
              <a:spcAft>
                <a:spcPts val="8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Base case first, then trust the recursion</a:t>
            </a:r>
          </a:p>
          <a:p>
            <a:pPr algn="l" marL="228600" indent="-228600">
              <a:spcAft>
                <a:spcPts val="8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Time O(n), stack depth O(height)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Pattern 8: Graphs with BFS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Code panel"/>
          <p:cNvSpPr/>
          <p:nvPr/>
        </p:nvSpPr>
        <p:spPr>
          <a:xfrm>
            <a:off x="548640" y="1691640"/>
            <a:ext cx="6675120" cy="443484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Lang"/>
          <p:cNvSpPr/>
          <p:nvPr/>
        </p:nvSpPr>
        <p:spPr>
          <a:xfrm>
            <a:off x="822960" y="1874519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129" name="Code"/>
          <p:cNvSpPr txBox="1"/>
          <p:nvPr/>
        </p:nvSpPr>
        <p:spPr>
          <a:xfrm>
            <a:off x="868680" y="2331720"/>
            <a:ext cx="621792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from collections import deque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/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def bfs(graph, start):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seen = {start}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q = deque([start])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while q: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    node = q.popleft()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    for nb in graph[node]: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        if nb not in seen: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            seen.add(nb)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            q.append(nb)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return seen</a:t>
            </a:r>
          </a:p>
        </p:txBody>
      </p:sp>
      <p:sp>
        <p:nvSpPr>
          <p:cNvPr id="130" name="Notes card"/>
          <p:cNvSpPr/>
          <p:nvPr/>
        </p:nvSpPr>
        <p:spPr>
          <a:xfrm>
            <a:off x="7452360" y="1691640"/>
            <a:ext cx="4206240" cy="443484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1" name="Side head"/>
          <p:cNvSpPr txBox="1"/>
          <p:nvPr/>
        </p:nvSpPr>
        <p:spPr>
          <a:xfrm>
            <a:off x="7726679" y="1874519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B1220"/>
                </a:solidFill>
                <a:latin typeface="Cambria"/>
              </a:rPr>
              <a:t>When to use it</a:t>
            </a:r>
          </a:p>
        </p:txBody>
      </p:sp>
      <p:sp>
        <p:nvSpPr>
          <p:cNvPr id="132" name="Side bullets"/>
          <p:cNvSpPr txBox="1"/>
          <p:nvPr/>
        </p:nvSpPr>
        <p:spPr>
          <a:xfrm>
            <a:off x="7726679" y="2468880"/>
            <a:ext cx="370332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8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Shortest path with equal steps</a:t>
            </a:r>
          </a:p>
          <a:p>
            <a:pPr algn="l" marL="228600" indent="-228600">
              <a:spcAft>
                <a:spcPts val="8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Grids: islands, flood fill, rotting oranges</a:t>
            </a:r>
          </a:p>
          <a:p>
            <a:pPr algn="l" marL="228600" indent="-228600">
              <a:spcAft>
                <a:spcPts val="8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Use DFS when you only need to explore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Pattern 9: Dynamic programming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Code panel"/>
          <p:cNvSpPr/>
          <p:nvPr/>
        </p:nvSpPr>
        <p:spPr>
          <a:xfrm>
            <a:off x="548640" y="1691640"/>
            <a:ext cx="6675120" cy="443484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Lang"/>
          <p:cNvSpPr/>
          <p:nvPr/>
        </p:nvSpPr>
        <p:spPr>
          <a:xfrm>
            <a:off x="822960" y="1874519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129" name="Code"/>
          <p:cNvSpPr txBox="1"/>
          <p:nvPr/>
        </p:nvSpPr>
        <p:spPr>
          <a:xfrm>
            <a:off x="868680" y="2331720"/>
            <a:ext cx="621792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def climb(n):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a, b = 1, 1           # ways to reach step 0, 1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for _ in range(n - 1):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    a, b = b, a + b</a:t>
            </a:r>
          </a:p>
          <a:p>
            <a:pPr algn="l"/>
            <a:r>
              <a:rPr sz="1500" b="0" i="0">
                <a:solidFill>
                  <a:srgbClr val="CBD5E1"/>
                </a:solidFill>
                <a:latin typeface="Courier New"/>
              </a:rPr>
              <a:t>    return b</a:t>
            </a:r>
          </a:p>
        </p:txBody>
      </p:sp>
      <p:sp>
        <p:nvSpPr>
          <p:cNvPr id="130" name="Notes card"/>
          <p:cNvSpPr/>
          <p:nvPr/>
        </p:nvSpPr>
        <p:spPr>
          <a:xfrm>
            <a:off x="7452360" y="1691640"/>
            <a:ext cx="4206240" cy="443484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1" name="Side head"/>
          <p:cNvSpPr txBox="1"/>
          <p:nvPr/>
        </p:nvSpPr>
        <p:spPr>
          <a:xfrm>
            <a:off x="7726679" y="1874519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B1220"/>
                </a:solidFill>
                <a:latin typeface="Cambria"/>
              </a:rPr>
              <a:t>How to approach it</a:t>
            </a:r>
          </a:p>
        </p:txBody>
      </p:sp>
      <p:sp>
        <p:nvSpPr>
          <p:cNvPr id="132" name="Side bullets"/>
          <p:cNvSpPr txBox="1"/>
          <p:nvPr/>
        </p:nvSpPr>
        <p:spPr>
          <a:xfrm>
            <a:off x="7726679" y="2468880"/>
            <a:ext cx="370332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8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Write the brute-force recursion first</a:t>
            </a:r>
          </a:p>
          <a:p>
            <a:pPr algn="l" marL="228600" indent="-228600">
              <a:spcAft>
                <a:spcPts val="8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Find repeated sub-problems, then cache them</a:t>
            </a:r>
          </a:p>
          <a:p>
            <a:pPr algn="l" marL="228600" indent="-228600">
              <a:spcAft>
                <a:spcPts val="8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Turn the cache into a table or two variables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Trigger words cheat sheet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Header row"/>
          <p:cNvSpPr/>
          <p:nvPr/>
        </p:nvSpPr>
        <p:spPr>
          <a:xfrm>
            <a:off x="548640" y="1691640"/>
            <a:ext cx="1110996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Head 1"/>
          <p:cNvSpPr txBox="1"/>
          <p:nvPr/>
        </p:nvSpPr>
        <p:spPr>
          <a:xfrm>
            <a:off x="685800" y="169164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If you read...</a:t>
            </a:r>
          </a:p>
        </p:txBody>
      </p:sp>
      <p:sp>
        <p:nvSpPr>
          <p:cNvPr id="129" name="Head 2"/>
          <p:cNvSpPr txBox="1"/>
          <p:nvPr/>
        </p:nvSpPr>
        <p:spPr>
          <a:xfrm>
            <a:off x="6172200" y="1691640"/>
            <a:ext cx="5349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Think...</a:t>
            </a:r>
          </a:p>
        </p:txBody>
      </p:sp>
      <p:sp>
        <p:nvSpPr>
          <p:cNvPr id="130" name="Row 1"/>
          <p:cNvSpPr/>
          <p:nvPr/>
        </p:nvSpPr>
        <p:spPr>
          <a:xfrm>
            <a:off x="548640" y="2194560"/>
            <a:ext cx="11109960" cy="497205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Cell 1.1"/>
          <p:cNvSpPr txBox="1"/>
          <p:nvPr/>
        </p:nvSpPr>
        <p:spPr>
          <a:xfrm>
            <a:off x="685800" y="2194560"/>
            <a:ext cx="5212080" cy="4972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Pair, duplicate, count, anagram</a:t>
            </a:r>
          </a:p>
        </p:txBody>
      </p:sp>
      <p:sp>
        <p:nvSpPr>
          <p:cNvPr id="132" name="Cell 1.2"/>
          <p:cNvSpPr txBox="1"/>
          <p:nvPr/>
        </p:nvSpPr>
        <p:spPr>
          <a:xfrm>
            <a:off x="6172200" y="2194560"/>
            <a:ext cx="5349240" cy="4972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Hash map or set</a:t>
            </a:r>
          </a:p>
        </p:txBody>
      </p:sp>
      <p:sp>
        <p:nvSpPr>
          <p:cNvPr id="133" name="Row 2"/>
          <p:cNvSpPr/>
          <p:nvPr/>
        </p:nvSpPr>
        <p:spPr>
          <a:xfrm>
            <a:off x="548640" y="2691765"/>
            <a:ext cx="11109960" cy="4972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Cell 2.1"/>
          <p:cNvSpPr txBox="1"/>
          <p:nvPr/>
        </p:nvSpPr>
        <p:spPr>
          <a:xfrm>
            <a:off x="685800" y="2691765"/>
            <a:ext cx="5212080" cy="4972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Sorted array, from both ends</a:t>
            </a:r>
          </a:p>
        </p:txBody>
      </p:sp>
      <p:sp>
        <p:nvSpPr>
          <p:cNvPr id="135" name="Cell 2.2"/>
          <p:cNvSpPr txBox="1"/>
          <p:nvPr/>
        </p:nvSpPr>
        <p:spPr>
          <a:xfrm>
            <a:off x="6172200" y="2691765"/>
            <a:ext cx="5349240" cy="4972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Two pointers</a:t>
            </a:r>
          </a:p>
        </p:txBody>
      </p:sp>
      <p:sp>
        <p:nvSpPr>
          <p:cNvPr id="136" name="Row 3"/>
          <p:cNvSpPr/>
          <p:nvPr/>
        </p:nvSpPr>
        <p:spPr>
          <a:xfrm>
            <a:off x="548640" y="3188970"/>
            <a:ext cx="11109960" cy="497205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Cell 3.1"/>
          <p:cNvSpPr txBox="1"/>
          <p:nvPr/>
        </p:nvSpPr>
        <p:spPr>
          <a:xfrm>
            <a:off x="685800" y="3188970"/>
            <a:ext cx="5212080" cy="4972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Longest or shortest substring or subarray</a:t>
            </a:r>
          </a:p>
        </p:txBody>
      </p:sp>
      <p:sp>
        <p:nvSpPr>
          <p:cNvPr id="138" name="Cell 3.2"/>
          <p:cNvSpPr txBox="1"/>
          <p:nvPr/>
        </p:nvSpPr>
        <p:spPr>
          <a:xfrm>
            <a:off x="6172200" y="3188970"/>
            <a:ext cx="5349240" cy="4972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Sliding window</a:t>
            </a:r>
          </a:p>
        </p:txBody>
      </p:sp>
      <p:sp>
        <p:nvSpPr>
          <p:cNvPr id="139" name="Row 4"/>
          <p:cNvSpPr/>
          <p:nvPr/>
        </p:nvSpPr>
        <p:spPr>
          <a:xfrm>
            <a:off x="548640" y="3686175"/>
            <a:ext cx="11109960" cy="4972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Cell 4.1"/>
          <p:cNvSpPr txBox="1"/>
          <p:nvPr/>
        </p:nvSpPr>
        <p:spPr>
          <a:xfrm>
            <a:off x="685800" y="3686175"/>
            <a:ext cx="5212080" cy="4972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Nested, matching, next greater</a:t>
            </a:r>
          </a:p>
        </p:txBody>
      </p:sp>
      <p:sp>
        <p:nvSpPr>
          <p:cNvPr id="141" name="Cell 4.2"/>
          <p:cNvSpPr txBox="1"/>
          <p:nvPr/>
        </p:nvSpPr>
        <p:spPr>
          <a:xfrm>
            <a:off x="6172200" y="3686175"/>
            <a:ext cx="5349240" cy="4972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Stack</a:t>
            </a:r>
          </a:p>
        </p:txBody>
      </p:sp>
      <p:sp>
        <p:nvSpPr>
          <p:cNvPr id="142" name="Row 5"/>
          <p:cNvSpPr/>
          <p:nvPr/>
        </p:nvSpPr>
        <p:spPr>
          <a:xfrm>
            <a:off x="548640" y="4183380"/>
            <a:ext cx="11109960" cy="497205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Cell 5.1"/>
          <p:cNvSpPr txBox="1"/>
          <p:nvPr/>
        </p:nvSpPr>
        <p:spPr>
          <a:xfrm>
            <a:off x="685800" y="4183380"/>
            <a:ext cx="5212080" cy="4972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Sorted, or minimise the maximum</a:t>
            </a:r>
          </a:p>
        </p:txBody>
      </p:sp>
      <p:sp>
        <p:nvSpPr>
          <p:cNvPr id="144" name="Cell 5.2"/>
          <p:cNvSpPr txBox="1"/>
          <p:nvPr/>
        </p:nvSpPr>
        <p:spPr>
          <a:xfrm>
            <a:off x="6172200" y="4183380"/>
            <a:ext cx="5349240" cy="4972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Binary search</a:t>
            </a:r>
          </a:p>
        </p:txBody>
      </p:sp>
      <p:sp>
        <p:nvSpPr>
          <p:cNvPr id="145" name="Row 6"/>
          <p:cNvSpPr/>
          <p:nvPr/>
        </p:nvSpPr>
        <p:spPr>
          <a:xfrm>
            <a:off x="548640" y="4680585"/>
            <a:ext cx="11109960" cy="4972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Cell 6.1"/>
          <p:cNvSpPr txBox="1"/>
          <p:nvPr/>
        </p:nvSpPr>
        <p:spPr>
          <a:xfrm>
            <a:off x="685800" y="4680585"/>
            <a:ext cx="5212080" cy="4972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Tree, path, depth</a:t>
            </a:r>
          </a:p>
        </p:txBody>
      </p:sp>
      <p:sp>
        <p:nvSpPr>
          <p:cNvPr id="147" name="Cell 6.2"/>
          <p:cNvSpPr txBox="1"/>
          <p:nvPr/>
        </p:nvSpPr>
        <p:spPr>
          <a:xfrm>
            <a:off x="6172200" y="4680585"/>
            <a:ext cx="5349240" cy="4972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DFS recursion</a:t>
            </a:r>
          </a:p>
        </p:txBody>
      </p:sp>
      <p:sp>
        <p:nvSpPr>
          <p:cNvPr id="148" name="Row 7"/>
          <p:cNvSpPr/>
          <p:nvPr/>
        </p:nvSpPr>
        <p:spPr>
          <a:xfrm>
            <a:off x="548640" y="5177790"/>
            <a:ext cx="11109960" cy="497205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Cell 7.1"/>
          <p:cNvSpPr txBox="1"/>
          <p:nvPr/>
        </p:nvSpPr>
        <p:spPr>
          <a:xfrm>
            <a:off x="685800" y="5177790"/>
            <a:ext cx="5212080" cy="4972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Shortest path, grid, levels</a:t>
            </a:r>
          </a:p>
        </p:txBody>
      </p:sp>
      <p:sp>
        <p:nvSpPr>
          <p:cNvPr id="150" name="Cell 7.2"/>
          <p:cNvSpPr txBox="1"/>
          <p:nvPr/>
        </p:nvSpPr>
        <p:spPr>
          <a:xfrm>
            <a:off x="6172200" y="5177790"/>
            <a:ext cx="5349240" cy="4972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BFS</a:t>
            </a:r>
          </a:p>
        </p:txBody>
      </p:sp>
      <p:sp>
        <p:nvSpPr>
          <p:cNvPr id="151" name="Row 8"/>
          <p:cNvSpPr/>
          <p:nvPr/>
        </p:nvSpPr>
        <p:spPr>
          <a:xfrm>
            <a:off x="548640" y="5674995"/>
            <a:ext cx="11109960" cy="4972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Cell 8.1"/>
          <p:cNvSpPr txBox="1"/>
          <p:nvPr/>
        </p:nvSpPr>
        <p:spPr>
          <a:xfrm>
            <a:off x="685800" y="5674995"/>
            <a:ext cx="5212080" cy="4972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Number of ways, minimum cost</a:t>
            </a:r>
          </a:p>
        </p:txBody>
      </p:sp>
      <p:sp>
        <p:nvSpPr>
          <p:cNvPr id="153" name="Cell 8.2"/>
          <p:cNvSpPr txBox="1"/>
          <p:nvPr/>
        </p:nvSpPr>
        <p:spPr>
          <a:xfrm>
            <a:off x="6172200" y="5674995"/>
            <a:ext cx="5349240" cy="4972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Dynamic programming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A practice loop that sticks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Quality of review beats number of problems.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Path line"/>
          <p:cNvSpPr/>
          <p:nvPr/>
        </p:nvSpPr>
        <p:spPr>
          <a:xfrm>
            <a:off x="1028700" y="2372868"/>
            <a:ext cx="8332470" cy="5486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Arrow 1"/>
          <p:cNvSpPr/>
          <p:nvPr/>
        </p:nvSpPr>
        <p:spPr>
          <a:xfrm rot="5400000">
            <a:off x="2177415" y="2281428"/>
            <a:ext cx="237744" cy="237744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code circle"/>
          <p:cNvSpPr/>
          <p:nvPr/>
        </p:nvSpPr>
        <p:spPr>
          <a:xfrm>
            <a:off x="548640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0" name="icon:code" descr="534b89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72" y="2179472"/>
            <a:ext cx="441655" cy="441655"/>
          </a:xfrm>
          <a:prstGeom prst="rect">
            <a:avLst/>
          </a:prstGeom>
        </p:spPr>
      </p:pic>
      <p:sp>
        <p:nvSpPr>
          <p:cNvPr id="131" name="Step 1"/>
          <p:cNvSpPr/>
          <p:nvPr/>
        </p:nvSpPr>
        <p:spPr>
          <a:xfrm>
            <a:off x="1252728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1</a:t>
            </a:r>
          </a:p>
        </p:txBody>
      </p:sp>
      <p:sp>
        <p:nvSpPr>
          <p:cNvPr id="132" name="Step 1 head"/>
          <p:cNvSpPr txBox="1"/>
          <p:nvPr/>
        </p:nvSpPr>
        <p:spPr>
          <a:xfrm>
            <a:off x="548640" y="3154680"/>
            <a:ext cx="25031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Attempt</a:t>
            </a:r>
          </a:p>
        </p:txBody>
      </p:sp>
      <p:sp>
        <p:nvSpPr>
          <p:cNvPr id="133" name="Step 1 body"/>
          <p:cNvSpPr txBox="1"/>
          <p:nvPr/>
        </p:nvSpPr>
        <p:spPr>
          <a:xfrm>
            <a:off x="548640" y="3840480"/>
            <a:ext cx="250317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Struggle for 20 to 30 minutes with no hints.</a:t>
            </a:r>
          </a:p>
        </p:txBody>
      </p:sp>
      <p:sp>
        <p:nvSpPr>
          <p:cNvPr id="134" name="Arrow 2"/>
          <p:cNvSpPr/>
          <p:nvPr/>
        </p:nvSpPr>
        <p:spPr>
          <a:xfrm rot="5400000">
            <a:off x="4954905" y="2281428"/>
            <a:ext cx="237744" cy="237744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search circle"/>
          <p:cNvSpPr/>
          <p:nvPr/>
        </p:nvSpPr>
        <p:spPr>
          <a:xfrm>
            <a:off x="3326130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6" name="icon:search" descr="12be325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5362" y="2179472"/>
            <a:ext cx="441655" cy="441655"/>
          </a:xfrm>
          <a:prstGeom prst="rect">
            <a:avLst/>
          </a:prstGeom>
        </p:spPr>
      </p:pic>
      <p:sp>
        <p:nvSpPr>
          <p:cNvPr id="137" name="Step 2"/>
          <p:cNvSpPr/>
          <p:nvPr/>
        </p:nvSpPr>
        <p:spPr>
          <a:xfrm>
            <a:off x="4030218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2</a:t>
            </a:r>
          </a:p>
        </p:txBody>
      </p:sp>
      <p:sp>
        <p:nvSpPr>
          <p:cNvPr id="138" name="Step 2 head"/>
          <p:cNvSpPr txBox="1"/>
          <p:nvPr/>
        </p:nvSpPr>
        <p:spPr>
          <a:xfrm>
            <a:off x="3326130" y="3154680"/>
            <a:ext cx="25031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Learn</a:t>
            </a:r>
          </a:p>
        </p:txBody>
      </p:sp>
      <p:sp>
        <p:nvSpPr>
          <p:cNvPr id="139" name="Step 2 body"/>
          <p:cNvSpPr txBox="1"/>
          <p:nvPr/>
        </p:nvSpPr>
        <p:spPr>
          <a:xfrm>
            <a:off x="3326130" y="3840480"/>
            <a:ext cx="250317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Read one solution, then close it.</a:t>
            </a:r>
          </a:p>
        </p:txBody>
      </p:sp>
      <p:sp>
        <p:nvSpPr>
          <p:cNvPr id="140" name="Arrow 3"/>
          <p:cNvSpPr/>
          <p:nvPr/>
        </p:nvSpPr>
        <p:spPr>
          <a:xfrm rot="5400000">
            <a:off x="7732394" y="2281428"/>
            <a:ext cx="237744" cy="237744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doc circle"/>
          <p:cNvSpPr/>
          <p:nvPr/>
        </p:nvSpPr>
        <p:spPr>
          <a:xfrm>
            <a:off x="6103620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2" name="icon:doc" descr="94ed006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2852" y="2179472"/>
            <a:ext cx="441655" cy="441655"/>
          </a:xfrm>
          <a:prstGeom prst="rect">
            <a:avLst/>
          </a:prstGeom>
        </p:spPr>
      </p:pic>
      <p:sp>
        <p:nvSpPr>
          <p:cNvPr id="143" name="Step 3"/>
          <p:cNvSpPr/>
          <p:nvPr/>
        </p:nvSpPr>
        <p:spPr>
          <a:xfrm>
            <a:off x="6807707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3</a:t>
            </a:r>
          </a:p>
        </p:txBody>
      </p:sp>
      <p:sp>
        <p:nvSpPr>
          <p:cNvPr id="144" name="Step 3 head"/>
          <p:cNvSpPr txBox="1"/>
          <p:nvPr/>
        </p:nvSpPr>
        <p:spPr>
          <a:xfrm>
            <a:off x="6103620" y="3154680"/>
            <a:ext cx="25031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Write</a:t>
            </a:r>
          </a:p>
        </p:txBody>
      </p:sp>
      <p:sp>
        <p:nvSpPr>
          <p:cNvPr id="145" name="Step 3 body"/>
          <p:cNvSpPr txBox="1"/>
          <p:nvPr/>
        </p:nvSpPr>
        <p:spPr>
          <a:xfrm>
            <a:off x="6103620" y="3840480"/>
            <a:ext cx="250317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Note the pattern and the trick in one line.</a:t>
            </a:r>
          </a:p>
        </p:txBody>
      </p:sp>
      <p:sp>
        <p:nvSpPr>
          <p:cNvPr id="146" name="rocket circle"/>
          <p:cNvSpPr/>
          <p:nvPr/>
        </p:nvSpPr>
        <p:spPr>
          <a:xfrm>
            <a:off x="8881110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7" name="icon:rocket" descr="3bdf0d7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0342" y="2179472"/>
            <a:ext cx="441655" cy="441655"/>
          </a:xfrm>
          <a:prstGeom prst="rect">
            <a:avLst/>
          </a:prstGeom>
        </p:spPr>
      </p:pic>
      <p:sp>
        <p:nvSpPr>
          <p:cNvPr id="148" name="Step 4"/>
          <p:cNvSpPr/>
          <p:nvPr/>
        </p:nvSpPr>
        <p:spPr>
          <a:xfrm>
            <a:off x="9585198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4</a:t>
            </a:r>
          </a:p>
        </p:txBody>
      </p:sp>
      <p:sp>
        <p:nvSpPr>
          <p:cNvPr id="149" name="Step 4 head"/>
          <p:cNvSpPr txBox="1"/>
          <p:nvPr/>
        </p:nvSpPr>
        <p:spPr>
          <a:xfrm>
            <a:off x="8881110" y="3154680"/>
            <a:ext cx="25031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Revisit</a:t>
            </a:r>
          </a:p>
        </p:txBody>
      </p:sp>
      <p:sp>
        <p:nvSpPr>
          <p:cNvPr id="150" name="Step 4 body"/>
          <p:cNvSpPr txBox="1"/>
          <p:nvPr/>
        </p:nvSpPr>
        <p:spPr>
          <a:xfrm>
            <a:off x="8881110" y="3840480"/>
            <a:ext cx="250317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Redo it after 3 days and again after 2 weeks.</a:t>
            </a:r>
          </a:p>
        </p:txBody>
      </p:sp>
      <p:sp>
        <p:nvSpPr>
          <p:cNvPr id="151" name="Callout band"/>
          <p:cNvSpPr/>
          <p:nvPr/>
        </p:nvSpPr>
        <p:spPr>
          <a:xfrm>
            <a:off x="548640" y="5486400"/>
            <a:ext cx="11109960" cy="685800"/>
          </a:xfrm>
          <a:prstGeom prst="roundRect">
            <a:avLst>
              <a:gd name="adj" fmla="val 18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2" name="Callout tag"/>
          <p:cNvSpPr/>
          <p:nvPr/>
        </p:nvSpPr>
        <p:spPr>
          <a:xfrm>
            <a:off x="822960" y="5669280"/>
            <a:ext cx="1234440" cy="3200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1220"/>
                </a:solidFill>
                <a:latin typeface="Calibri"/>
              </a:rPr>
              <a:t>RULE</a:t>
            </a:r>
          </a:p>
        </p:txBody>
      </p:sp>
      <p:sp>
        <p:nvSpPr>
          <p:cNvPr id="153" name="Callout"/>
          <p:cNvSpPr txBox="1"/>
          <p:nvPr/>
        </p:nvSpPr>
        <p:spPr>
          <a:xfrm>
            <a:off x="2286000" y="5532120"/>
            <a:ext cx="9144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0B1220"/>
                </a:solidFill>
                <a:latin typeface="Calibri"/>
              </a:rPr>
              <a:t>Two problems done properly beat five skimmed.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371600"/>
            <a:ext cx="10515600" cy="914400"/>
          </a:xfrm>
        </p:spPr>
        <p:txBody>
          <a:bodyPr/>
          <a:lstStyle/>
          <a:p>
            <a:r>
              <a:rPr b="1" sz="3800">
                <a:solidFill>
                  <a:srgbClr val="FFFFFF"/>
                </a:solidFill>
                <a:latin typeface="Cambria"/>
              </a:rPr>
              <a:t>Live drill: name the pattern</a:t>
            </a:r>
          </a:p>
        </p:txBody>
      </p:sp>
      <p:sp>
        <p:nvSpPr>
          <p:cNvPr id="3" name="Activity tag"/>
          <p:cNvSpPr/>
          <p:nvPr/>
        </p:nvSpPr>
        <p:spPr>
          <a:xfrm>
            <a:off x="822960" y="82296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ACTIVITY · 10 MIN</a:t>
            </a:r>
          </a:p>
        </p:txBody>
      </p:sp>
      <p:sp>
        <p:nvSpPr>
          <p:cNvPr id="4" name="Step 1"/>
          <p:cNvSpPr/>
          <p:nvPr/>
        </p:nvSpPr>
        <p:spPr>
          <a:xfrm>
            <a:off x="822960" y="260604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Instruction 1"/>
          <p:cNvSpPr txBox="1"/>
          <p:nvPr/>
        </p:nvSpPr>
        <p:spPr>
          <a:xfrm>
            <a:off x="1508760" y="256032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Read each problem title on screen.</a:t>
            </a:r>
          </a:p>
        </p:txBody>
      </p:sp>
      <p:sp>
        <p:nvSpPr>
          <p:cNvPr id="6" name="Step 2"/>
          <p:cNvSpPr/>
          <p:nvPr/>
        </p:nvSpPr>
        <p:spPr>
          <a:xfrm>
            <a:off x="822960" y="338328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7" name="Instruction 2"/>
          <p:cNvSpPr txBox="1"/>
          <p:nvPr/>
        </p:nvSpPr>
        <p:spPr>
          <a:xfrm>
            <a:off x="1508760" y="333756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Write the pattern, not the code.</a:t>
            </a:r>
          </a:p>
        </p:txBody>
      </p:sp>
      <p:sp>
        <p:nvSpPr>
          <p:cNvPr id="8" name="Step 3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Instruction 3"/>
          <p:cNvSpPr txBox="1"/>
          <p:nvPr/>
        </p:nvSpPr>
        <p:spPr>
          <a:xfrm>
            <a:off x="1508760" y="411480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Say the brute force and the better cost.</a:t>
            </a:r>
          </a:p>
        </p:txBody>
      </p:sp>
      <p:sp>
        <p:nvSpPr>
          <p:cNvPr id="10" name="Step 4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1" name="Instruction 4"/>
          <p:cNvSpPr txBox="1"/>
          <p:nvPr/>
        </p:nvSpPr>
        <p:spPr>
          <a:xfrm>
            <a:off x="1508760" y="489204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Compare with a neighbour.</a:t>
            </a:r>
          </a:p>
        </p:txBody>
      </p:sp>
      <p:sp>
        <p:nvSpPr>
          <p:cNvPr id="12" name="Output card"/>
          <p:cNvSpPr/>
          <p:nvPr/>
        </p:nvSpPr>
        <p:spPr>
          <a:xfrm>
            <a:off x="7589520" y="2606040"/>
            <a:ext cx="4069080" cy="3383280"/>
          </a:xfrm>
          <a:prstGeom prst="roundRect">
            <a:avLst>
              <a:gd name="adj" fmla="val 6000"/>
            </a:avLst>
          </a:prstGeom>
          <a:solidFill>
            <a:srgbClr val="111A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utput label"/>
          <p:cNvSpPr txBox="1"/>
          <p:nvPr/>
        </p:nvSpPr>
        <p:spPr>
          <a:xfrm>
            <a:off x="7863840" y="27889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YOU LEAVE WITH</a:t>
            </a:r>
          </a:p>
        </p:txBody>
      </p:sp>
      <p:sp>
        <p:nvSpPr>
          <p:cNvPr id="14" name="Output"/>
          <p:cNvSpPr txBox="1"/>
          <p:nvPr/>
        </p:nvSpPr>
        <p:spPr>
          <a:xfrm>
            <a:off x="7863840" y="3246120"/>
            <a:ext cx="35661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800"/>
              </a:spcAft>
              <a:buClr>
                <a:srgbClr val="FFFFFF"/>
              </a:buClr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Faster pattern spotting</a:t>
            </a:r>
          </a:p>
          <a:p>
            <a:pPr algn="l" marL="228600" indent="-228600">
              <a:spcAft>
                <a:spcPts val="800"/>
              </a:spcAft>
              <a:buClr>
                <a:srgbClr val="FFFFFF"/>
              </a:buClr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A habit of naming cost</a:t>
            </a:r>
          </a:p>
          <a:p>
            <a:pPr algn="l" marL="228600" indent="-228600">
              <a:spcAft>
                <a:spcPts val="800"/>
              </a:spcAft>
              <a:buClr>
                <a:srgbClr val="FFFFFF"/>
              </a:buClr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Confidence to start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Talk it through, and use AI wisely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Column 1"/>
          <p:cNvSpPr/>
          <p:nvPr/>
        </p:nvSpPr>
        <p:spPr>
          <a:xfrm>
            <a:off x="548640" y="1691640"/>
            <a:ext cx="5440680" cy="443484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chat circle"/>
          <p:cNvSpPr/>
          <p:nvPr/>
        </p:nvSpPr>
        <p:spPr>
          <a:xfrm>
            <a:off x="822959" y="192024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9" name="icon:chat" descr="4036ec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7" y="2080717"/>
            <a:ext cx="273405" cy="273405"/>
          </a:xfrm>
          <a:prstGeom prst="rect">
            <a:avLst/>
          </a:prstGeom>
        </p:spPr>
      </p:pic>
      <p:sp>
        <p:nvSpPr>
          <p:cNvPr id="130" name="Column 1 head"/>
          <p:cNvSpPr txBox="1"/>
          <p:nvPr/>
        </p:nvSpPr>
        <p:spPr>
          <a:xfrm>
            <a:off x="1600200" y="1920240"/>
            <a:ext cx="42062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In the interview</a:t>
            </a:r>
          </a:p>
        </p:txBody>
      </p:sp>
      <p:sp>
        <p:nvSpPr>
          <p:cNvPr id="131" name="Column 1 bullets"/>
          <p:cNvSpPr txBox="1"/>
          <p:nvPr/>
        </p:nvSpPr>
        <p:spPr>
          <a:xfrm>
            <a:off x="868680" y="2743200"/>
            <a:ext cx="484632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7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Restate the problem in your words</a:t>
            </a:r>
          </a:p>
          <a:p>
            <a:pPr algn="l" marL="228600" indent="-228600">
              <a:spcAft>
                <a:spcPts val="7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Say the brute force first</a:t>
            </a:r>
          </a:p>
          <a:p>
            <a:pPr algn="l" marL="228600" indent="-228600">
              <a:spcAft>
                <a:spcPts val="7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Narrate while you code</a:t>
            </a:r>
          </a:p>
          <a:p>
            <a:pPr algn="l" marL="228600" indent="-228600">
              <a:spcAft>
                <a:spcPts val="7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Test with a small example</a:t>
            </a:r>
          </a:p>
          <a:p>
            <a:pPr algn="l" marL="228600" indent="-228600">
              <a:spcAft>
                <a:spcPts val="7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State time and space</a:t>
            </a:r>
          </a:p>
        </p:txBody>
      </p:sp>
      <p:sp>
        <p:nvSpPr>
          <p:cNvPr id="132" name="Column 2"/>
          <p:cNvSpPr/>
          <p:nvPr/>
        </p:nvSpPr>
        <p:spPr>
          <a:xfrm>
            <a:off x="6217920" y="1691640"/>
            <a:ext cx="5440680" cy="44348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3" name="bulb circle"/>
          <p:cNvSpPr/>
          <p:nvPr/>
        </p:nvSpPr>
        <p:spPr>
          <a:xfrm>
            <a:off x="6492240" y="1920240"/>
            <a:ext cx="594360" cy="594360"/>
          </a:xfrm>
          <a:prstGeom prst="ellipse">
            <a:avLst/>
          </a:prstGeom>
          <a:solidFill>
            <a:srgbClr val="2A37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4" name="icon:bulb" descr="54383f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717" y="2080717"/>
            <a:ext cx="273405" cy="273405"/>
          </a:xfrm>
          <a:prstGeom prst="rect">
            <a:avLst/>
          </a:prstGeom>
        </p:spPr>
      </p:pic>
      <p:sp>
        <p:nvSpPr>
          <p:cNvPr id="135" name="Column 2 head"/>
          <p:cNvSpPr txBox="1"/>
          <p:nvPr/>
        </p:nvSpPr>
        <p:spPr>
          <a:xfrm>
            <a:off x="7269479" y="1920240"/>
            <a:ext cx="42062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While practising</a:t>
            </a:r>
          </a:p>
        </p:txBody>
      </p:sp>
      <p:sp>
        <p:nvSpPr>
          <p:cNvPr id="136" name="Column 2 bullets"/>
          <p:cNvSpPr txBox="1"/>
          <p:nvPr/>
        </p:nvSpPr>
        <p:spPr>
          <a:xfrm>
            <a:off x="6537959" y="2743200"/>
            <a:ext cx="484632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700"/>
              </a:spcAft>
              <a:buClr>
                <a:srgbClr val="FFFFFF"/>
              </a:buClr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Ask AI to explain a pattern, not give the answer</a:t>
            </a:r>
          </a:p>
          <a:p>
            <a:pPr algn="l" marL="228600" indent="-228600">
              <a:spcAft>
                <a:spcPts val="700"/>
              </a:spcAft>
              <a:buClr>
                <a:srgbClr val="FFFFFF"/>
              </a:buClr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Ask for hints one at a time</a:t>
            </a:r>
          </a:p>
          <a:p>
            <a:pPr algn="l" marL="228600" indent="-228600">
              <a:spcAft>
                <a:spcPts val="700"/>
              </a:spcAft>
              <a:buClr>
                <a:srgbClr val="FFFFFF"/>
              </a:buClr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Have it quiz you on trade-offs</a:t>
            </a:r>
          </a:p>
          <a:p>
            <a:pPr algn="l" marL="228600" indent="-228600">
              <a:spcAft>
                <a:spcPts val="700"/>
              </a:spcAft>
              <a:buClr>
                <a:srgbClr val="FFFFFF"/>
              </a:buClr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Always type the solution yourself</a:t>
            </a:r>
          </a:p>
          <a:p>
            <a:pPr algn="l" marL="228600" indent="-228600">
              <a:spcAft>
                <a:spcPts val="700"/>
              </a:spcAft>
              <a:buClr>
                <a:srgbClr val="FFFFFF"/>
              </a:buClr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Never use AI in a real assessment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Where to practise and this week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roup 1"/>
          <p:cNvSpPr/>
          <p:nvPr/>
        </p:nvSpPr>
        <p:spPr>
          <a:xfrm>
            <a:off x="548640" y="1691640"/>
            <a:ext cx="3550920" cy="443484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globe circle"/>
          <p:cNvSpPr/>
          <p:nvPr/>
        </p:nvSpPr>
        <p:spPr>
          <a:xfrm>
            <a:off x="822959" y="192024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9" name="icon:globe" descr="60298c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7" y="2080717"/>
            <a:ext cx="273405" cy="273405"/>
          </a:xfrm>
          <a:prstGeom prst="rect">
            <a:avLst/>
          </a:prstGeom>
        </p:spPr>
      </p:pic>
      <p:sp>
        <p:nvSpPr>
          <p:cNvPr id="130" name="Group 1 head"/>
          <p:cNvSpPr txBox="1"/>
          <p:nvPr/>
        </p:nvSpPr>
        <p:spPr>
          <a:xfrm>
            <a:off x="822959" y="2697480"/>
            <a:ext cx="3002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B1220"/>
                </a:solidFill>
                <a:latin typeface="Cambria"/>
              </a:rPr>
              <a:t>Lists</a:t>
            </a:r>
          </a:p>
        </p:txBody>
      </p:sp>
      <p:sp>
        <p:nvSpPr>
          <p:cNvPr id="131" name="Group 1 lines"/>
          <p:cNvSpPr txBox="1"/>
          <p:nvPr/>
        </p:nvSpPr>
        <p:spPr>
          <a:xfrm>
            <a:off x="822959" y="3246120"/>
            <a:ext cx="30022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Blind 75 (75 problems)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NeetCode 150 (150 problems)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LeetCode Easy first, then Medium</a:t>
            </a:r>
          </a:p>
        </p:txBody>
      </p:sp>
      <p:sp>
        <p:nvSpPr>
          <p:cNvPr id="132" name="Group 2"/>
          <p:cNvSpPr/>
          <p:nvPr/>
        </p:nvSpPr>
        <p:spPr>
          <a:xfrm>
            <a:off x="4328159" y="1691640"/>
            <a:ext cx="3550920" cy="44348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3" name="target circle"/>
          <p:cNvSpPr/>
          <p:nvPr/>
        </p:nvSpPr>
        <p:spPr>
          <a:xfrm>
            <a:off x="4602479" y="1920240"/>
            <a:ext cx="594360" cy="594360"/>
          </a:xfrm>
          <a:prstGeom prst="ellipse">
            <a:avLst/>
          </a:prstGeom>
          <a:solidFill>
            <a:srgbClr val="2A37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4" name="icon:target" descr="d8fc09b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957" y="2080717"/>
            <a:ext cx="273405" cy="273405"/>
          </a:xfrm>
          <a:prstGeom prst="rect">
            <a:avLst/>
          </a:prstGeom>
        </p:spPr>
      </p:pic>
      <p:sp>
        <p:nvSpPr>
          <p:cNvPr id="135" name="Group 2 head"/>
          <p:cNvSpPr txBox="1"/>
          <p:nvPr/>
        </p:nvSpPr>
        <p:spPr>
          <a:xfrm>
            <a:off x="4602479" y="2697480"/>
            <a:ext cx="3002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This week</a:t>
            </a:r>
          </a:p>
        </p:txBody>
      </p:sp>
      <p:sp>
        <p:nvSpPr>
          <p:cNvPr id="136" name="Group 2 lines"/>
          <p:cNvSpPr txBox="1"/>
          <p:nvPr/>
        </p:nvSpPr>
        <p:spPr>
          <a:xfrm>
            <a:off x="4602479" y="3246120"/>
            <a:ext cx="30022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CBD5E1"/>
                </a:solidFill>
                <a:latin typeface="Calibri"/>
              </a:rPr>
              <a:t>Do two hashing problems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CBD5E1"/>
                </a:solidFill>
                <a:latin typeface="Calibri"/>
              </a:rPr>
              <a:t>Do two pointer problems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CBD5E1"/>
                </a:solidFill>
                <a:latin typeface="Calibri"/>
              </a:rPr>
              <a:t>Start your tracking sheet</a:t>
            </a:r>
          </a:p>
        </p:txBody>
      </p:sp>
      <p:sp>
        <p:nvSpPr>
          <p:cNvPr id="137" name="Group 3"/>
          <p:cNvSpPr/>
          <p:nvPr/>
        </p:nvSpPr>
        <p:spPr>
          <a:xfrm>
            <a:off x="8107679" y="1691640"/>
            <a:ext cx="3550920" cy="443484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8" name="note circle"/>
          <p:cNvSpPr/>
          <p:nvPr/>
        </p:nvSpPr>
        <p:spPr>
          <a:xfrm>
            <a:off x="8381999" y="192024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9" name="icon:note" descr="be33ba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2477" y="2080717"/>
            <a:ext cx="273405" cy="273405"/>
          </a:xfrm>
          <a:prstGeom prst="rect">
            <a:avLst/>
          </a:prstGeom>
        </p:spPr>
      </p:pic>
      <p:sp>
        <p:nvSpPr>
          <p:cNvPr id="140" name="Group 3 head"/>
          <p:cNvSpPr txBox="1"/>
          <p:nvPr/>
        </p:nvSpPr>
        <p:spPr>
          <a:xfrm>
            <a:off x="8381999" y="2697480"/>
            <a:ext cx="3002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B1220"/>
                </a:solidFill>
                <a:latin typeface="Cambria"/>
              </a:rPr>
              <a:t>Habits</a:t>
            </a:r>
          </a:p>
        </p:txBody>
      </p:sp>
      <p:sp>
        <p:nvSpPr>
          <p:cNvPr id="141" name="Group 3 lines"/>
          <p:cNvSpPr txBox="1"/>
          <p:nvPr/>
        </p:nvSpPr>
        <p:spPr>
          <a:xfrm>
            <a:off x="8381999" y="3246120"/>
            <a:ext cx="30022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One hour a day, same time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Write the pattern after each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Revisit after 3 days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Decor purple"/>
          <p:cNvSpPr/>
          <p:nvPr/>
        </p:nvSpPr>
        <p:spPr>
          <a:xfrm>
            <a:off x="9966960" y="-2286000"/>
            <a:ext cx="4754880" cy="47548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Decor cyan"/>
          <p:cNvSpPr/>
          <p:nvPr/>
        </p:nvSpPr>
        <p:spPr>
          <a:xfrm>
            <a:off x="-2377440" y="5120640"/>
            <a:ext cx="4572000" cy="4572000"/>
          </a:xfrm>
          <a:prstGeom prst="ellipse">
            <a:avLst/>
          </a:prstGeom>
          <a:solidFill>
            <a:srgbClr val="22D3EE">
              <a:alpha val="2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ag"/>
          <p:cNvSpPr/>
          <p:nvPr/>
        </p:nvSpPr>
        <p:spPr>
          <a:xfrm>
            <a:off x="822960" y="118872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REMEMBER</a:t>
            </a:r>
          </a:p>
        </p:txBody>
      </p:sp>
      <p:sp>
        <p:nvSpPr>
          <p:cNvPr id="6" name="Statement"/>
          <p:cNvSpPr txBox="1"/>
          <p:nvPr/>
        </p:nvSpPr>
        <p:spPr>
          <a:xfrm>
            <a:off x="822960" y="2011680"/>
            <a:ext cx="100584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Learn the pattern, then the problem.</a:t>
            </a:r>
          </a:p>
        </p:txBody>
      </p:sp>
      <p:sp>
        <p:nvSpPr>
          <p:cNvPr id="7" name="Sub"/>
          <p:cNvSpPr txBox="1"/>
          <p:nvPr/>
        </p:nvSpPr>
        <p:spPr>
          <a:xfrm>
            <a:off x="822960" y="4754880"/>
            <a:ext cx="9601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CBD5E1"/>
                </a:solidFill>
                <a:latin typeface="Calibri"/>
              </a:rPr>
              <a:t>Next: build a project that proves you can ship.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damyaWorkshop">
  <a:themeElements>
    <a:clrScheme name="AdamyaWorkshop">
      <a:dk1>
        <a:srgbClr val="0B1220"/>
      </a:dk1>
      <a:lt1>
        <a:srgbClr val="FFFFFF"/>
      </a:lt1>
      <a:dk2>
        <a:srgbClr val="1E2761"/>
      </a:dk2>
      <a:lt2>
        <a:srgbClr val="EEF2FF"/>
      </a:lt2>
      <a:accent1>
        <a:srgbClr val="7C3AED"/>
      </a:accent1>
      <a:accent2>
        <a:srgbClr val="22D3EE"/>
      </a:accent2>
      <a:accent3>
        <a:srgbClr val="F59E0B"/>
      </a:accent3>
      <a:accent4>
        <a:srgbClr val="10B981"/>
      </a:accent4>
      <a:accent5>
        <a:srgbClr val="EF4444"/>
      </a:accent5>
      <a:accent6>
        <a:srgbClr val="64748B"/>
      </a:accent6>
      <a:hlink>
        <a:srgbClr val="22D3EE"/>
      </a:hlink>
      <a:folHlink>
        <a:srgbClr val="7C3AE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damyaWorkshop">
  <a:themeElements>
    <a:clrScheme name="AdamyaWorkshop">
      <a:dk1>
        <a:srgbClr val="0B1220"/>
      </a:dk1>
      <a:lt1>
        <a:srgbClr val="FFFFFF"/>
      </a:lt1>
      <a:dk2>
        <a:srgbClr val="1E2761"/>
      </a:dk2>
      <a:lt2>
        <a:srgbClr val="EEF2FF"/>
      </a:lt2>
      <a:accent1>
        <a:srgbClr val="7C3AED"/>
      </a:accent1>
      <a:accent2>
        <a:srgbClr val="22D3EE"/>
      </a:accent2>
      <a:accent3>
        <a:srgbClr val="F59E0B"/>
      </a:accent3>
      <a:accent4>
        <a:srgbClr val="10B981"/>
      </a:accent4>
      <a:accent5>
        <a:srgbClr val="EF4444"/>
      </a:accent5>
      <a:accent6>
        <a:srgbClr val="64748B"/>
      </a:accent6>
      <a:hlink>
        <a:srgbClr val="22D3EE"/>
      </a:hlink>
      <a:folHlink>
        <a:srgbClr val="7C3AE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